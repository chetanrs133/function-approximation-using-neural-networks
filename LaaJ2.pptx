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Gemini 2.5 Pro</c:v>
                </c:pt>
              </c:strCache>
            </c:strRef>
          </c:tx>
          <c:spPr>
            <a:solidFill>
              <a:srgbClr val="C9A227"/>
            </a:solidFill>
            <a:ln w="25400" cap="flat">
              <a:solidFill>
                <a:srgbClr val="C9A22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9A227"/>
              </a:solidFill>
              <a:ln w="9525" cap="flat">
                <a:solidFill>
                  <a:srgbClr val="C9A227"/>
                </a:solidFill>
                <a:prstDash val="solid"/>
                <a:round/>
              </a:ln>
              <a:effectLst/>
            </c:spPr>
          </c:marker>
          <c:cat>
            <c:multiLvlStrRef>
              <c:f>Sheet1!$A$2:$A$6</c:f>
              <c:multiLvlStrCache>
                <c:ptCount val="5"/>
                <c:lvl>
                  <c:pt idx="0">
                    <c:v>gpt-3.5</c:v>
                  </c:pt>
                  <c:pt idx="1">
                    <c:v>gpt-4</c:v>
                  </c:pt>
                  <c:pt idx="2">
                    <c:v>llama-2-13b</c:v>
                  </c:pt>
                  <c:pt idx="3">
                    <c:v>llama-2-70b</c:v>
                  </c:pt>
                  <c:pt idx="4">
                    <c:v>mistral-7B</c:v>
                  </c:pt>
                </c:lvl>
              </c:multiLvlStrCache>
            </c:multiLvlStrRef>
          </c:cat>
          <c:val>
            <c:numRef>
              <c:f>Sheet1!$B$2:$B$6</c:f>
              <c:numCache>
                <c:formatCode>General</c:formatCode>
                <c:ptCount val="5"/>
                <c:pt idx="0">
                  <c:v>0.92</c:v>
                </c:pt>
                <c:pt idx="1">
                  <c:v>0.55</c:v>
                </c:pt>
                <c:pt idx="2">
                  <c:v>0.94</c:v>
                </c:pt>
                <c:pt idx="3">
                  <c:v>0.93</c:v>
                </c:pt>
                <c:pt idx="4">
                  <c:v>0.95</c:v>
                </c:pt>
              </c:numCache>
            </c:numRef>
          </c:val>
          <c:smooth val="0"/>
        </c:ser>
        <c:ser>
          <c:idx val="1"/>
          <c:order val="1"/>
          <c:tx>
            <c:strRef>
              <c:f>Sheet1!$C$1</c:f>
              <c:strCache>
                <c:ptCount val="1"/>
                <c:pt idx="0">
                  <c:v>Claude Sonnet 4</c:v>
                </c:pt>
              </c:strCache>
            </c:strRef>
          </c:tx>
          <c:spPr>
            <a:solidFill>
              <a:srgbClr val="8B1A1A"/>
            </a:solidFill>
            <a:ln w="25400" cap="flat">
              <a:solidFill>
                <a:srgbClr val="8B1A1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B1A1A"/>
              </a:solidFill>
              <a:ln w="9525" cap="flat">
                <a:solidFill>
                  <a:srgbClr val="8B1A1A"/>
                </a:solidFill>
                <a:prstDash val="solid"/>
                <a:round/>
              </a:ln>
              <a:effectLst/>
            </c:spPr>
          </c:marker>
          <c:cat>
            <c:multiLvlStrRef>
              <c:f>Sheet1!$A$2:$A$6</c:f>
              <c:multiLvlStrCache>
                <c:ptCount val="5"/>
                <c:lvl>
                  <c:pt idx="0">
                    <c:v>gpt-3.5</c:v>
                  </c:pt>
                  <c:pt idx="1">
                    <c:v>gpt-4</c:v>
                  </c:pt>
                  <c:pt idx="2">
                    <c:v>llama-2-13b</c:v>
                  </c:pt>
                  <c:pt idx="3">
                    <c:v>llama-2-70b</c:v>
                  </c:pt>
                  <c:pt idx="4">
                    <c:v>mistral-7B</c:v>
                  </c:pt>
                </c:lvl>
              </c:multiLvlStrCache>
            </c:multiLvlStrRef>
          </c:cat>
          <c:val>
            <c:numRef>
              <c:f>Sheet1!$C$2:$C$6</c:f>
              <c:numCache>
                <c:formatCode>General</c:formatCode>
                <c:ptCount val="5"/>
                <c:pt idx="0">
                  <c:v>0.91</c:v>
                </c:pt>
                <c:pt idx="1">
                  <c:v>0.58</c:v>
                </c:pt>
                <c:pt idx="2">
                  <c:v>0.93</c:v>
                </c:pt>
                <c:pt idx="3">
                  <c:v>0.94</c:v>
                </c:pt>
                <c:pt idx="4">
                  <c:v>0.96</c:v>
                </c:pt>
              </c:numCache>
            </c:numRef>
          </c:val>
          <c:smooth val="0"/>
        </c:ser>
        <c:ser>
          <c:idx val="2"/>
          <c:order val="2"/>
          <c:tx>
            <c:strRef>
              <c:f>Sheet1!$D$1</c:f>
              <c:strCache>
                <c:ptCount val="1"/>
                <c:pt idx="0">
                  <c:v>GPT-4.1</c:v>
                </c:pt>
              </c:strCache>
            </c:strRef>
          </c:tx>
          <c:spPr>
            <a:solidFill>
              <a:srgbClr val="374151"/>
            </a:solidFill>
            <a:ln w="25400" cap="flat">
              <a:solidFill>
                <a:srgbClr val="3741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74151"/>
              </a:solidFill>
              <a:ln w="9525" cap="flat">
                <a:solidFill>
                  <a:srgbClr val="374151"/>
                </a:solidFill>
                <a:prstDash val="solid"/>
                <a:round/>
              </a:ln>
              <a:effectLst/>
            </c:spPr>
          </c:marker>
          <c:cat>
            <c:multiLvlStrRef>
              <c:f>Sheet1!$A$2:$A$6</c:f>
              <c:multiLvlStrCache>
                <c:ptCount val="5"/>
                <c:lvl>
                  <c:pt idx="0">
                    <c:v>gpt-3.5</c:v>
                  </c:pt>
                  <c:pt idx="1">
                    <c:v>gpt-4</c:v>
                  </c:pt>
                  <c:pt idx="2">
                    <c:v>llama-2-13b</c:v>
                  </c:pt>
                  <c:pt idx="3">
                    <c:v>llama-2-70b</c:v>
                  </c:pt>
                  <c:pt idx="4">
                    <c:v>mistral-7B</c:v>
                  </c:pt>
                </c:lvl>
              </c:multiLvlStrCache>
            </c:multiLvlStrRef>
          </c:cat>
          <c:val>
            <c:numRef>
              <c:f>Sheet1!$D$2:$D$6</c:f>
              <c:numCache>
                <c:formatCode>General</c:formatCode>
                <c:ptCount val="5"/>
                <c:pt idx="0">
                  <c:v>0.78</c:v>
                </c:pt>
                <c:pt idx="1">
                  <c:v>0.4</c:v>
                </c:pt>
                <c:pt idx="2">
                  <c:v>0.92</c:v>
                </c:pt>
                <c:pt idx="3">
                  <c:v>0.93</c:v>
                </c:pt>
                <c:pt idx="4">
                  <c:v>0.94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slideLayout" Target="../slideLayouts/slideLayout1.xml"/><Relationship Id="rId1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3400" b="1" dirty="0">
                <a:solidFill>
                  <a:srgbClr val="8B1A1A"/>
                </a:solidFill>
                <a:latin typeface="Cambria" pitchFamily="34" charset="0"/>
                <a:ea typeface="Cambria" pitchFamily="34" charset="-122"/>
                <a:cs typeface="Cambria" pitchFamily="34" charset="-120"/>
              </a:rPr>
              <a:t>LLM-as-Judge</a:t>
            </a:r>
            <a:endParaRPr lang="en-US" sz="3400" dirty="0"/>
          </a:p>
        </p:txBody>
      </p:sp>
      <p:sp>
        <p:nvSpPr>
          <p:cNvPr id="3" name="Shape 1"/>
          <p:cNvSpPr/>
          <p:nvPr/>
        </p:nvSpPr>
        <p:spPr>
          <a:xfrm>
            <a:off x="457200" y="914400"/>
            <a:ext cx="1188720" cy="45720"/>
          </a:xfrm>
          <a:prstGeom prst="rect">
            <a:avLst/>
          </a:prstGeom>
          <a:solidFill>
            <a:srgbClr val="C9A227"/>
          </a:solidFill>
          <a:ln/>
        </p:spPr>
      </p:sp>
      <p:sp>
        <p:nvSpPr>
          <p:cNvPr id="4" name="Text 2"/>
          <p:cNvSpPr/>
          <p:nvPr/>
        </p:nvSpPr>
        <p:spPr>
          <a:xfrm>
            <a:off x="457200" y="1005840"/>
            <a:ext cx="8229600" cy="365760"/>
          </a:xfrm>
          <a:prstGeom prst="rect">
            <a:avLst/>
          </a:prstGeom>
          <a:noFill/>
          <a:ln/>
        </p:spPr>
        <p:txBody>
          <a:bodyPr wrap="square" lIns="0" tIns="0" rIns="0" bIns="0" rtlCol="0" anchor="ctr"/>
          <a:lstStyle/>
          <a:p>
            <a:pPr indent="0" marL="0">
              <a:buNone/>
            </a:pPr>
            <a:r>
              <a:rPr lang="en-US" sz="1800" i="1" dirty="0">
                <a:solidFill>
                  <a:srgbClr val="374151"/>
                </a:solidFill>
                <a:latin typeface="Cambria" pitchFamily="34" charset="0"/>
                <a:ea typeface="Cambria" pitchFamily="34" charset="-122"/>
                <a:cs typeface="Cambria" pitchFamily="34" charset="-120"/>
              </a:rPr>
              <a:t>What Actually Works?</a:t>
            </a:r>
            <a:endParaRPr lang="en-US" sz="1800" dirty="0"/>
          </a:p>
        </p:txBody>
      </p:sp>
      <p:sp>
        <p:nvSpPr>
          <p:cNvPr id="5" name="Text 3"/>
          <p:cNvSpPr/>
          <p:nvPr/>
        </p:nvSpPr>
        <p:spPr>
          <a:xfrm>
            <a:off x="457200" y="1417320"/>
            <a:ext cx="8229600" cy="566928"/>
          </a:xfrm>
          <a:prstGeom prst="rect">
            <a:avLst/>
          </a:prstGeom>
          <a:noFill/>
          <a:ln/>
        </p:spPr>
        <p:txBody>
          <a:bodyPr wrap="square" lIns="0" tIns="0" rIns="0" bIns="0" rtlCol="0" anchor="t"/>
          <a:lstStyle/>
          <a:p>
            <a:pPr indent="0" marL="0">
              <a:buNone/>
            </a:pPr>
            <a:r>
              <a:rPr lang="en-US" sz="1150" dirty="0">
                <a:solidFill>
                  <a:srgbClr val="374151"/>
                </a:solidFill>
                <a:latin typeface="Calibri" pitchFamily="34" charset="0"/>
                <a:ea typeface="Calibri" pitchFamily="34" charset="-122"/>
                <a:cs typeface="Calibri" pitchFamily="34" charset="-120"/>
              </a:rPr>
              <a:t>LLM judges power faithfulness and completeness evaluation in RAG and summarization, but reliability depends on model choice, prompt design, and aggregation. We distil best practices from prior literature, public benchmarks, and our own experiments — synthesised into a unified map (Slide 7).</a:t>
            </a:r>
            <a:endParaRPr lang="en-US" sz="1150" dirty="0"/>
          </a:p>
        </p:txBody>
      </p:sp>
      <p:sp>
        <p:nvSpPr>
          <p:cNvPr id="6" name="Text 4"/>
          <p:cNvSpPr/>
          <p:nvPr/>
        </p:nvSpPr>
        <p:spPr>
          <a:xfrm>
            <a:off x="457200" y="2103120"/>
            <a:ext cx="8229600" cy="182880"/>
          </a:xfrm>
          <a:prstGeom prst="rect">
            <a:avLst/>
          </a:prstGeom>
          <a:noFill/>
          <a:ln/>
        </p:spPr>
        <p:txBody>
          <a:bodyPr wrap="square" lIns="0" tIns="0" rIns="0" bIns="0" rtlCol="0" anchor="ctr"/>
          <a:lstStyle/>
          <a:p>
            <a:pPr indent="0" marL="0">
              <a:buNone/>
            </a:pPr>
            <a:r>
              <a:rPr lang="en-US" sz="900" b="1" spc="200" kern="0" dirty="0">
                <a:solidFill>
                  <a:srgbClr val="8B1A1A"/>
                </a:solidFill>
                <a:latin typeface="Calibri" pitchFamily="34" charset="0"/>
                <a:ea typeface="Calibri" pitchFamily="34" charset="-122"/>
                <a:cs typeface="Calibri" pitchFamily="34" charset="-120"/>
              </a:rPr>
              <a:t>OUR APPROACH</a:t>
            </a:r>
            <a:endParaRPr lang="en-US" sz="900" dirty="0"/>
          </a:p>
        </p:txBody>
      </p:sp>
      <p:sp>
        <p:nvSpPr>
          <p:cNvPr id="7" name="Shape 5"/>
          <p:cNvSpPr/>
          <p:nvPr/>
        </p:nvSpPr>
        <p:spPr>
          <a:xfrm>
            <a:off x="457200" y="2322576"/>
            <a:ext cx="1188720" cy="457200"/>
          </a:xfrm>
          <a:prstGeom prst="roundRect">
            <a:avLst>
              <a:gd name="adj" fmla="val 12000"/>
            </a:avLst>
          </a:prstGeom>
          <a:solidFill>
            <a:srgbClr val="FBF8F3"/>
          </a:solidFill>
          <a:ln w="9525">
            <a:solidFill>
              <a:srgbClr val="8B1A1A"/>
            </a:solidFill>
            <a:prstDash val="solid"/>
          </a:ln>
        </p:spPr>
      </p:sp>
      <p:sp>
        <p:nvSpPr>
          <p:cNvPr id="8" name="Shape 6"/>
          <p:cNvSpPr/>
          <p:nvPr/>
        </p:nvSpPr>
        <p:spPr>
          <a:xfrm>
            <a:off x="530352" y="2441448"/>
            <a:ext cx="219456" cy="219456"/>
          </a:xfrm>
          <a:prstGeom prst="oval">
            <a:avLst/>
          </a:prstGeom>
          <a:solidFill>
            <a:srgbClr val="8B1A1A"/>
          </a:solidFill>
          <a:ln/>
        </p:spPr>
      </p:sp>
      <p:pic>
        <p:nvPicPr>
          <p:cNvPr id="9" name="Image 0" descr="preencoded.png">    </p:cNvPr>
          <p:cNvPicPr>
            <a:picLocks noChangeAspect="1"/>
          </p:cNvPicPr>
          <p:nvPr/>
        </p:nvPicPr>
        <p:blipFill>
          <a:blip r:embed="rId1"/>
          <a:stretch>
            <a:fillRect/>
          </a:stretch>
        </p:blipFill>
        <p:spPr>
          <a:xfrm>
            <a:off x="566928" y="2478024"/>
            <a:ext cx="146304" cy="146304"/>
          </a:xfrm>
          <a:prstGeom prst="rect">
            <a:avLst/>
          </a:prstGeom>
        </p:spPr>
      </p:pic>
      <p:sp>
        <p:nvSpPr>
          <p:cNvPr id="10" name="Text 7"/>
          <p:cNvSpPr/>
          <p:nvPr/>
        </p:nvSpPr>
        <p:spPr>
          <a:xfrm>
            <a:off x="786384" y="2322576"/>
            <a:ext cx="822960" cy="457200"/>
          </a:xfrm>
          <a:prstGeom prst="rect">
            <a:avLst/>
          </a:prstGeom>
          <a:noFill/>
          <a:ln/>
        </p:spPr>
        <p:txBody>
          <a:bodyPr wrap="square" lIns="0" tIns="0" rIns="0" bIns="0" rtlCol="0" anchor="ctr"/>
          <a:lstStyle/>
          <a:p>
            <a:pPr indent="0" marL="0">
              <a:buNone/>
            </a:pPr>
            <a:r>
              <a:rPr lang="en-US" sz="900" b="1" dirty="0">
                <a:solidFill>
                  <a:srgbClr val="8B1A1A"/>
                </a:solidFill>
                <a:latin typeface="Calibri" pitchFamily="34" charset="0"/>
                <a:ea typeface="Calibri" pitchFamily="34" charset="-122"/>
                <a:cs typeface="Calibri" pitchFamily="34" charset="-120"/>
              </a:rPr>
              <a:t>Literature &amp; surveys</a:t>
            </a:r>
            <a:endParaRPr lang="en-US" sz="900" dirty="0"/>
          </a:p>
        </p:txBody>
      </p:sp>
      <p:sp>
        <p:nvSpPr>
          <p:cNvPr id="11" name="Shape 8"/>
          <p:cNvSpPr/>
          <p:nvPr/>
        </p:nvSpPr>
        <p:spPr>
          <a:xfrm>
            <a:off x="1719072" y="2322576"/>
            <a:ext cx="1188720" cy="457200"/>
          </a:xfrm>
          <a:prstGeom prst="roundRect">
            <a:avLst>
              <a:gd name="adj" fmla="val 12000"/>
            </a:avLst>
          </a:prstGeom>
          <a:solidFill>
            <a:srgbClr val="FBF8F3"/>
          </a:solidFill>
          <a:ln w="9525">
            <a:solidFill>
              <a:srgbClr val="8B1A1A"/>
            </a:solidFill>
            <a:prstDash val="solid"/>
          </a:ln>
        </p:spPr>
      </p:sp>
      <p:sp>
        <p:nvSpPr>
          <p:cNvPr id="12" name="Shape 9"/>
          <p:cNvSpPr/>
          <p:nvPr/>
        </p:nvSpPr>
        <p:spPr>
          <a:xfrm>
            <a:off x="1792224" y="2441448"/>
            <a:ext cx="219456" cy="219456"/>
          </a:xfrm>
          <a:prstGeom prst="oval">
            <a:avLst/>
          </a:prstGeom>
          <a:solidFill>
            <a:srgbClr val="8B1A1A"/>
          </a:solidFill>
          <a:ln/>
        </p:spPr>
      </p:sp>
      <p:pic>
        <p:nvPicPr>
          <p:cNvPr id="13" name="Image 1" descr="preencoded.png">    </p:cNvPr>
          <p:cNvPicPr>
            <a:picLocks noChangeAspect="1"/>
          </p:cNvPicPr>
          <p:nvPr/>
        </p:nvPicPr>
        <p:blipFill>
          <a:blip r:embed="rId2"/>
          <a:stretch>
            <a:fillRect/>
          </a:stretch>
        </p:blipFill>
        <p:spPr>
          <a:xfrm>
            <a:off x="1828800" y="2478024"/>
            <a:ext cx="146304" cy="146304"/>
          </a:xfrm>
          <a:prstGeom prst="rect">
            <a:avLst/>
          </a:prstGeom>
        </p:spPr>
      </p:pic>
      <p:sp>
        <p:nvSpPr>
          <p:cNvPr id="14" name="Text 10"/>
          <p:cNvSpPr/>
          <p:nvPr/>
        </p:nvSpPr>
        <p:spPr>
          <a:xfrm>
            <a:off x="2048256" y="2322576"/>
            <a:ext cx="822960" cy="457200"/>
          </a:xfrm>
          <a:prstGeom prst="rect">
            <a:avLst/>
          </a:prstGeom>
          <a:noFill/>
          <a:ln/>
        </p:spPr>
        <p:txBody>
          <a:bodyPr wrap="square" lIns="0" tIns="0" rIns="0" bIns="0" rtlCol="0" anchor="ctr"/>
          <a:lstStyle/>
          <a:p>
            <a:pPr indent="0" marL="0">
              <a:buNone/>
            </a:pPr>
            <a:r>
              <a:rPr lang="en-US" sz="900" b="1" dirty="0">
                <a:solidFill>
                  <a:srgbClr val="8B1A1A"/>
                </a:solidFill>
                <a:latin typeface="Calibri" pitchFamily="34" charset="0"/>
                <a:ea typeface="Calibri" pitchFamily="34" charset="-122"/>
                <a:cs typeface="Calibri" pitchFamily="34" charset="-120"/>
              </a:rPr>
              <a:t>Public benchmarks</a:t>
            </a:r>
            <a:endParaRPr lang="en-US" sz="900" dirty="0"/>
          </a:p>
        </p:txBody>
      </p:sp>
      <p:sp>
        <p:nvSpPr>
          <p:cNvPr id="15" name="Shape 11"/>
          <p:cNvSpPr/>
          <p:nvPr/>
        </p:nvSpPr>
        <p:spPr>
          <a:xfrm>
            <a:off x="2980944" y="2322576"/>
            <a:ext cx="1188720" cy="457200"/>
          </a:xfrm>
          <a:prstGeom prst="roundRect">
            <a:avLst>
              <a:gd name="adj" fmla="val 12000"/>
            </a:avLst>
          </a:prstGeom>
          <a:solidFill>
            <a:srgbClr val="FBF8F3"/>
          </a:solidFill>
          <a:ln w="9525">
            <a:solidFill>
              <a:srgbClr val="8B1A1A"/>
            </a:solidFill>
            <a:prstDash val="solid"/>
          </a:ln>
        </p:spPr>
      </p:sp>
      <p:sp>
        <p:nvSpPr>
          <p:cNvPr id="16" name="Shape 12"/>
          <p:cNvSpPr/>
          <p:nvPr/>
        </p:nvSpPr>
        <p:spPr>
          <a:xfrm>
            <a:off x="3054096" y="2441448"/>
            <a:ext cx="219456" cy="219456"/>
          </a:xfrm>
          <a:prstGeom prst="oval">
            <a:avLst/>
          </a:prstGeom>
          <a:solidFill>
            <a:srgbClr val="8B1A1A"/>
          </a:solidFill>
          <a:ln/>
        </p:spPr>
      </p:sp>
      <p:pic>
        <p:nvPicPr>
          <p:cNvPr id="17" name="Image 2" descr="preencoded.png">    </p:cNvPr>
          <p:cNvPicPr>
            <a:picLocks noChangeAspect="1"/>
          </p:cNvPicPr>
          <p:nvPr/>
        </p:nvPicPr>
        <p:blipFill>
          <a:blip r:embed="rId3"/>
          <a:stretch>
            <a:fillRect/>
          </a:stretch>
        </p:blipFill>
        <p:spPr>
          <a:xfrm>
            <a:off x="3090672" y="2478024"/>
            <a:ext cx="146304" cy="146304"/>
          </a:xfrm>
          <a:prstGeom prst="rect">
            <a:avLst/>
          </a:prstGeom>
        </p:spPr>
      </p:pic>
      <p:sp>
        <p:nvSpPr>
          <p:cNvPr id="18" name="Text 13"/>
          <p:cNvSpPr/>
          <p:nvPr/>
        </p:nvSpPr>
        <p:spPr>
          <a:xfrm>
            <a:off x="3310128" y="2322576"/>
            <a:ext cx="822960" cy="457200"/>
          </a:xfrm>
          <a:prstGeom prst="rect">
            <a:avLst/>
          </a:prstGeom>
          <a:noFill/>
          <a:ln/>
        </p:spPr>
        <p:txBody>
          <a:bodyPr wrap="square" lIns="0" tIns="0" rIns="0" bIns="0" rtlCol="0" anchor="ctr"/>
          <a:lstStyle/>
          <a:p>
            <a:pPr indent="0" marL="0">
              <a:buNone/>
            </a:pPr>
            <a:r>
              <a:rPr lang="en-US" sz="900" b="1" dirty="0">
                <a:solidFill>
                  <a:srgbClr val="8B1A1A"/>
                </a:solidFill>
                <a:latin typeface="Calibri" pitchFamily="34" charset="0"/>
                <a:ea typeface="Calibri" pitchFamily="34" charset="-122"/>
                <a:cs typeface="Calibri" pitchFamily="34" charset="-120"/>
              </a:rPr>
              <a:t>Our 4 experiments</a:t>
            </a:r>
            <a:endParaRPr lang="en-US" sz="900" dirty="0"/>
          </a:p>
        </p:txBody>
      </p:sp>
      <p:sp>
        <p:nvSpPr>
          <p:cNvPr id="19" name="Text 14"/>
          <p:cNvSpPr/>
          <p:nvPr/>
        </p:nvSpPr>
        <p:spPr>
          <a:xfrm>
            <a:off x="4261104" y="2304288"/>
            <a:ext cx="777240" cy="201168"/>
          </a:xfrm>
          <a:prstGeom prst="rect">
            <a:avLst/>
          </a:prstGeom>
          <a:noFill/>
          <a:ln/>
        </p:spPr>
        <p:txBody>
          <a:bodyPr wrap="square" lIns="0" tIns="0" rIns="0" bIns="0" rtlCol="0" anchor="ctr"/>
          <a:lstStyle/>
          <a:p>
            <a:pPr algn="ctr" indent="0" marL="0">
              <a:buNone/>
            </a:pPr>
            <a:r>
              <a:rPr lang="en-US" sz="850" i="1" dirty="0">
                <a:solidFill>
                  <a:srgbClr val="6B7280"/>
                </a:solidFill>
                <a:latin typeface="Calibri" pitchFamily="34" charset="0"/>
                <a:ea typeface="Calibri" pitchFamily="34" charset="-122"/>
                <a:cs typeface="Calibri" pitchFamily="34" charset="-120"/>
              </a:rPr>
              <a:t>synthesised</a:t>
            </a:r>
            <a:endParaRPr lang="en-US" sz="850" dirty="0"/>
          </a:p>
        </p:txBody>
      </p:sp>
      <p:pic>
        <p:nvPicPr>
          <p:cNvPr id="20" name="Image 3" descr="preencoded.png">    </p:cNvPr>
          <p:cNvPicPr>
            <a:picLocks noChangeAspect="1"/>
          </p:cNvPicPr>
          <p:nvPr/>
        </p:nvPicPr>
        <p:blipFill>
          <a:blip r:embed="rId4"/>
          <a:stretch>
            <a:fillRect/>
          </a:stretch>
        </p:blipFill>
        <p:spPr>
          <a:xfrm>
            <a:off x="4425696" y="2487168"/>
            <a:ext cx="411480" cy="182880"/>
          </a:xfrm>
          <a:prstGeom prst="rect">
            <a:avLst/>
          </a:prstGeom>
        </p:spPr>
      </p:pic>
      <p:sp>
        <p:nvSpPr>
          <p:cNvPr id="21" name="Text 15"/>
          <p:cNvSpPr/>
          <p:nvPr/>
        </p:nvSpPr>
        <p:spPr>
          <a:xfrm>
            <a:off x="4261104" y="2651760"/>
            <a:ext cx="777240" cy="201168"/>
          </a:xfrm>
          <a:prstGeom prst="rect">
            <a:avLst/>
          </a:prstGeom>
          <a:noFill/>
          <a:ln/>
        </p:spPr>
        <p:txBody>
          <a:bodyPr wrap="square" lIns="0" tIns="0" rIns="0" bIns="0" rtlCol="0" anchor="ctr"/>
          <a:lstStyle/>
          <a:p>
            <a:pPr algn="ctr" indent="0" marL="0">
              <a:buNone/>
            </a:pPr>
            <a:r>
              <a:rPr lang="en-US" sz="850" i="1" dirty="0">
                <a:solidFill>
                  <a:srgbClr val="6B7280"/>
                </a:solidFill>
                <a:latin typeface="Calibri" pitchFamily="34" charset="0"/>
                <a:ea typeface="Calibri" pitchFamily="34" charset="-122"/>
                <a:cs typeface="Calibri" pitchFamily="34" charset="-120"/>
              </a:rPr>
              <a:t>into</a:t>
            </a:r>
            <a:endParaRPr lang="en-US" sz="850" dirty="0"/>
          </a:p>
        </p:txBody>
      </p:sp>
      <p:sp>
        <p:nvSpPr>
          <p:cNvPr id="22" name="Shape 16"/>
          <p:cNvSpPr/>
          <p:nvPr/>
        </p:nvSpPr>
        <p:spPr>
          <a:xfrm>
            <a:off x="5129784" y="2322576"/>
            <a:ext cx="3557016" cy="457200"/>
          </a:xfrm>
          <a:prstGeom prst="roundRect">
            <a:avLst>
              <a:gd name="adj" fmla="val 12000"/>
            </a:avLst>
          </a:prstGeom>
          <a:solidFill>
            <a:srgbClr val="8B1A1A"/>
          </a:solidFill>
          <a:ln w="12700">
            <a:solidFill>
              <a:srgbClr val="6B1313"/>
            </a:solidFill>
            <a:prstDash val="solid"/>
          </a:ln>
        </p:spPr>
      </p:sp>
      <p:sp>
        <p:nvSpPr>
          <p:cNvPr id="23" name="Text 17"/>
          <p:cNvSpPr/>
          <p:nvPr/>
        </p:nvSpPr>
        <p:spPr>
          <a:xfrm>
            <a:off x="5266944" y="2322576"/>
            <a:ext cx="3282696" cy="45720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Best Practices Map  </a:t>
            </a:r>
            <a:pPr indent="0" marL="0">
              <a:buNone/>
            </a:pPr>
            <a:r>
              <a:rPr lang="en-US" sz="950" i="1" dirty="0">
                <a:solidFill>
                  <a:srgbClr val="F7E8C7"/>
                </a:solidFill>
                <a:latin typeface="Calibri" pitchFamily="34" charset="0"/>
                <a:ea typeface="Calibri" pitchFamily="34" charset="-122"/>
                <a:cs typeface="Calibri" pitchFamily="34" charset="-120"/>
              </a:rPr>
              <a:t>(Slide 7)</a:t>
            </a:r>
            <a:pPr indent="0" marL="0">
              <a:buNone/>
            </a:pPr>
            <a:r>
              <a:rPr lang="en-US" sz="900" dirty="0">
                <a:solidFill>
                  <a:srgbClr val="F7E8C7"/>
                </a:solidFill>
                <a:latin typeface="Calibri" pitchFamily="34" charset="0"/>
                <a:ea typeface="Calibri" pitchFamily="34" charset="-122"/>
                <a:cs typeface="Calibri" pitchFamily="34" charset="-120"/>
              </a:rPr>
              <a:t>  ·  </a:t>
            </a:r>
            <a:pPr indent="0" marL="0">
              <a:buNone/>
            </a:pPr>
            <a:r>
              <a:rPr lang="en-US" sz="900" dirty="0">
                <a:solidFill>
                  <a:srgbClr val="F7E8C7"/>
                </a:solidFill>
                <a:latin typeface="Calibri" pitchFamily="34" charset="0"/>
                <a:ea typeface="Calibri" pitchFamily="34" charset="-122"/>
                <a:cs typeface="Calibri" pitchFamily="34" charset="-120"/>
              </a:rPr>
              <a:t>6 strategy clusters across Design + Validation</a:t>
            </a:r>
            <a:endParaRPr lang="en-US" sz="1150" dirty="0"/>
          </a:p>
        </p:txBody>
      </p:sp>
      <p:sp>
        <p:nvSpPr>
          <p:cNvPr id="24" name="Shape 18"/>
          <p:cNvSpPr/>
          <p:nvPr/>
        </p:nvSpPr>
        <p:spPr>
          <a:xfrm>
            <a:off x="457200" y="2926080"/>
            <a:ext cx="3931920" cy="292608"/>
          </a:xfrm>
          <a:prstGeom prst="rect">
            <a:avLst/>
          </a:prstGeom>
          <a:solidFill>
            <a:srgbClr val="8B1A1A"/>
          </a:solidFill>
          <a:ln/>
        </p:spPr>
      </p:sp>
      <p:sp>
        <p:nvSpPr>
          <p:cNvPr id="25" name="Text 19"/>
          <p:cNvSpPr/>
          <p:nvPr/>
        </p:nvSpPr>
        <p:spPr>
          <a:xfrm>
            <a:off x="566928" y="2926080"/>
            <a:ext cx="3712464" cy="292608"/>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DATASETS</a:t>
            </a:r>
            <a:endParaRPr lang="en-US" sz="1200" dirty="0"/>
          </a:p>
        </p:txBody>
      </p:sp>
      <p:sp>
        <p:nvSpPr>
          <p:cNvPr id="26" name="Text 20"/>
          <p:cNvSpPr/>
          <p:nvPr/>
        </p:nvSpPr>
        <p:spPr>
          <a:xfrm>
            <a:off x="457200" y="3236976"/>
            <a:ext cx="3931920" cy="1005840"/>
          </a:xfrm>
          <a:prstGeom prst="rect">
            <a:avLst/>
          </a:prstGeom>
          <a:noFill/>
          <a:ln/>
        </p:spPr>
        <p:txBody>
          <a:bodyPr wrap="square" lIns="50800" tIns="50800" rIns="50800" bIns="50800" rtlCol="0" anchor="t"/>
          <a:lstStyle/>
          <a:p>
            <a:pPr indent="0" marL="0">
              <a:spcAft>
                <a:spcPts val="200"/>
              </a:spcAft>
              <a:buNone/>
            </a:pPr>
            <a:r>
              <a:rPr lang="en-US" sz="950" b="1" dirty="0">
                <a:solidFill>
                  <a:srgbClr val="374151"/>
                </a:solidFill>
                <a:latin typeface="Calibri" pitchFamily="34" charset="0"/>
                <a:ea typeface="Calibri" pitchFamily="34" charset="-122"/>
                <a:cs typeface="Calibri" pitchFamily="34" charset="-120"/>
              </a:rPr>
              <a:t>RAGTruth QA  </a:t>
            </a:r>
            <a:pPr indent="0" marL="0">
              <a:spcAft>
                <a:spcPts val="200"/>
              </a:spcAft>
              <a:buNone/>
            </a:pPr>
            <a:r>
              <a:rPr lang="en-US" sz="950" dirty="0">
                <a:solidFill>
                  <a:srgbClr val="374151"/>
                </a:solidFill>
                <a:latin typeface="Calibri" pitchFamily="34" charset="0"/>
                <a:ea typeface="Calibri" pitchFamily="34" charset="-122"/>
                <a:cs typeface="Calibri" pitchFamily="34" charset="-120"/>
              </a:rPr>
              <a:t>5934 samples · 1724 hallucinated  [Niu 2024]</a:t>
            </a:r>
            <a:endParaRPr lang="en-US" sz="950" dirty="0"/>
          </a:p>
          <a:p>
            <a:pPr indent="0" marL="0">
              <a:spcAft>
                <a:spcPts val="200"/>
              </a:spcAft>
              <a:buNone/>
            </a:pPr>
            <a:r>
              <a:rPr lang="en-US" sz="950" b="1" dirty="0">
                <a:solidFill>
                  <a:srgbClr val="374151"/>
                </a:solidFill>
                <a:latin typeface="Calibri" pitchFamily="34" charset="0"/>
                <a:ea typeface="Calibri" pitchFamily="34" charset="-122"/>
                <a:cs typeface="Calibri" pitchFamily="34" charset="-120"/>
              </a:rPr>
              <a:t>HaluEval Summarization  </a:t>
            </a:r>
            <a:pPr indent="0" marL="0">
              <a:spcAft>
                <a:spcPts val="200"/>
              </a:spcAft>
              <a:buNone/>
            </a:pPr>
            <a:r>
              <a:rPr lang="en-US" sz="950" dirty="0">
                <a:solidFill>
                  <a:srgbClr val="374151"/>
                </a:solidFill>
                <a:latin typeface="Calibri" pitchFamily="34" charset="0"/>
                <a:ea typeface="Calibri" pitchFamily="34" charset="-122"/>
                <a:cs typeface="Calibri" pitchFamily="34" charset="-120"/>
              </a:rPr>
              <a:t>2000 samples · 1000 hallucinated  [Li 2023]</a:t>
            </a:r>
            <a:endParaRPr lang="en-US" sz="950" dirty="0"/>
          </a:p>
          <a:p>
            <a:pPr indent="0" marL="0">
              <a:spcAft>
                <a:spcPts val="200"/>
              </a:spcAft>
              <a:buNone/>
            </a:pPr>
            <a:r>
              <a:rPr lang="en-US" sz="950" b="1" dirty="0">
                <a:solidFill>
                  <a:srgbClr val="374151"/>
                </a:solidFill>
                <a:latin typeface="Calibri" pitchFamily="34" charset="0"/>
                <a:ea typeface="Calibri" pitchFamily="34" charset="-122"/>
                <a:cs typeface="Calibri" pitchFamily="34" charset="-120"/>
              </a:rPr>
              <a:t>RAGBench Q&amp;A  </a:t>
            </a:r>
            <a:pPr indent="0" marL="0">
              <a:spcAft>
                <a:spcPts val="200"/>
              </a:spcAft>
              <a:buNone/>
            </a:pPr>
            <a:r>
              <a:rPr lang="en-US" sz="950" dirty="0">
                <a:solidFill>
                  <a:srgbClr val="374151"/>
                </a:solidFill>
                <a:latin typeface="Calibri" pitchFamily="34" charset="0"/>
                <a:ea typeface="Calibri" pitchFamily="34" charset="-122"/>
                <a:cs typeface="Calibri" pitchFamily="34" charset="-120"/>
              </a:rPr>
              <a:t>1500 samples · 500 incomplete</a:t>
            </a:r>
            <a:endParaRPr lang="en-US" sz="950" dirty="0"/>
          </a:p>
          <a:p>
            <a:pPr indent="0" marL="0">
              <a:spcAft>
                <a:spcPts val="200"/>
              </a:spcAft>
              <a:buNone/>
            </a:pPr>
            <a:r>
              <a:rPr lang="en-US" sz="950" b="1" dirty="0">
                <a:solidFill>
                  <a:srgbClr val="374151"/>
                </a:solidFill>
                <a:latin typeface="Calibri" pitchFamily="34" charset="0"/>
                <a:ea typeface="Calibri" pitchFamily="34" charset="-122"/>
                <a:cs typeface="Calibri" pitchFamily="34" charset="-120"/>
              </a:rPr>
              <a:t>Internal data  </a:t>
            </a:r>
            <a:pPr indent="0" marL="0">
              <a:spcAft>
                <a:spcPts val="200"/>
              </a:spcAft>
              <a:buNone/>
            </a:pPr>
            <a:r>
              <a:rPr lang="en-US" sz="950" dirty="0">
                <a:solidFill>
                  <a:srgbClr val="374151"/>
                </a:solidFill>
                <a:latin typeface="Calibri" pitchFamily="34" charset="0"/>
                <a:ea typeface="Calibri" pitchFamily="34" charset="-122"/>
                <a:cs typeface="Calibri" pitchFamily="34" charset="-120"/>
              </a:rPr>
              <a:t>Summ 193 + RAG 295 · injected hallucinations</a:t>
            </a:r>
            <a:endParaRPr lang="en-US" sz="950" dirty="0"/>
          </a:p>
        </p:txBody>
      </p:sp>
      <p:sp>
        <p:nvSpPr>
          <p:cNvPr id="27" name="Shape 21"/>
          <p:cNvSpPr/>
          <p:nvPr/>
        </p:nvSpPr>
        <p:spPr>
          <a:xfrm>
            <a:off x="4754880" y="2926080"/>
            <a:ext cx="3931920" cy="292608"/>
          </a:xfrm>
          <a:prstGeom prst="rect">
            <a:avLst/>
          </a:prstGeom>
          <a:solidFill>
            <a:srgbClr val="8B1A1A"/>
          </a:solidFill>
          <a:ln/>
        </p:spPr>
      </p:sp>
      <p:sp>
        <p:nvSpPr>
          <p:cNvPr id="28" name="Text 22"/>
          <p:cNvSpPr/>
          <p:nvPr/>
        </p:nvSpPr>
        <p:spPr>
          <a:xfrm>
            <a:off x="4864608" y="2926080"/>
            <a:ext cx="3712464" cy="292608"/>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JUDGES &amp; GENERATORS</a:t>
            </a:r>
            <a:endParaRPr lang="en-US" sz="1200" dirty="0"/>
          </a:p>
        </p:txBody>
      </p:sp>
      <p:sp>
        <p:nvSpPr>
          <p:cNvPr id="29" name="Text 23"/>
          <p:cNvSpPr/>
          <p:nvPr/>
        </p:nvSpPr>
        <p:spPr>
          <a:xfrm>
            <a:off x="4754880" y="3236976"/>
            <a:ext cx="3931920" cy="1005840"/>
          </a:xfrm>
          <a:prstGeom prst="rect">
            <a:avLst/>
          </a:prstGeom>
          <a:noFill/>
          <a:ln/>
        </p:spPr>
        <p:txBody>
          <a:bodyPr wrap="square" lIns="50800" tIns="50800" rIns="50800" bIns="50800" rtlCol="0" anchor="t"/>
          <a:lstStyle/>
          <a:p>
            <a:pPr indent="0" marL="0">
              <a:spcAft>
                <a:spcPts val="200"/>
              </a:spcAft>
              <a:buNone/>
            </a:pPr>
            <a:r>
              <a:rPr lang="en-US" sz="950" b="1" dirty="0">
                <a:solidFill>
                  <a:srgbClr val="374151"/>
                </a:solidFill>
                <a:latin typeface="Calibri" pitchFamily="34" charset="0"/>
                <a:ea typeface="Calibri" pitchFamily="34" charset="-122"/>
                <a:cs typeface="Calibri" pitchFamily="34" charset="-120"/>
              </a:rPr>
              <a:t>Judge models  </a:t>
            </a:r>
            <a:pPr indent="0" marL="0">
              <a:spcAft>
                <a:spcPts val="200"/>
              </a:spcAft>
              <a:buNone/>
            </a:pPr>
            <a:r>
              <a:rPr lang="en-US" sz="950" dirty="0">
                <a:solidFill>
                  <a:srgbClr val="374151"/>
                </a:solidFill>
                <a:latin typeface="Calibri" pitchFamily="34" charset="0"/>
                <a:ea typeface="Calibri" pitchFamily="34" charset="-122"/>
                <a:cs typeface="Calibri" pitchFamily="34" charset="-120"/>
              </a:rPr>
              <a:t>Gemini 2.5 Pro · Claude Sonnet 4 · GPT-4.1</a:t>
            </a:r>
            <a:endParaRPr lang="en-US" sz="950" dirty="0"/>
          </a:p>
          <a:p>
            <a:pPr indent="0" marL="0">
              <a:spcAft>
                <a:spcPts val="200"/>
              </a:spcAft>
              <a:buNone/>
            </a:pPr>
            <a:r>
              <a:rPr lang="en-US" sz="950" b="1" dirty="0">
                <a:solidFill>
                  <a:srgbClr val="374151"/>
                </a:solidFill>
                <a:latin typeface="Calibri" pitchFamily="34" charset="0"/>
                <a:ea typeface="Calibri" pitchFamily="34" charset="-122"/>
                <a:cs typeface="Calibri" pitchFamily="34" charset="-120"/>
              </a:rPr>
              <a:t>Generators (RAGTruth)  </a:t>
            </a:r>
            <a:pPr indent="0" marL="0">
              <a:spcAft>
                <a:spcPts val="200"/>
              </a:spcAft>
              <a:buNone/>
            </a:pPr>
            <a:r>
              <a:rPr lang="en-US" sz="950" dirty="0">
                <a:solidFill>
                  <a:srgbClr val="374151"/>
                </a:solidFill>
                <a:latin typeface="Calibri" pitchFamily="34" charset="0"/>
                <a:ea typeface="Calibri" pitchFamily="34" charset="-122"/>
                <a:cs typeface="Calibri" pitchFamily="34" charset="-120"/>
              </a:rPr>
              <a:t>gpt-3.5-turbo, gpt-4, llama-2-13b/70b-chat, mistral-7B-instruct</a:t>
            </a:r>
            <a:endParaRPr lang="en-US" sz="950" dirty="0"/>
          </a:p>
          <a:p>
            <a:pPr indent="0" marL="0">
              <a:spcAft>
                <a:spcPts val="200"/>
              </a:spcAft>
              <a:buNone/>
            </a:pPr>
            <a:r>
              <a:rPr lang="en-US" sz="950" b="1" dirty="0">
                <a:solidFill>
                  <a:srgbClr val="374151"/>
                </a:solidFill>
                <a:latin typeface="Calibri" pitchFamily="34" charset="0"/>
                <a:ea typeface="Calibri" pitchFamily="34" charset="-122"/>
                <a:cs typeface="Calibri" pitchFamily="34" charset="-120"/>
              </a:rPr>
              <a:t>Prior baselines  </a:t>
            </a:r>
            <a:pPr indent="0" marL="0">
              <a:spcAft>
                <a:spcPts val="200"/>
              </a:spcAft>
              <a:buNone/>
            </a:pPr>
            <a:r>
              <a:rPr lang="en-US" sz="950" dirty="0">
                <a:solidFill>
                  <a:srgbClr val="374151"/>
                </a:solidFill>
                <a:latin typeface="Calibri" pitchFamily="34" charset="0"/>
                <a:ea typeface="Calibri" pitchFamily="34" charset="-122"/>
                <a:cs typeface="Calibri" pitchFamily="34" charset="-120"/>
              </a:rPr>
              <a:t>RAGTruth F1 45.6 [Niu 2024] · FaithJudge ~F1 64 [Tamber 2025] · HaluEval ~61% [Li 2023]</a:t>
            </a:r>
            <a:endParaRPr lang="en-US" sz="950" dirty="0"/>
          </a:p>
        </p:txBody>
      </p:sp>
      <p:sp>
        <p:nvSpPr>
          <p:cNvPr id="30" name="Text 24"/>
          <p:cNvSpPr/>
          <p:nvPr/>
        </p:nvSpPr>
        <p:spPr>
          <a:xfrm>
            <a:off x="8412480" y="4846320"/>
            <a:ext cx="548640" cy="182880"/>
          </a:xfrm>
          <a:prstGeom prst="rect">
            <a:avLst/>
          </a:prstGeom>
          <a:noFill/>
          <a:ln/>
        </p:spPr>
        <p:txBody>
          <a:bodyPr wrap="square" lIns="0" tIns="0" rIns="0" bIns="0" rtlCol="0" anchor="ctr"/>
          <a:lstStyle/>
          <a:p>
            <a:pPr algn="r" indent="0" marL="0">
              <a:buNone/>
            </a:pPr>
            <a:r>
              <a:rPr lang="en-US" sz="800" dirty="0">
                <a:solidFill>
                  <a:srgbClr val="9CA3AF"/>
                </a:solidFill>
                <a:latin typeface="Calibri" pitchFamily="34" charset="0"/>
                <a:ea typeface="Calibri" pitchFamily="34" charset="-122"/>
                <a:cs typeface="Calibri" pitchFamily="34" charset="-120"/>
              </a:rPr>
              <a:t>1 / 7</a:t>
            </a:r>
            <a:endParaRPr lang="en-US" sz="800" dirty="0"/>
          </a:p>
        </p:txBody>
      </p:sp>
      <p:sp>
        <p:nvSpPr>
          <p:cNvPr id="31" name="Text 25"/>
          <p:cNvSpPr/>
          <p:nvPr/>
        </p:nvSpPr>
        <p:spPr>
          <a:xfrm>
            <a:off x="457200" y="4846320"/>
            <a:ext cx="5486400" cy="182880"/>
          </a:xfrm>
          <a:prstGeom prst="rect">
            <a:avLst/>
          </a:prstGeom>
          <a:noFill/>
          <a:ln/>
        </p:spPr>
        <p:txBody>
          <a:bodyPr wrap="square" lIns="0" tIns="0" rIns="0" bIns="0" rtlCol="0" anchor="ctr"/>
          <a:lstStyle/>
          <a:p>
            <a:pPr indent="0" marL="0">
              <a:buNone/>
            </a:pPr>
            <a:r>
              <a:rPr lang="en-US" sz="800" dirty="0">
                <a:solidFill>
                  <a:srgbClr val="9CA3AF"/>
                </a:solidFill>
                <a:latin typeface="Calibri" pitchFamily="34" charset="0"/>
                <a:ea typeface="Calibri" pitchFamily="34" charset="-122"/>
                <a:cs typeface="Calibri" pitchFamily="34" charset="-120"/>
              </a:rPr>
              <a:t>LLM-as-Judge: Best Practices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600" b="1" dirty="0">
                <a:solidFill>
                  <a:srgbClr val="8B1A1A"/>
                </a:solidFill>
                <a:latin typeface="Cambria" pitchFamily="34" charset="0"/>
                <a:ea typeface="Cambria" pitchFamily="34" charset="-122"/>
                <a:cs typeface="Cambria" pitchFamily="34" charset="-120"/>
              </a:rPr>
              <a:t>Experiment 1 — Do judges favor their own outputs?</a:t>
            </a:r>
            <a:endParaRPr lang="en-US" sz="2600" dirty="0"/>
          </a:p>
        </p:txBody>
      </p:sp>
      <p:sp>
        <p:nvSpPr>
          <p:cNvPr id="3" name="Shape 1"/>
          <p:cNvSpPr/>
          <p:nvPr/>
        </p:nvSpPr>
        <p:spPr>
          <a:xfrm>
            <a:off x="457200" y="804672"/>
            <a:ext cx="822960" cy="45720"/>
          </a:xfrm>
          <a:prstGeom prst="rect">
            <a:avLst/>
          </a:prstGeom>
          <a:solidFill>
            <a:srgbClr val="C9A227"/>
          </a:solidFill>
          <a:ln/>
        </p:spPr>
      </p:sp>
      <p:sp>
        <p:nvSpPr>
          <p:cNvPr id="4" name="Shape 2"/>
          <p:cNvSpPr/>
          <p:nvPr/>
        </p:nvSpPr>
        <p:spPr>
          <a:xfrm>
            <a:off x="228600" y="1051560"/>
            <a:ext cx="1508760" cy="329184"/>
          </a:xfrm>
          <a:prstGeom prst="roundRect">
            <a:avLst>
              <a:gd name="adj" fmla="val 11111"/>
            </a:avLst>
          </a:prstGeom>
          <a:solidFill>
            <a:srgbClr val="8B1A1A"/>
          </a:solidFill>
          <a:ln w="6350">
            <a:solidFill>
              <a:srgbClr val="8B1A1A"/>
            </a:solidFill>
            <a:prstDash val="solid"/>
          </a:ln>
        </p:spPr>
      </p:sp>
      <p:sp>
        <p:nvSpPr>
          <p:cNvPr id="5" name="Text 3"/>
          <p:cNvSpPr/>
          <p:nvPr/>
        </p:nvSpPr>
        <p:spPr>
          <a:xfrm>
            <a:off x="274320" y="1051560"/>
            <a:ext cx="141732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Model selection</a:t>
            </a:r>
            <a:endParaRPr lang="en-US" sz="900" dirty="0"/>
          </a:p>
        </p:txBody>
      </p:sp>
      <p:sp>
        <p:nvSpPr>
          <p:cNvPr id="6" name="Shape 4"/>
          <p:cNvSpPr/>
          <p:nvPr/>
        </p:nvSpPr>
        <p:spPr>
          <a:xfrm>
            <a:off x="228600" y="1453896"/>
            <a:ext cx="1508760" cy="329184"/>
          </a:xfrm>
          <a:prstGeom prst="roundRect">
            <a:avLst>
              <a:gd name="adj" fmla="val 11111"/>
            </a:avLst>
          </a:prstGeom>
          <a:solidFill>
            <a:srgbClr val="EEEEEE"/>
          </a:solidFill>
          <a:ln w="6350">
            <a:solidFill>
              <a:srgbClr val="DDDDDD"/>
            </a:solidFill>
            <a:prstDash val="solid"/>
          </a:ln>
        </p:spPr>
      </p:sp>
      <p:sp>
        <p:nvSpPr>
          <p:cNvPr id="7" name="Text 5"/>
          <p:cNvSpPr/>
          <p:nvPr/>
        </p:nvSpPr>
        <p:spPr>
          <a:xfrm>
            <a:off x="274320" y="1453896"/>
            <a:ext cx="1417320" cy="329184"/>
          </a:xfrm>
          <a:prstGeom prst="rect">
            <a:avLst/>
          </a:prstGeom>
          <a:noFill/>
          <a:ln/>
        </p:spPr>
        <p:txBody>
          <a:bodyPr wrap="square" lIns="0" tIns="0" rIns="0" bIns="0"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Structured prompting</a:t>
            </a:r>
            <a:endParaRPr lang="en-US" sz="900" dirty="0"/>
          </a:p>
        </p:txBody>
      </p:sp>
      <p:sp>
        <p:nvSpPr>
          <p:cNvPr id="8" name="Shape 6"/>
          <p:cNvSpPr/>
          <p:nvPr/>
        </p:nvSpPr>
        <p:spPr>
          <a:xfrm>
            <a:off x="228600" y="1856232"/>
            <a:ext cx="1508760" cy="329184"/>
          </a:xfrm>
          <a:prstGeom prst="roundRect">
            <a:avLst>
              <a:gd name="adj" fmla="val 11111"/>
            </a:avLst>
          </a:prstGeom>
          <a:solidFill>
            <a:srgbClr val="EEEEEE"/>
          </a:solidFill>
          <a:ln w="6350">
            <a:solidFill>
              <a:srgbClr val="DDDDDD"/>
            </a:solidFill>
            <a:prstDash val="solid"/>
          </a:ln>
        </p:spPr>
      </p:sp>
      <p:sp>
        <p:nvSpPr>
          <p:cNvPr id="9" name="Text 7"/>
          <p:cNvSpPr/>
          <p:nvPr/>
        </p:nvSpPr>
        <p:spPr>
          <a:xfrm>
            <a:off x="274320" y="1856232"/>
            <a:ext cx="1417320" cy="329184"/>
          </a:xfrm>
          <a:prstGeom prst="rect">
            <a:avLst/>
          </a:prstGeom>
          <a:noFill/>
          <a:ln/>
        </p:spPr>
        <p:txBody>
          <a:bodyPr wrap="square" lIns="0" tIns="0" rIns="0" bIns="0"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Improved task understanding</a:t>
            </a:r>
            <a:endParaRPr lang="en-US" sz="900" dirty="0"/>
          </a:p>
        </p:txBody>
      </p:sp>
      <p:sp>
        <p:nvSpPr>
          <p:cNvPr id="10" name="Shape 8"/>
          <p:cNvSpPr/>
          <p:nvPr/>
        </p:nvSpPr>
        <p:spPr>
          <a:xfrm>
            <a:off x="228600" y="2258568"/>
            <a:ext cx="1508760" cy="329184"/>
          </a:xfrm>
          <a:prstGeom prst="roundRect">
            <a:avLst>
              <a:gd name="adj" fmla="val 11111"/>
            </a:avLst>
          </a:prstGeom>
          <a:solidFill>
            <a:srgbClr val="EEEEEE"/>
          </a:solidFill>
          <a:ln w="6350">
            <a:solidFill>
              <a:srgbClr val="DDDDDD"/>
            </a:solidFill>
            <a:prstDash val="solid"/>
          </a:ln>
        </p:spPr>
      </p:sp>
      <p:sp>
        <p:nvSpPr>
          <p:cNvPr id="11" name="Text 9"/>
          <p:cNvSpPr/>
          <p:nvPr/>
        </p:nvSpPr>
        <p:spPr>
          <a:xfrm>
            <a:off x="274320" y="2258568"/>
            <a:ext cx="1417320" cy="329184"/>
          </a:xfrm>
          <a:prstGeom prst="rect">
            <a:avLst/>
          </a:prstGeom>
          <a:noFill/>
          <a:ln/>
        </p:spPr>
        <p:txBody>
          <a:bodyPr wrap="square" lIns="0" tIns="0" rIns="0" bIns="0"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Aggregation across judges</a:t>
            </a:r>
            <a:endParaRPr lang="en-US" sz="900" dirty="0"/>
          </a:p>
        </p:txBody>
      </p:sp>
      <p:sp>
        <p:nvSpPr>
          <p:cNvPr id="12" name="Shape 10"/>
          <p:cNvSpPr/>
          <p:nvPr/>
        </p:nvSpPr>
        <p:spPr>
          <a:xfrm>
            <a:off x="228600" y="2660904"/>
            <a:ext cx="1508760" cy="329184"/>
          </a:xfrm>
          <a:prstGeom prst="roundRect">
            <a:avLst>
              <a:gd name="adj" fmla="val 11111"/>
            </a:avLst>
          </a:prstGeom>
          <a:solidFill>
            <a:srgbClr val="EEEEEE"/>
          </a:solidFill>
          <a:ln w="6350">
            <a:solidFill>
              <a:srgbClr val="DDDDDD"/>
            </a:solidFill>
            <a:prstDash val="solid"/>
          </a:ln>
        </p:spPr>
      </p:sp>
      <p:sp>
        <p:nvSpPr>
          <p:cNvPr id="13" name="Text 11"/>
          <p:cNvSpPr/>
          <p:nvPr/>
        </p:nvSpPr>
        <p:spPr>
          <a:xfrm>
            <a:off x="274320" y="2660904"/>
            <a:ext cx="1417320" cy="329184"/>
          </a:xfrm>
          <a:prstGeom prst="rect">
            <a:avLst/>
          </a:prstGeom>
          <a:noFill/>
          <a:ln/>
        </p:spPr>
        <p:txBody>
          <a:bodyPr wrap="square" lIns="0" tIns="0" rIns="0" bIns="0"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Reporting scores</a:t>
            </a:r>
            <a:endParaRPr lang="en-US" sz="900" dirty="0"/>
          </a:p>
        </p:txBody>
      </p:sp>
      <p:sp>
        <p:nvSpPr>
          <p:cNvPr id="14" name="Shape 12"/>
          <p:cNvSpPr/>
          <p:nvPr/>
        </p:nvSpPr>
        <p:spPr>
          <a:xfrm>
            <a:off x="228600" y="3063240"/>
            <a:ext cx="1508760" cy="329184"/>
          </a:xfrm>
          <a:prstGeom prst="roundRect">
            <a:avLst>
              <a:gd name="adj" fmla="val 11111"/>
            </a:avLst>
          </a:prstGeom>
          <a:solidFill>
            <a:srgbClr val="EEEEEE"/>
          </a:solidFill>
          <a:ln w="6350">
            <a:solidFill>
              <a:srgbClr val="DDDDDD"/>
            </a:solidFill>
            <a:prstDash val="solid"/>
          </a:ln>
        </p:spPr>
      </p:sp>
      <p:sp>
        <p:nvSpPr>
          <p:cNvPr id="15" name="Text 13"/>
          <p:cNvSpPr/>
          <p:nvPr/>
        </p:nvSpPr>
        <p:spPr>
          <a:xfrm>
            <a:off x="274320" y="3063240"/>
            <a:ext cx="1417320" cy="329184"/>
          </a:xfrm>
          <a:prstGeom prst="rect">
            <a:avLst/>
          </a:prstGeom>
          <a:noFill/>
          <a:ln/>
        </p:spPr>
        <p:txBody>
          <a:bodyPr wrap="square" lIns="0" tIns="0" rIns="0" bIns="0"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Judge evaluation</a:t>
            </a:r>
            <a:endParaRPr lang="en-US" sz="900" dirty="0"/>
          </a:p>
        </p:txBody>
      </p:sp>
      <p:sp>
        <p:nvSpPr>
          <p:cNvPr id="16" name="Text 14"/>
          <p:cNvSpPr/>
          <p:nvPr/>
        </p:nvSpPr>
        <p:spPr>
          <a:xfrm>
            <a:off x="228600" y="868680"/>
            <a:ext cx="1508760" cy="164592"/>
          </a:xfrm>
          <a:prstGeom prst="rect">
            <a:avLst/>
          </a:prstGeom>
          <a:noFill/>
          <a:ln/>
        </p:spPr>
        <p:txBody>
          <a:bodyPr wrap="square" lIns="0" tIns="0" rIns="0" bIns="0" rtlCol="0" anchor="ctr"/>
          <a:lstStyle/>
          <a:p>
            <a:pPr algn="ctr" indent="0" marL="0">
              <a:buNone/>
            </a:pPr>
            <a:r>
              <a:rPr lang="en-US" sz="750" b="1" spc="200" kern="0" dirty="0">
                <a:solidFill>
                  <a:srgbClr val="6B7280"/>
                </a:solidFill>
                <a:latin typeface="Calibri" pitchFamily="34" charset="0"/>
                <a:ea typeface="Calibri" pitchFamily="34" charset="-122"/>
                <a:cs typeface="Calibri" pitchFamily="34" charset="-120"/>
              </a:rPr>
              <a:t>BEST PRACTICES</a:t>
            </a:r>
            <a:endParaRPr lang="en-US" sz="750" dirty="0"/>
          </a:p>
        </p:txBody>
      </p:sp>
      <p:sp>
        <p:nvSpPr>
          <p:cNvPr id="17" name="Text 15"/>
          <p:cNvSpPr/>
          <p:nvPr/>
        </p:nvSpPr>
        <p:spPr>
          <a:xfrm>
            <a:off x="1920240" y="914400"/>
            <a:ext cx="4572000" cy="22860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Hallucination capture rate (recall) — P4 prompt, RAG setting</a:t>
            </a:r>
            <a:endParaRPr lang="en-US" sz="1000" dirty="0"/>
          </a:p>
        </p:txBody>
      </p:sp>
      <p:graphicFrame>
        <p:nvGraphicFramePr>
          <p:cNvPr id="18" name="Chart 0" descr=""/>
          <p:cNvGraphicFramePr/>
          <p:nvPr/>
        </p:nvGraphicFramePr>
        <p:xfrm>
          <a:off x="1920240" y="1143000"/>
          <a:ext cx="4572000" cy="1920240"/>
        </p:xfrm>
        <a:graphic xmlns:a="http://schemas.openxmlformats.org/drawingml/2006/main">
          <a:graphicData uri="http://schemas.openxmlformats.org/drawingml/2006/chart">
            <c:chart xmlns:c="http://schemas.openxmlformats.org/drawingml/2006/chart" r:id="rId1"/>
          </a:graphicData>
        </a:graphic>
      </p:graphicFrame>
      <p:sp>
        <p:nvSpPr>
          <p:cNvPr id="19" name="Shape 16"/>
          <p:cNvSpPr/>
          <p:nvPr/>
        </p:nvSpPr>
        <p:spPr>
          <a:xfrm>
            <a:off x="6629400" y="914400"/>
            <a:ext cx="2331720" cy="2148840"/>
          </a:xfrm>
          <a:prstGeom prst="roundRect">
            <a:avLst>
              <a:gd name="adj" fmla="val 2128"/>
            </a:avLst>
          </a:prstGeom>
          <a:solidFill>
            <a:srgbClr val="FBF8F3"/>
          </a:solidFill>
          <a:ln w="12700">
            <a:solidFill>
              <a:srgbClr val="D97706"/>
            </a:solidFill>
            <a:prstDash val="solid"/>
          </a:ln>
        </p:spPr>
      </p:sp>
      <p:pic>
        <p:nvPicPr>
          <p:cNvPr id="20" name="Image 0" descr="preencoded.png">    </p:cNvPr>
          <p:cNvPicPr>
            <a:picLocks noChangeAspect="1"/>
          </p:cNvPicPr>
          <p:nvPr/>
        </p:nvPicPr>
        <p:blipFill>
          <a:blip r:embed="rId2"/>
          <a:stretch>
            <a:fillRect/>
          </a:stretch>
        </p:blipFill>
        <p:spPr>
          <a:xfrm>
            <a:off x="6766560" y="1005840"/>
            <a:ext cx="201168" cy="201168"/>
          </a:xfrm>
          <a:prstGeom prst="rect">
            <a:avLst/>
          </a:prstGeom>
        </p:spPr>
      </p:pic>
      <p:sp>
        <p:nvSpPr>
          <p:cNvPr id="21" name="Text 17"/>
          <p:cNvSpPr/>
          <p:nvPr/>
        </p:nvSpPr>
        <p:spPr>
          <a:xfrm>
            <a:off x="6995160" y="987552"/>
            <a:ext cx="1554480" cy="228600"/>
          </a:xfrm>
          <a:prstGeom prst="rect">
            <a:avLst/>
          </a:prstGeom>
          <a:noFill/>
          <a:ln/>
        </p:spPr>
        <p:txBody>
          <a:bodyPr wrap="square" lIns="0" tIns="0" rIns="0" bIns="0" rtlCol="0" anchor="ctr"/>
          <a:lstStyle/>
          <a:p>
            <a:pPr indent="0" marL="0">
              <a:buNone/>
            </a:pPr>
            <a:r>
              <a:rPr lang="en-US" sz="900" b="1" spc="200" kern="0" dirty="0">
                <a:solidFill>
                  <a:srgbClr val="D97706"/>
                </a:solidFill>
                <a:latin typeface="Calibri" pitchFamily="34" charset="0"/>
                <a:ea typeface="Calibri" pitchFamily="34" charset="-122"/>
                <a:cs typeface="Calibri" pitchFamily="34" charset="-120"/>
              </a:rPr>
              <a:t>FINDING</a:t>
            </a:r>
            <a:endParaRPr lang="en-US" sz="900" dirty="0"/>
          </a:p>
        </p:txBody>
      </p:sp>
      <p:sp>
        <p:nvSpPr>
          <p:cNvPr id="22" name="Text 18"/>
          <p:cNvSpPr/>
          <p:nvPr/>
        </p:nvSpPr>
        <p:spPr>
          <a:xfrm>
            <a:off x="6766560" y="1280160"/>
            <a:ext cx="2103120" cy="1691640"/>
          </a:xfrm>
          <a:prstGeom prst="rect">
            <a:avLst/>
          </a:prstGeom>
          <a:noFill/>
          <a:ln/>
        </p:spPr>
        <p:txBody>
          <a:bodyPr wrap="square" lIns="0" tIns="0" rIns="0" bIns="0" rtlCol="0" anchor="t"/>
          <a:lstStyle/>
          <a:p>
            <a:pPr indent="0" marL="0">
              <a:buNone/>
            </a:pPr>
            <a:r>
              <a:rPr lang="en-US" sz="900" b="1" dirty="0">
                <a:solidFill>
                  <a:srgbClr val="374151"/>
                </a:solidFill>
                <a:latin typeface="Calibri" pitchFamily="34" charset="0"/>
                <a:ea typeface="Calibri" pitchFamily="34" charset="-122"/>
                <a:cs typeface="Calibri" pitchFamily="34" charset="-120"/>
              </a:rPr>
              <a:t>GPT-4.1 under-flags its own hallucinations  </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Recall drops sharply when judging gpt-4 outputs (self-preference bias).</a:t>
            </a:r>
            <a:endParaRPr lang="en-US" sz="900" dirty="0"/>
          </a:p>
          <a:p>
            <a:pPr indent="0" marL="0">
              <a:buNone/>
            </a:pPr>
            <a:r>
              <a:rPr lang="en-US" sz="400" dirty="0">
                <a:solidFill>
                  <a:srgbClr val="374151"/>
                </a:solidFill>
                <a:latin typeface="Calibri" pitchFamily="34" charset="0"/>
                <a:ea typeface="Calibri" pitchFamily="34" charset="-122"/>
                <a:cs typeface="Calibri" pitchFamily="34" charset="-120"/>
              </a:rPr>
              <a:t> </a:t>
            </a:r>
            <a:endParaRPr lang="en-US" sz="900" dirty="0"/>
          </a:p>
          <a:p>
            <a:pPr indent="0" marL="0">
              <a:buNone/>
            </a:pPr>
            <a:r>
              <a:rPr lang="en-US" sz="900" i="1" dirty="0">
                <a:solidFill>
                  <a:srgbClr val="374151"/>
                </a:solidFill>
                <a:latin typeface="Calibri" pitchFamily="34" charset="0"/>
                <a:ea typeface="Calibri" pitchFamily="34" charset="-122"/>
                <a:cs typeface="Calibri" pitchFamily="34" charset="-120"/>
              </a:rPr>
              <a:t>Cross-model judging + jury aggregation restore recall.</a:t>
            </a:r>
            <a:endParaRPr lang="en-US" sz="900" dirty="0"/>
          </a:p>
        </p:txBody>
      </p:sp>
      <p:sp>
        <p:nvSpPr>
          <p:cNvPr id="23" name="Shape 19"/>
          <p:cNvSpPr/>
          <p:nvPr/>
        </p:nvSpPr>
        <p:spPr>
          <a:xfrm>
            <a:off x="1920240" y="3246120"/>
            <a:ext cx="7040880" cy="292608"/>
          </a:xfrm>
          <a:prstGeom prst="rect">
            <a:avLst/>
          </a:prstGeom>
          <a:solidFill>
            <a:srgbClr val="8B1A1A"/>
          </a:solidFill>
          <a:ln/>
        </p:spPr>
      </p:sp>
      <p:sp>
        <p:nvSpPr>
          <p:cNvPr id="24" name="Text 20"/>
          <p:cNvSpPr/>
          <p:nvPr/>
        </p:nvSpPr>
        <p:spPr>
          <a:xfrm>
            <a:off x="2029968" y="3246120"/>
            <a:ext cx="6821424" cy="292608"/>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BEST PRACTICE  ·  MODEL SELECTION</a:t>
            </a:r>
            <a:endParaRPr lang="en-US" sz="1200" dirty="0"/>
          </a:p>
        </p:txBody>
      </p:sp>
      <p:sp>
        <p:nvSpPr>
          <p:cNvPr id="25" name="Shape 21"/>
          <p:cNvSpPr/>
          <p:nvPr/>
        </p:nvSpPr>
        <p:spPr>
          <a:xfrm>
            <a:off x="1920240" y="3566160"/>
            <a:ext cx="2286000" cy="1417320"/>
          </a:xfrm>
          <a:prstGeom prst="roundRect">
            <a:avLst>
              <a:gd name="adj" fmla="val 3226"/>
            </a:avLst>
          </a:prstGeom>
          <a:solidFill>
            <a:srgbClr val="FBF8F3"/>
          </a:solidFill>
          <a:ln w="9525">
            <a:solidFill>
              <a:srgbClr val="E5E7EB"/>
            </a:solidFill>
            <a:prstDash val="solid"/>
          </a:ln>
        </p:spPr>
      </p:sp>
      <p:sp>
        <p:nvSpPr>
          <p:cNvPr id="26" name="Text 22"/>
          <p:cNvSpPr/>
          <p:nvPr/>
        </p:nvSpPr>
        <p:spPr>
          <a:xfrm>
            <a:off x="2011680" y="3630168"/>
            <a:ext cx="2103120" cy="292608"/>
          </a:xfrm>
          <a:prstGeom prst="rect">
            <a:avLst/>
          </a:prstGeom>
          <a:noFill/>
          <a:ln/>
        </p:spPr>
        <p:txBody>
          <a:bodyPr wrap="square" lIns="0" tIns="0" rIns="0" bIns="0" rtlCol="0" anchor="t"/>
          <a:lstStyle/>
          <a:p>
            <a:pPr indent="0" marL="0">
              <a:buNone/>
            </a:pPr>
            <a:r>
              <a:rPr lang="en-US" sz="1100" b="1" dirty="0">
                <a:solidFill>
                  <a:srgbClr val="8B1A1A"/>
                </a:solidFill>
                <a:latin typeface="Cambria" pitchFamily="34" charset="0"/>
                <a:ea typeface="Cambria" pitchFamily="34" charset="-122"/>
                <a:cs typeface="Cambria" pitchFamily="34" charset="-120"/>
              </a:rPr>
              <a:t>Frontier LLM / LLM scale</a:t>
            </a:r>
            <a:endParaRPr lang="en-US" sz="1100" dirty="0"/>
          </a:p>
        </p:txBody>
      </p:sp>
      <p:sp>
        <p:nvSpPr>
          <p:cNvPr id="27" name="Text 23"/>
          <p:cNvSpPr/>
          <p:nvPr/>
        </p:nvSpPr>
        <p:spPr>
          <a:xfrm>
            <a:off x="2011680" y="3959352"/>
            <a:ext cx="2103120" cy="777240"/>
          </a:xfrm>
          <a:prstGeom prst="rect">
            <a:avLst/>
          </a:prstGeom>
          <a:noFill/>
          <a:ln/>
        </p:spPr>
        <p:txBody>
          <a:bodyPr wrap="square" lIns="0" tIns="0" rIns="0" bIns="0" rtlCol="0" anchor="t"/>
          <a:lstStyle/>
          <a:p>
            <a:pPr indent="0" marL="0">
              <a:buNone/>
            </a:pPr>
            <a:r>
              <a:rPr lang="en-US" sz="900" dirty="0">
                <a:solidFill>
                  <a:srgbClr val="374151"/>
                </a:solidFill>
                <a:latin typeface="Calibri" pitchFamily="34" charset="0"/>
                <a:ea typeface="Calibri" pitchFamily="34" charset="-122"/>
                <a:cs typeface="Calibri" pitchFamily="34" charset="-120"/>
              </a:rPr>
              <a:t>Judge ≥ generator capability. GPT-4/5, Claude Opus/Sonnet, Gemini Pro. G-Eval p=0.514; MT-Bench &gt;80% agreement.</a:t>
            </a:r>
            <a:endParaRPr lang="en-US" sz="900" dirty="0"/>
          </a:p>
        </p:txBody>
      </p:sp>
      <p:sp>
        <p:nvSpPr>
          <p:cNvPr id="28" name="Text 24"/>
          <p:cNvSpPr/>
          <p:nvPr/>
        </p:nvSpPr>
        <p:spPr>
          <a:xfrm>
            <a:off x="2011680" y="4727448"/>
            <a:ext cx="2103120" cy="228600"/>
          </a:xfrm>
          <a:prstGeom prst="rect">
            <a:avLst/>
          </a:prstGeom>
          <a:noFill/>
          <a:ln/>
        </p:spPr>
        <p:txBody>
          <a:bodyPr wrap="square" lIns="0" tIns="0" rIns="0" bIns="0" rtlCol="0" anchor="t"/>
          <a:lstStyle/>
          <a:p>
            <a:pPr indent="0" marL="0">
              <a:buNone/>
            </a:pPr>
            <a:r>
              <a:rPr lang="en-US" sz="800" i="1" dirty="0">
                <a:solidFill>
                  <a:srgbClr val="6B7280"/>
                </a:solidFill>
                <a:latin typeface="Calibri" pitchFamily="34" charset="0"/>
                <a:ea typeface="Calibri" pitchFamily="34" charset="-122"/>
                <a:cs typeface="Calibri" pitchFamily="34" charset="-120"/>
              </a:rPr>
              <a:t>[Liu 2023; Zheng 2023]</a:t>
            </a:r>
            <a:endParaRPr lang="en-US" sz="800" dirty="0"/>
          </a:p>
        </p:txBody>
      </p:sp>
      <p:sp>
        <p:nvSpPr>
          <p:cNvPr id="29" name="Shape 25"/>
          <p:cNvSpPr/>
          <p:nvPr/>
        </p:nvSpPr>
        <p:spPr>
          <a:xfrm>
            <a:off x="4297680" y="3566160"/>
            <a:ext cx="2286000" cy="1417320"/>
          </a:xfrm>
          <a:prstGeom prst="roundRect">
            <a:avLst>
              <a:gd name="adj" fmla="val 3226"/>
            </a:avLst>
          </a:prstGeom>
          <a:solidFill>
            <a:srgbClr val="FBF8F3"/>
          </a:solidFill>
          <a:ln w="9525">
            <a:solidFill>
              <a:srgbClr val="E5E7EB"/>
            </a:solidFill>
            <a:prstDash val="solid"/>
          </a:ln>
        </p:spPr>
      </p:sp>
      <p:sp>
        <p:nvSpPr>
          <p:cNvPr id="30" name="Text 26"/>
          <p:cNvSpPr/>
          <p:nvPr/>
        </p:nvSpPr>
        <p:spPr>
          <a:xfrm>
            <a:off x="4389120" y="3630168"/>
            <a:ext cx="2103120" cy="292608"/>
          </a:xfrm>
          <a:prstGeom prst="rect">
            <a:avLst/>
          </a:prstGeom>
          <a:noFill/>
          <a:ln/>
        </p:spPr>
        <p:txBody>
          <a:bodyPr wrap="square" lIns="0" tIns="0" rIns="0" bIns="0" rtlCol="0" anchor="t"/>
          <a:lstStyle/>
          <a:p>
            <a:pPr indent="0" marL="0">
              <a:buNone/>
            </a:pPr>
            <a:r>
              <a:rPr lang="en-US" sz="1100" b="1" dirty="0">
                <a:solidFill>
                  <a:srgbClr val="8B1A1A"/>
                </a:solidFill>
                <a:latin typeface="Cambria" pitchFamily="34" charset="0"/>
                <a:ea typeface="Cambria" pitchFamily="34" charset="-122"/>
                <a:cs typeface="Cambria" pitchFamily="34" charset="-120"/>
              </a:rPr>
              <a:t>Smaller LLMs</a:t>
            </a:r>
            <a:endParaRPr lang="en-US" sz="1100" dirty="0"/>
          </a:p>
        </p:txBody>
      </p:sp>
      <p:sp>
        <p:nvSpPr>
          <p:cNvPr id="31" name="Text 27"/>
          <p:cNvSpPr/>
          <p:nvPr/>
        </p:nvSpPr>
        <p:spPr>
          <a:xfrm>
            <a:off x="4389120" y="3959352"/>
            <a:ext cx="2103120" cy="777240"/>
          </a:xfrm>
          <a:prstGeom prst="rect">
            <a:avLst/>
          </a:prstGeom>
          <a:noFill/>
          <a:ln/>
        </p:spPr>
        <p:txBody>
          <a:bodyPr wrap="square" lIns="0" tIns="0" rIns="0" bIns="0" rtlCol="0" anchor="t"/>
          <a:lstStyle/>
          <a:p>
            <a:pPr indent="0" marL="0">
              <a:buNone/>
            </a:pPr>
            <a:r>
              <a:rPr lang="en-US" sz="900" dirty="0">
                <a:solidFill>
                  <a:srgbClr val="374151"/>
                </a:solidFill>
                <a:latin typeface="Calibri" pitchFamily="34" charset="0"/>
                <a:ea typeface="Calibri" pitchFamily="34" charset="-122"/>
                <a:cs typeface="Calibri" pitchFamily="34" charset="-120"/>
              </a:rPr>
              <a:t>Fine-tuned for narrow tasks; pair with jury. Prometheus 13B Pearson=0.897; PoLL &gt;7× cheaper than GPT-4.</a:t>
            </a:r>
            <a:endParaRPr lang="en-US" sz="900" dirty="0"/>
          </a:p>
        </p:txBody>
      </p:sp>
      <p:sp>
        <p:nvSpPr>
          <p:cNvPr id="32" name="Text 28"/>
          <p:cNvSpPr/>
          <p:nvPr/>
        </p:nvSpPr>
        <p:spPr>
          <a:xfrm>
            <a:off x="4389120" y="4727448"/>
            <a:ext cx="2103120" cy="228600"/>
          </a:xfrm>
          <a:prstGeom prst="rect">
            <a:avLst/>
          </a:prstGeom>
          <a:noFill/>
          <a:ln/>
        </p:spPr>
        <p:txBody>
          <a:bodyPr wrap="square" lIns="0" tIns="0" rIns="0" bIns="0" rtlCol="0" anchor="t"/>
          <a:lstStyle/>
          <a:p>
            <a:pPr indent="0" marL="0">
              <a:buNone/>
            </a:pPr>
            <a:r>
              <a:rPr lang="en-US" sz="800" i="1" dirty="0">
                <a:solidFill>
                  <a:srgbClr val="6B7280"/>
                </a:solidFill>
                <a:latin typeface="Calibri" pitchFamily="34" charset="0"/>
                <a:ea typeface="Calibri" pitchFamily="34" charset="-122"/>
                <a:cs typeface="Calibri" pitchFamily="34" charset="-120"/>
              </a:rPr>
              <a:t>[Huang 2025]</a:t>
            </a:r>
            <a:endParaRPr lang="en-US" sz="800" dirty="0"/>
          </a:p>
        </p:txBody>
      </p:sp>
      <p:sp>
        <p:nvSpPr>
          <p:cNvPr id="33" name="Shape 29"/>
          <p:cNvSpPr/>
          <p:nvPr/>
        </p:nvSpPr>
        <p:spPr>
          <a:xfrm>
            <a:off x="6675120" y="3566160"/>
            <a:ext cx="2286000" cy="1417320"/>
          </a:xfrm>
          <a:prstGeom prst="roundRect">
            <a:avLst>
              <a:gd name="adj" fmla="val 3226"/>
            </a:avLst>
          </a:prstGeom>
          <a:solidFill>
            <a:srgbClr val="FBF8F3"/>
          </a:solidFill>
          <a:ln w="9525">
            <a:solidFill>
              <a:srgbClr val="E5E7EB"/>
            </a:solidFill>
            <a:prstDash val="solid"/>
          </a:ln>
        </p:spPr>
      </p:sp>
      <p:sp>
        <p:nvSpPr>
          <p:cNvPr id="34" name="Text 30"/>
          <p:cNvSpPr/>
          <p:nvPr/>
        </p:nvSpPr>
        <p:spPr>
          <a:xfrm>
            <a:off x="6766560" y="3630168"/>
            <a:ext cx="2103120" cy="292608"/>
          </a:xfrm>
          <a:prstGeom prst="rect">
            <a:avLst/>
          </a:prstGeom>
          <a:noFill/>
          <a:ln/>
        </p:spPr>
        <p:txBody>
          <a:bodyPr wrap="square" lIns="0" tIns="0" rIns="0" bIns="0" rtlCol="0" anchor="t"/>
          <a:lstStyle/>
          <a:p>
            <a:pPr indent="0" marL="0">
              <a:buNone/>
            </a:pPr>
            <a:r>
              <a:rPr lang="en-US" sz="1100" b="1" dirty="0">
                <a:solidFill>
                  <a:srgbClr val="8B1A1A"/>
                </a:solidFill>
                <a:latin typeface="Cambria" pitchFamily="34" charset="0"/>
                <a:ea typeface="Cambria" pitchFamily="34" charset="-122"/>
                <a:cs typeface="Cambria" pitchFamily="34" charset="-120"/>
              </a:rPr>
              <a:t>Cross-model judging</a:t>
            </a:r>
            <a:endParaRPr lang="en-US" sz="1100" dirty="0"/>
          </a:p>
        </p:txBody>
      </p:sp>
      <p:sp>
        <p:nvSpPr>
          <p:cNvPr id="35" name="Text 31"/>
          <p:cNvSpPr/>
          <p:nvPr/>
        </p:nvSpPr>
        <p:spPr>
          <a:xfrm>
            <a:off x="6766560" y="3959352"/>
            <a:ext cx="2103120" cy="777240"/>
          </a:xfrm>
          <a:prstGeom prst="rect">
            <a:avLst/>
          </a:prstGeom>
          <a:noFill/>
          <a:ln/>
        </p:spPr>
        <p:txBody>
          <a:bodyPr wrap="square" lIns="0" tIns="0" rIns="0" bIns="0" rtlCol="0" anchor="t"/>
          <a:lstStyle/>
          <a:p>
            <a:pPr indent="0" marL="0">
              <a:buNone/>
            </a:pPr>
            <a:r>
              <a:rPr lang="en-US" sz="900" dirty="0">
                <a:solidFill>
                  <a:srgbClr val="374151"/>
                </a:solidFill>
                <a:latin typeface="Calibri" pitchFamily="34" charset="0"/>
                <a:ea typeface="Calibri" pitchFamily="34" charset="-122"/>
                <a:cs typeface="Calibri" pitchFamily="34" charset="-120"/>
              </a:rPr>
              <a:t>Use a judge from a different model family than the generator. Mitigates self-preference and familiarity bias.</a:t>
            </a:r>
            <a:endParaRPr lang="en-US" sz="900" dirty="0"/>
          </a:p>
        </p:txBody>
      </p:sp>
      <p:sp>
        <p:nvSpPr>
          <p:cNvPr id="36" name="Text 32"/>
          <p:cNvSpPr/>
          <p:nvPr/>
        </p:nvSpPr>
        <p:spPr>
          <a:xfrm>
            <a:off x="6766560" y="4727448"/>
            <a:ext cx="2103120" cy="228600"/>
          </a:xfrm>
          <a:prstGeom prst="rect">
            <a:avLst/>
          </a:prstGeom>
          <a:noFill/>
          <a:ln/>
        </p:spPr>
        <p:txBody>
          <a:bodyPr wrap="square" lIns="0" tIns="0" rIns="0" bIns="0" rtlCol="0" anchor="t"/>
          <a:lstStyle/>
          <a:p>
            <a:pPr indent="0" marL="0">
              <a:buNone/>
            </a:pPr>
            <a:r>
              <a:rPr lang="en-US" sz="800" i="1" dirty="0">
                <a:solidFill>
                  <a:srgbClr val="6B7280"/>
                </a:solidFill>
                <a:latin typeface="Calibri" pitchFamily="34" charset="0"/>
                <a:ea typeface="Calibri" pitchFamily="34" charset="-122"/>
                <a:cs typeface="Calibri" pitchFamily="34" charset="-120"/>
              </a:rPr>
              <a:t>[Wataoka 2024; Liu 2023]</a:t>
            </a:r>
            <a:endParaRPr lang="en-US" sz="800" dirty="0"/>
          </a:p>
        </p:txBody>
      </p:sp>
      <p:sp>
        <p:nvSpPr>
          <p:cNvPr id="37" name="Text 33"/>
          <p:cNvSpPr/>
          <p:nvPr/>
        </p:nvSpPr>
        <p:spPr>
          <a:xfrm>
            <a:off x="8412480" y="4846320"/>
            <a:ext cx="548640" cy="182880"/>
          </a:xfrm>
          <a:prstGeom prst="rect">
            <a:avLst/>
          </a:prstGeom>
          <a:noFill/>
          <a:ln/>
        </p:spPr>
        <p:txBody>
          <a:bodyPr wrap="square" lIns="0" tIns="0" rIns="0" bIns="0" rtlCol="0" anchor="ctr"/>
          <a:lstStyle/>
          <a:p>
            <a:pPr algn="r" indent="0" marL="0">
              <a:buNone/>
            </a:pPr>
            <a:r>
              <a:rPr lang="en-US" sz="800" dirty="0">
                <a:solidFill>
                  <a:srgbClr val="9CA3AF"/>
                </a:solidFill>
                <a:latin typeface="Calibri" pitchFamily="34" charset="0"/>
                <a:ea typeface="Calibri" pitchFamily="34" charset="-122"/>
                <a:cs typeface="Calibri" pitchFamily="34" charset="-120"/>
              </a:rPr>
              <a:t>2 / 7</a:t>
            </a:r>
            <a:endParaRPr lang="en-US" sz="800" dirty="0"/>
          </a:p>
        </p:txBody>
      </p:sp>
      <p:sp>
        <p:nvSpPr>
          <p:cNvPr id="38" name="Text 34"/>
          <p:cNvSpPr/>
          <p:nvPr/>
        </p:nvSpPr>
        <p:spPr>
          <a:xfrm>
            <a:off x="457200" y="4846320"/>
            <a:ext cx="5486400" cy="182880"/>
          </a:xfrm>
          <a:prstGeom prst="rect">
            <a:avLst/>
          </a:prstGeom>
          <a:noFill/>
          <a:ln/>
        </p:spPr>
        <p:txBody>
          <a:bodyPr wrap="square" lIns="0" tIns="0" rIns="0" bIns="0" rtlCol="0" anchor="ctr"/>
          <a:lstStyle/>
          <a:p>
            <a:pPr indent="0" marL="0">
              <a:buNone/>
            </a:pPr>
            <a:r>
              <a:rPr lang="en-US" sz="800" dirty="0">
                <a:solidFill>
                  <a:srgbClr val="9CA3AF"/>
                </a:solidFill>
                <a:latin typeface="Calibri" pitchFamily="34" charset="0"/>
                <a:ea typeface="Calibri" pitchFamily="34" charset="-122"/>
                <a:cs typeface="Calibri" pitchFamily="34" charset="-120"/>
              </a:rPr>
              <a:t>LLM-as-Judge: Best Practices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600" b="1" dirty="0">
                <a:solidFill>
                  <a:srgbClr val="8B1A1A"/>
                </a:solidFill>
                <a:latin typeface="Cambria" pitchFamily="34" charset="0"/>
                <a:ea typeface="Cambria" pitchFamily="34" charset="-122"/>
                <a:cs typeface="Cambria" pitchFamily="34" charset="-120"/>
              </a:rPr>
              <a:t>Experiment 2 — Does prompt design matter?</a:t>
            </a:r>
            <a:endParaRPr lang="en-US" sz="2600" dirty="0"/>
          </a:p>
        </p:txBody>
      </p:sp>
      <p:sp>
        <p:nvSpPr>
          <p:cNvPr id="3" name="Shape 1"/>
          <p:cNvSpPr/>
          <p:nvPr/>
        </p:nvSpPr>
        <p:spPr>
          <a:xfrm>
            <a:off x="457200" y="804672"/>
            <a:ext cx="822960" cy="45720"/>
          </a:xfrm>
          <a:prstGeom prst="rect">
            <a:avLst/>
          </a:prstGeom>
          <a:solidFill>
            <a:srgbClr val="C9A227"/>
          </a:solidFill>
          <a:ln/>
        </p:spPr>
      </p:sp>
      <p:sp>
        <p:nvSpPr>
          <p:cNvPr id="4" name="Shape 2"/>
          <p:cNvSpPr/>
          <p:nvPr/>
        </p:nvSpPr>
        <p:spPr>
          <a:xfrm>
            <a:off x="457200" y="960120"/>
            <a:ext cx="2377440" cy="292608"/>
          </a:xfrm>
          <a:prstGeom prst="rect">
            <a:avLst/>
          </a:prstGeom>
          <a:solidFill>
            <a:srgbClr val="8B1A1A"/>
          </a:solidFill>
          <a:ln/>
        </p:spPr>
      </p:sp>
      <p:sp>
        <p:nvSpPr>
          <p:cNvPr id="5" name="Text 3"/>
          <p:cNvSpPr/>
          <p:nvPr/>
        </p:nvSpPr>
        <p:spPr>
          <a:xfrm>
            <a:off x="566928" y="960120"/>
            <a:ext cx="2157984" cy="292608"/>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THE PROMPT LADDER</a:t>
            </a:r>
            <a:endParaRPr lang="en-US" sz="1200" dirty="0"/>
          </a:p>
        </p:txBody>
      </p:sp>
      <p:sp>
        <p:nvSpPr>
          <p:cNvPr id="6" name="Shape 4"/>
          <p:cNvSpPr/>
          <p:nvPr/>
        </p:nvSpPr>
        <p:spPr>
          <a:xfrm>
            <a:off x="457200" y="1325880"/>
            <a:ext cx="2377440" cy="384048"/>
          </a:xfrm>
          <a:prstGeom prst="roundRect">
            <a:avLst>
              <a:gd name="adj" fmla="val 9524"/>
            </a:avLst>
          </a:prstGeom>
          <a:solidFill>
            <a:srgbClr val="FBF8F3"/>
          </a:solidFill>
          <a:ln w="6350">
            <a:solidFill>
              <a:srgbClr val="E5E7EB"/>
            </a:solidFill>
            <a:prstDash val="solid"/>
          </a:ln>
        </p:spPr>
      </p:sp>
      <p:sp>
        <p:nvSpPr>
          <p:cNvPr id="7" name="Text 5"/>
          <p:cNvSpPr/>
          <p:nvPr/>
        </p:nvSpPr>
        <p:spPr>
          <a:xfrm>
            <a:off x="566928" y="1325880"/>
            <a:ext cx="2194560" cy="384048"/>
          </a:xfrm>
          <a:prstGeom prst="rect">
            <a:avLst/>
          </a:prstGeom>
          <a:noFill/>
          <a:ln/>
        </p:spPr>
        <p:txBody>
          <a:bodyPr wrap="square" lIns="0" tIns="0" rIns="0" bIns="0" rtlCol="0" anchor="ctr"/>
          <a:lstStyle/>
          <a:p>
            <a:pPr indent="0" marL="0">
              <a:buNone/>
            </a:pPr>
            <a:r>
              <a:rPr lang="en-US" sz="1100" b="1" dirty="0">
                <a:solidFill>
                  <a:srgbClr val="8B1A1A"/>
                </a:solidFill>
                <a:latin typeface="Calibri" pitchFamily="34" charset="0"/>
                <a:ea typeface="Calibri" pitchFamily="34" charset="-122"/>
                <a:cs typeface="Calibri" pitchFamily="34" charset="-120"/>
              </a:rPr>
              <a:t>P1  </a:t>
            </a:r>
            <a:pPr indent="0" marL="0">
              <a:buNone/>
            </a:pPr>
            <a:r>
              <a:rPr lang="en-US" sz="950" dirty="0">
                <a:solidFill>
                  <a:srgbClr val="374151"/>
                </a:solidFill>
                <a:latin typeface="Calibri" pitchFamily="34" charset="0"/>
                <a:ea typeface="Calibri" pitchFamily="34" charset="-122"/>
                <a:cs typeface="Calibri" pitchFamily="34" charset="-120"/>
              </a:rPr>
              <a:t>Vanilla binary</a:t>
            </a:r>
            <a:endParaRPr lang="en-US" sz="1100" dirty="0"/>
          </a:p>
        </p:txBody>
      </p:sp>
      <p:sp>
        <p:nvSpPr>
          <p:cNvPr id="8" name="Shape 6"/>
          <p:cNvSpPr/>
          <p:nvPr/>
        </p:nvSpPr>
        <p:spPr>
          <a:xfrm>
            <a:off x="457200" y="1755648"/>
            <a:ext cx="2377440" cy="384048"/>
          </a:xfrm>
          <a:prstGeom prst="roundRect">
            <a:avLst>
              <a:gd name="adj" fmla="val 9524"/>
            </a:avLst>
          </a:prstGeom>
          <a:solidFill>
            <a:srgbClr val="FBF8F3"/>
          </a:solidFill>
          <a:ln w="6350">
            <a:solidFill>
              <a:srgbClr val="E5E7EB"/>
            </a:solidFill>
            <a:prstDash val="solid"/>
          </a:ln>
        </p:spPr>
      </p:sp>
      <p:sp>
        <p:nvSpPr>
          <p:cNvPr id="9" name="Text 7"/>
          <p:cNvSpPr/>
          <p:nvPr/>
        </p:nvSpPr>
        <p:spPr>
          <a:xfrm>
            <a:off x="566928" y="1755648"/>
            <a:ext cx="2194560" cy="384048"/>
          </a:xfrm>
          <a:prstGeom prst="rect">
            <a:avLst/>
          </a:prstGeom>
          <a:noFill/>
          <a:ln/>
        </p:spPr>
        <p:txBody>
          <a:bodyPr wrap="square" lIns="0" tIns="0" rIns="0" bIns="0" rtlCol="0" anchor="ctr"/>
          <a:lstStyle/>
          <a:p>
            <a:pPr indent="0" marL="0">
              <a:buNone/>
            </a:pPr>
            <a:r>
              <a:rPr lang="en-US" sz="1100" b="1" dirty="0">
                <a:solidFill>
                  <a:srgbClr val="8B1A1A"/>
                </a:solidFill>
                <a:latin typeface="Calibri" pitchFamily="34" charset="0"/>
                <a:ea typeface="Calibri" pitchFamily="34" charset="-122"/>
                <a:cs typeface="Calibri" pitchFamily="34" charset="-120"/>
              </a:rPr>
              <a:t>P2  </a:t>
            </a:r>
            <a:pPr indent="0" marL="0">
              <a:buNone/>
            </a:pPr>
            <a:r>
              <a:rPr lang="en-US" sz="950" dirty="0">
                <a:solidFill>
                  <a:srgbClr val="374151"/>
                </a:solidFill>
                <a:latin typeface="Calibri" pitchFamily="34" charset="0"/>
                <a:ea typeface="Calibri" pitchFamily="34" charset="-122"/>
                <a:cs typeface="Calibri" pitchFamily="34" charset="-120"/>
              </a:rPr>
              <a:t>+ Task definition</a:t>
            </a:r>
            <a:endParaRPr lang="en-US" sz="1100" dirty="0"/>
          </a:p>
        </p:txBody>
      </p:sp>
      <p:sp>
        <p:nvSpPr>
          <p:cNvPr id="10" name="Shape 8"/>
          <p:cNvSpPr/>
          <p:nvPr/>
        </p:nvSpPr>
        <p:spPr>
          <a:xfrm>
            <a:off x="457200" y="2185416"/>
            <a:ext cx="2377440" cy="384048"/>
          </a:xfrm>
          <a:prstGeom prst="roundRect">
            <a:avLst>
              <a:gd name="adj" fmla="val 9524"/>
            </a:avLst>
          </a:prstGeom>
          <a:solidFill>
            <a:srgbClr val="FBF8F3"/>
          </a:solidFill>
          <a:ln w="6350">
            <a:solidFill>
              <a:srgbClr val="E5E7EB"/>
            </a:solidFill>
            <a:prstDash val="solid"/>
          </a:ln>
        </p:spPr>
      </p:sp>
      <p:sp>
        <p:nvSpPr>
          <p:cNvPr id="11" name="Text 9"/>
          <p:cNvSpPr/>
          <p:nvPr/>
        </p:nvSpPr>
        <p:spPr>
          <a:xfrm>
            <a:off x="566928" y="2185416"/>
            <a:ext cx="2194560" cy="384048"/>
          </a:xfrm>
          <a:prstGeom prst="rect">
            <a:avLst/>
          </a:prstGeom>
          <a:noFill/>
          <a:ln/>
        </p:spPr>
        <p:txBody>
          <a:bodyPr wrap="square" lIns="0" tIns="0" rIns="0" bIns="0" rtlCol="0" anchor="ctr"/>
          <a:lstStyle/>
          <a:p>
            <a:pPr indent="0" marL="0">
              <a:buNone/>
            </a:pPr>
            <a:r>
              <a:rPr lang="en-US" sz="1100" b="1" dirty="0">
                <a:solidFill>
                  <a:srgbClr val="8B1A1A"/>
                </a:solidFill>
                <a:latin typeface="Calibri" pitchFamily="34" charset="0"/>
                <a:ea typeface="Calibri" pitchFamily="34" charset="-122"/>
                <a:cs typeface="Calibri" pitchFamily="34" charset="-120"/>
              </a:rPr>
              <a:t>P2*  </a:t>
            </a:r>
            <a:pPr indent="0" marL="0">
              <a:buNone/>
            </a:pPr>
            <a:r>
              <a:rPr lang="en-US" sz="950" dirty="0">
                <a:solidFill>
                  <a:srgbClr val="374151"/>
                </a:solidFill>
                <a:latin typeface="Calibri" pitchFamily="34" charset="0"/>
                <a:ea typeface="Calibri" pitchFamily="34" charset="-122"/>
                <a:cs typeface="Calibri" pitchFamily="34" charset="-120"/>
              </a:rPr>
              <a:t>Rubric score (1–5)</a:t>
            </a:r>
            <a:endParaRPr lang="en-US" sz="1100" dirty="0"/>
          </a:p>
        </p:txBody>
      </p:sp>
      <p:sp>
        <p:nvSpPr>
          <p:cNvPr id="12" name="Shape 10"/>
          <p:cNvSpPr/>
          <p:nvPr/>
        </p:nvSpPr>
        <p:spPr>
          <a:xfrm>
            <a:off x="457200" y="2615184"/>
            <a:ext cx="2377440" cy="384048"/>
          </a:xfrm>
          <a:prstGeom prst="roundRect">
            <a:avLst>
              <a:gd name="adj" fmla="val 9524"/>
            </a:avLst>
          </a:prstGeom>
          <a:solidFill>
            <a:srgbClr val="FBF8F3"/>
          </a:solidFill>
          <a:ln w="6350">
            <a:solidFill>
              <a:srgbClr val="E5E7EB"/>
            </a:solidFill>
            <a:prstDash val="solid"/>
          </a:ln>
        </p:spPr>
      </p:sp>
      <p:sp>
        <p:nvSpPr>
          <p:cNvPr id="13" name="Text 11"/>
          <p:cNvSpPr/>
          <p:nvPr/>
        </p:nvSpPr>
        <p:spPr>
          <a:xfrm>
            <a:off x="566928" y="2615184"/>
            <a:ext cx="2194560" cy="384048"/>
          </a:xfrm>
          <a:prstGeom prst="rect">
            <a:avLst/>
          </a:prstGeom>
          <a:noFill/>
          <a:ln/>
        </p:spPr>
        <p:txBody>
          <a:bodyPr wrap="square" lIns="0" tIns="0" rIns="0" bIns="0" rtlCol="0" anchor="ctr"/>
          <a:lstStyle/>
          <a:p>
            <a:pPr indent="0" marL="0">
              <a:buNone/>
            </a:pPr>
            <a:r>
              <a:rPr lang="en-US" sz="1100" b="1" dirty="0">
                <a:solidFill>
                  <a:srgbClr val="8B1A1A"/>
                </a:solidFill>
                <a:latin typeface="Calibri" pitchFamily="34" charset="0"/>
                <a:ea typeface="Calibri" pitchFamily="34" charset="-122"/>
                <a:cs typeface="Calibri" pitchFamily="34" charset="-120"/>
              </a:rPr>
              <a:t>P3  </a:t>
            </a:r>
            <a:pPr indent="0" marL="0">
              <a:buNone/>
            </a:pPr>
            <a:r>
              <a:rPr lang="en-US" sz="950" dirty="0">
                <a:solidFill>
                  <a:srgbClr val="374151"/>
                </a:solidFill>
                <a:latin typeface="Calibri" pitchFamily="34" charset="0"/>
                <a:ea typeface="Calibri" pitchFamily="34" charset="-122"/>
                <a:cs typeface="Calibri" pitchFamily="34" charset="-120"/>
              </a:rPr>
              <a:t>+ Reasoning before verdict</a:t>
            </a:r>
            <a:endParaRPr lang="en-US" sz="1100" dirty="0"/>
          </a:p>
        </p:txBody>
      </p:sp>
      <p:sp>
        <p:nvSpPr>
          <p:cNvPr id="14" name="Shape 12"/>
          <p:cNvSpPr/>
          <p:nvPr/>
        </p:nvSpPr>
        <p:spPr>
          <a:xfrm>
            <a:off x="457200" y="3044952"/>
            <a:ext cx="2377440" cy="384048"/>
          </a:xfrm>
          <a:prstGeom prst="roundRect">
            <a:avLst>
              <a:gd name="adj" fmla="val 9524"/>
            </a:avLst>
          </a:prstGeom>
          <a:solidFill>
            <a:srgbClr val="FBF8F3"/>
          </a:solidFill>
          <a:ln w="6350">
            <a:solidFill>
              <a:srgbClr val="E5E7EB"/>
            </a:solidFill>
            <a:prstDash val="solid"/>
          </a:ln>
        </p:spPr>
      </p:sp>
      <p:sp>
        <p:nvSpPr>
          <p:cNvPr id="15" name="Text 13"/>
          <p:cNvSpPr/>
          <p:nvPr/>
        </p:nvSpPr>
        <p:spPr>
          <a:xfrm>
            <a:off x="566928" y="3044952"/>
            <a:ext cx="2194560" cy="384048"/>
          </a:xfrm>
          <a:prstGeom prst="rect">
            <a:avLst/>
          </a:prstGeom>
          <a:noFill/>
          <a:ln/>
        </p:spPr>
        <p:txBody>
          <a:bodyPr wrap="square" lIns="0" tIns="0" rIns="0" bIns="0" rtlCol="0" anchor="ctr"/>
          <a:lstStyle/>
          <a:p>
            <a:pPr indent="0" marL="0">
              <a:buNone/>
            </a:pPr>
            <a:r>
              <a:rPr lang="en-US" sz="1100" b="1" dirty="0">
                <a:solidFill>
                  <a:srgbClr val="8B1A1A"/>
                </a:solidFill>
                <a:latin typeface="Calibri" pitchFamily="34" charset="0"/>
                <a:ea typeface="Calibri" pitchFamily="34" charset="-122"/>
                <a:cs typeface="Calibri" pitchFamily="34" charset="-120"/>
              </a:rPr>
              <a:t>P4*  </a:t>
            </a:r>
            <a:pPr indent="0" marL="0">
              <a:buNone/>
            </a:pPr>
            <a:r>
              <a:rPr lang="en-US" sz="950" dirty="0">
                <a:solidFill>
                  <a:srgbClr val="374151"/>
                </a:solidFill>
                <a:latin typeface="Calibri" pitchFamily="34" charset="0"/>
                <a:ea typeface="Calibri" pitchFamily="34" charset="-122"/>
                <a:cs typeface="Calibri" pitchFamily="34" charset="-120"/>
              </a:rPr>
              <a:t>Decomposed (claims + evidence)</a:t>
            </a:r>
            <a:endParaRPr lang="en-US" sz="1100" dirty="0"/>
          </a:p>
        </p:txBody>
      </p:sp>
      <p:sp>
        <p:nvSpPr>
          <p:cNvPr id="16" name="Shape 14"/>
          <p:cNvSpPr/>
          <p:nvPr/>
        </p:nvSpPr>
        <p:spPr>
          <a:xfrm>
            <a:off x="457200" y="3474720"/>
            <a:ext cx="2377440" cy="384048"/>
          </a:xfrm>
          <a:prstGeom prst="roundRect">
            <a:avLst>
              <a:gd name="adj" fmla="val 9524"/>
            </a:avLst>
          </a:prstGeom>
          <a:solidFill>
            <a:srgbClr val="8B1A1A"/>
          </a:solidFill>
          <a:ln w="12700">
            <a:solidFill>
              <a:srgbClr val="8B1A1A"/>
            </a:solidFill>
            <a:prstDash val="solid"/>
          </a:ln>
        </p:spPr>
      </p:sp>
      <p:sp>
        <p:nvSpPr>
          <p:cNvPr id="17" name="Text 15"/>
          <p:cNvSpPr/>
          <p:nvPr/>
        </p:nvSpPr>
        <p:spPr>
          <a:xfrm>
            <a:off x="566928" y="3474720"/>
            <a:ext cx="219456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P4  </a:t>
            </a:r>
            <a:pPr indent="0" marL="0">
              <a:buNone/>
            </a:pPr>
            <a:r>
              <a:rPr lang="en-US" sz="950" dirty="0">
                <a:solidFill>
                  <a:srgbClr val="FFFFFF"/>
                </a:solidFill>
                <a:latin typeface="Calibri" pitchFamily="34" charset="0"/>
                <a:ea typeface="Calibri" pitchFamily="34" charset="-122"/>
                <a:cs typeface="Calibri" pitchFamily="34" charset="-120"/>
              </a:rPr>
              <a:t>Two-stage pipeline ⭐</a:t>
            </a:r>
            <a:endParaRPr lang="en-US" sz="1100" dirty="0"/>
          </a:p>
        </p:txBody>
      </p:sp>
      <p:sp>
        <p:nvSpPr>
          <p:cNvPr id="18" name="Shape 16"/>
          <p:cNvSpPr/>
          <p:nvPr/>
        </p:nvSpPr>
        <p:spPr>
          <a:xfrm>
            <a:off x="457200" y="3904488"/>
            <a:ext cx="2377440" cy="384048"/>
          </a:xfrm>
          <a:prstGeom prst="roundRect">
            <a:avLst>
              <a:gd name="adj" fmla="val 9524"/>
            </a:avLst>
          </a:prstGeom>
          <a:solidFill>
            <a:srgbClr val="FBF8F3"/>
          </a:solidFill>
          <a:ln w="6350">
            <a:solidFill>
              <a:srgbClr val="E5E7EB"/>
            </a:solidFill>
            <a:prstDash val="solid"/>
          </a:ln>
        </p:spPr>
      </p:sp>
      <p:sp>
        <p:nvSpPr>
          <p:cNvPr id="19" name="Text 17"/>
          <p:cNvSpPr/>
          <p:nvPr/>
        </p:nvSpPr>
        <p:spPr>
          <a:xfrm>
            <a:off x="566928" y="3904488"/>
            <a:ext cx="2194560" cy="384048"/>
          </a:xfrm>
          <a:prstGeom prst="rect">
            <a:avLst/>
          </a:prstGeom>
          <a:noFill/>
          <a:ln/>
        </p:spPr>
        <p:txBody>
          <a:bodyPr wrap="square" lIns="0" tIns="0" rIns="0" bIns="0" rtlCol="0" anchor="ctr"/>
          <a:lstStyle/>
          <a:p>
            <a:pPr indent="0" marL="0">
              <a:buNone/>
            </a:pPr>
            <a:r>
              <a:rPr lang="en-US" sz="1100" b="1" dirty="0">
                <a:solidFill>
                  <a:srgbClr val="8B1A1A"/>
                </a:solidFill>
                <a:latin typeface="Calibri" pitchFamily="34" charset="0"/>
                <a:ea typeface="Calibri" pitchFamily="34" charset="-122"/>
                <a:cs typeface="Calibri" pitchFamily="34" charset="-120"/>
              </a:rPr>
              <a:t>Jury  </a:t>
            </a:r>
            <a:pPr indent="0" marL="0">
              <a:buNone/>
            </a:pPr>
            <a:r>
              <a:rPr lang="en-US" sz="950" dirty="0">
                <a:solidFill>
                  <a:srgbClr val="374151"/>
                </a:solidFill>
                <a:latin typeface="Calibri" pitchFamily="34" charset="0"/>
                <a:ea typeface="Calibri" pitchFamily="34" charset="-122"/>
                <a:cs typeface="Calibri" pitchFamily="34" charset="-120"/>
              </a:rPr>
              <a:t>P4 × multi-model vote</a:t>
            </a:r>
            <a:endParaRPr lang="en-US" sz="1100" dirty="0"/>
          </a:p>
        </p:txBody>
      </p:sp>
      <p:sp>
        <p:nvSpPr>
          <p:cNvPr id="20" name="Shape 18"/>
          <p:cNvSpPr/>
          <p:nvPr/>
        </p:nvSpPr>
        <p:spPr>
          <a:xfrm>
            <a:off x="3017520" y="960120"/>
            <a:ext cx="1859280" cy="256032"/>
          </a:xfrm>
          <a:prstGeom prst="rect">
            <a:avLst/>
          </a:prstGeom>
          <a:solidFill>
            <a:srgbClr val="D97706"/>
          </a:solidFill>
          <a:ln/>
        </p:spPr>
      </p:sp>
      <p:sp>
        <p:nvSpPr>
          <p:cNvPr id="21" name="Text 19"/>
          <p:cNvSpPr/>
          <p:nvPr/>
        </p:nvSpPr>
        <p:spPr>
          <a:xfrm>
            <a:off x="3090672" y="960120"/>
            <a:ext cx="1712976" cy="256032"/>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P2 — Define task</a:t>
            </a:r>
            <a:endParaRPr lang="en-US" sz="1000" dirty="0"/>
          </a:p>
        </p:txBody>
      </p:sp>
      <p:sp>
        <p:nvSpPr>
          <p:cNvPr id="22" name="Shape 20"/>
          <p:cNvSpPr/>
          <p:nvPr/>
        </p:nvSpPr>
        <p:spPr>
          <a:xfrm>
            <a:off x="3017520" y="1216152"/>
            <a:ext cx="1859280" cy="1115568"/>
          </a:xfrm>
          <a:prstGeom prst="rect">
            <a:avLst/>
          </a:prstGeom>
          <a:solidFill>
            <a:srgbClr val="F3F2EE"/>
          </a:solidFill>
          <a:ln w="6350">
            <a:solidFill>
              <a:srgbClr val="E5E7EB"/>
            </a:solidFill>
            <a:prstDash val="solid"/>
          </a:ln>
        </p:spPr>
      </p:sp>
      <p:sp>
        <p:nvSpPr>
          <p:cNvPr id="23" name="Text 21"/>
          <p:cNvSpPr/>
          <p:nvPr/>
        </p:nvSpPr>
        <p:spPr>
          <a:xfrm>
            <a:off x="3090672" y="1252728"/>
            <a:ext cx="1712976" cy="1060704"/>
          </a:xfrm>
          <a:prstGeom prst="rect">
            <a:avLst/>
          </a:prstGeom>
          <a:noFill/>
          <a:ln/>
        </p:spPr>
        <p:txBody>
          <a:bodyPr wrap="square" lIns="0" tIns="0" rIns="0" bIns="0" rtlCol="0" anchor="t"/>
          <a:lstStyle/>
          <a:p>
            <a:pPr indent="0" marL="0">
              <a:buNone/>
            </a:pPr>
            <a:r>
              <a:rPr lang="en-US" sz="800" dirty="0">
                <a:solidFill>
                  <a:srgbClr val="1F2937"/>
                </a:solidFill>
                <a:latin typeface="Courier New" pitchFamily="34" charset="0"/>
                <a:ea typeface="Courier New" pitchFamily="34" charset="-122"/>
                <a:cs typeface="Courier New" pitchFamily="34" charset="-120"/>
              </a:rPr>
              <a:t>A response is UNFAITHFUL if:</a:t>
            </a:r>
            <a:endParaRPr lang="en-US" sz="800" dirty="0"/>
          </a:p>
          <a:p>
            <a:pPr indent="0" marL="0">
              <a:buNone/>
            </a:pPr>
            <a:r>
              <a:rPr lang="en-US" sz="800" dirty="0">
                <a:solidFill>
                  <a:srgbClr val="1F2937"/>
                </a:solidFill>
                <a:latin typeface="Courier New" pitchFamily="34" charset="0"/>
                <a:ea typeface="Courier New" pitchFamily="34" charset="-122"/>
                <a:cs typeface="Courier New" pitchFamily="34" charset="-120"/>
              </a:rPr>
              <a:t>- info not present in source</a:t>
            </a:r>
            <a:endParaRPr lang="en-US" sz="800" dirty="0"/>
          </a:p>
          <a:p>
            <a:pPr indent="0" marL="0">
              <a:buNone/>
            </a:pPr>
            <a:r>
              <a:rPr lang="en-US" sz="800" dirty="0">
                <a:solidFill>
                  <a:srgbClr val="1F2937"/>
                </a:solidFill>
                <a:latin typeface="Courier New" pitchFamily="34" charset="0"/>
                <a:ea typeface="Courier New" pitchFamily="34" charset="-122"/>
                <a:cs typeface="Courier New" pitchFamily="34" charset="-120"/>
              </a:rPr>
              <a:t>- contradicts the source</a:t>
            </a:r>
            <a:endParaRPr lang="en-US" sz="800" dirty="0"/>
          </a:p>
          <a:p>
            <a:pPr indent="0" marL="0">
              <a:buNone/>
            </a:pPr>
            <a:r>
              <a:rPr lang="en-US" sz="800" dirty="0">
                <a:solidFill>
                  <a:srgbClr val="1F2937"/>
                </a:solidFill>
                <a:latin typeface="Courier New" pitchFamily="34" charset="0"/>
                <a:ea typeface="Courier New" pitchFamily="34" charset="-122"/>
                <a:cs typeface="Courier New" pitchFamily="34" charset="-120"/>
              </a:rPr>
              <a:t>- adds unsupported details</a:t>
            </a:r>
            <a:endParaRPr lang="en-US" sz="800" dirty="0"/>
          </a:p>
          <a:p>
            <a:pPr indent="0" marL="0">
              <a:buNone/>
            </a:pPr>
            <a:r>
              <a:rPr lang="en-US" sz="800" dirty="0">
                <a:solidFill>
                  <a:srgbClr val="1F2937"/>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rgbClr val="1F2937"/>
                </a:solidFill>
                <a:latin typeface="Courier New" pitchFamily="34" charset="0"/>
                <a:ea typeface="Courier New" pitchFamily="34" charset="-122"/>
                <a:cs typeface="Courier New" pitchFamily="34" charset="-120"/>
              </a:rPr>
              <a:t>Return: FAITHFUL / UNFAITHFUL</a:t>
            </a:r>
            <a:endParaRPr lang="en-US" sz="800" dirty="0"/>
          </a:p>
        </p:txBody>
      </p:sp>
      <p:sp>
        <p:nvSpPr>
          <p:cNvPr id="24" name="Shape 22"/>
          <p:cNvSpPr/>
          <p:nvPr/>
        </p:nvSpPr>
        <p:spPr>
          <a:xfrm>
            <a:off x="5013960" y="960120"/>
            <a:ext cx="1859280" cy="256032"/>
          </a:xfrm>
          <a:prstGeom prst="rect">
            <a:avLst/>
          </a:prstGeom>
          <a:solidFill>
            <a:srgbClr val="D97706"/>
          </a:solidFill>
          <a:ln/>
        </p:spPr>
      </p:sp>
      <p:sp>
        <p:nvSpPr>
          <p:cNvPr id="25" name="Text 23"/>
          <p:cNvSpPr/>
          <p:nvPr/>
        </p:nvSpPr>
        <p:spPr>
          <a:xfrm>
            <a:off x="5087112" y="960120"/>
            <a:ext cx="1712976" cy="256032"/>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P2* — Rubric score</a:t>
            </a:r>
            <a:endParaRPr lang="en-US" sz="1000" dirty="0"/>
          </a:p>
        </p:txBody>
      </p:sp>
      <p:sp>
        <p:nvSpPr>
          <p:cNvPr id="26" name="Shape 24"/>
          <p:cNvSpPr/>
          <p:nvPr/>
        </p:nvSpPr>
        <p:spPr>
          <a:xfrm>
            <a:off x="5013960" y="1216152"/>
            <a:ext cx="1859280" cy="1115568"/>
          </a:xfrm>
          <a:prstGeom prst="rect">
            <a:avLst/>
          </a:prstGeom>
          <a:solidFill>
            <a:srgbClr val="F3F2EE"/>
          </a:solidFill>
          <a:ln w="6350">
            <a:solidFill>
              <a:srgbClr val="E5E7EB"/>
            </a:solidFill>
            <a:prstDash val="solid"/>
          </a:ln>
        </p:spPr>
      </p:sp>
      <p:sp>
        <p:nvSpPr>
          <p:cNvPr id="27" name="Text 25"/>
          <p:cNvSpPr/>
          <p:nvPr/>
        </p:nvSpPr>
        <p:spPr>
          <a:xfrm>
            <a:off x="5087112" y="1252728"/>
            <a:ext cx="1712976" cy="1060704"/>
          </a:xfrm>
          <a:prstGeom prst="rect">
            <a:avLst/>
          </a:prstGeom>
          <a:noFill/>
          <a:ln/>
        </p:spPr>
        <p:txBody>
          <a:bodyPr wrap="square" lIns="0" tIns="0" rIns="0" bIns="0" rtlCol="0" anchor="t"/>
          <a:lstStyle/>
          <a:p>
            <a:pPr indent="0" marL="0">
              <a:buNone/>
            </a:pPr>
            <a:r>
              <a:rPr lang="en-US" sz="800" dirty="0">
                <a:solidFill>
                  <a:srgbClr val="1F2937"/>
                </a:solidFill>
                <a:latin typeface="Courier New" pitchFamily="34" charset="0"/>
                <a:ea typeface="Courier New" pitchFamily="34" charset="-122"/>
                <a:cs typeface="Courier New" pitchFamily="34" charset="-120"/>
              </a:rPr>
              <a:t>Rate faithfulness 1–5:</a:t>
            </a:r>
            <a:endParaRPr lang="en-US" sz="800" dirty="0"/>
          </a:p>
          <a:p>
            <a:pPr indent="0" marL="0">
              <a:buNone/>
            </a:pPr>
            <a:r>
              <a:rPr lang="en-US" sz="800" dirty="0">
                <a:solidFill>
                  <a:srgbClr val="1F2937"/>
                </a:solidFill>
                <a:latin typeface="Courier New" pitchFamily="34" charset="0"/>
                <a:ea typeface="Courier New" pitchFamily="34" charset="-122"/>
                <a:cs typeface="Courier New" pitchFamily="34" charset="-120"/>
              </a:rPr>
              <a:t> 5 = fully grounded</a:t>
            </a:r>
            <a:endParaRPr lang="en-US" sz="800" dirty="0"/>
          </a:p>
          <a:p>
            <a:pPr indent="0" marL="0">
              <a:buNone/>
            </a:pPr>
            <a:r>
              <a:rPr lang="en-US" sz="800" dirty="0">
                <a:solidFill>
                  <a:srgbClr val="1F2937"/>
                </a:solidFill>
                <a:latin typeface="Courier New" pitchFamily="34" charset="0"/>
                <a:ea typeface="Courier New" pitchFamily="34" charset="-122"/>
                <a:cs typeface="Courier New" pitchFamily="34" charset="-120"/>
              </a:rPr>
              <a:t> 3 = partially supported</a:t>
            </a:r>
            <a:endParaRPr lang="en-US" sz="800" dirty="0"/>
          </a:p>
          <a:p>
            <a:pPr indent="0" marL="0">
              <a:buNone/>
            </a:pPr>
            <a:r>
              <a:rPr lang="en-US" sz="800" dirty="0">
                <a:solidFill>
                  <a:srgbClr val="1F2937"/>
                </a:solidFill>
                <a:latin typeface="Courier New" pitchFamily="34" charset="0"/>
                <a:ea typeface="Courier New" pitchFamily="34" charset="-122"/>
                <a:cs typeface="Courier New" pitchFamily="34" charset="-120"/>
              </a:rPr>
              <a:t> 1 = fabricated / contradicts</a:t>
            </a:r>
            <a:endParaRPr lang="en-US" sz="800" dirty="0"/>
          </a:p>
          <a:p>
            <a:pPr indent="0" marL="0">
              <a:buNone/>
            </a:pPr>
            <a:r>
              <a:rPr lang="en-US" sz="800" dirty="0">
                <a:solidFill>
                  <a:srgbClr val="1F2937"/>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rgbClr val="1F2937"/>
                </a:solidFill>
                <a:latin typeface="Courier New" pitchFamily="34" charset="0"/>
                <a:ea typeface="Courier New" pitchFamily="34" charset="-122"/>
                <a:cs typeface="Courier New" pitchFamily="34" charset="-120"/>
              </a:rPr>
              <a:t>Return: &lt;score&gt;</a:t>
            </a:r>
            <a:endParaRPr lang="en-US" sz="800" dirty="0"/>
          </a:p>
        </p:txBody>
      </p:sp>
      <p:sp>
        <p:nvSpPr>
          <p:cNvPr id="28" name="Shape 26"/>
          <p:cNvSpPr/>
          <p:nvPr/>
        </p:nvSpPr>
        <p:spPr>
          <a:xfrm>
            <a:off x="7010400" y="960120"/>
            <a:ext cx="1859280" cy="256032"/>
          </a:xfrm>
          <a:prstGeom prst="rect">
            <a:avLst/>
          </a:prstGeom>
          <a:solidFill>
            <a:srgbClr val="D97706"/>
          </a:solidFill>
          <a:ln/>
        </p:spPr>
      </p:sp>
      <p:sp>
        <p:nvSpPr>
          <p:cNvPr id="29" name="Text 27"/>
          <p:cNvSpPr/>
          <p:nvPr/>
        </p:nvSpPr>
        <p:spPr>
          <a:xfrm>
            <a:off x="7083552" y="960120"/>
            <a:ext cx="1712976" cy="256032"/>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P3 — Add reasoning</a:t>
            </a:r>
            <a:endParaRPr lang="en-US" sz="1000" dirty="0"/>
          </a:p>
        </p:txBody>
      </p:sp>
      <p:sp>
        <p:nvSpPr>
          <p:cNvPr id="30" name="Shape 28"/>
          <p:cNvSpPr/>
          <p:nvPr/>
        </p:nvSpPr>
        <p:spPr>
          <a:xfrm>
            <a:off x="7010400" y="1216152"/>
            <a:ext cx="1859280" cy="1115568"/>
          </a:xfrm>
          <a:prstGeom prst="rect">
            <a:avLst/>
          </a:prstGeom>
          <a:solidFill>
            <a:srgbClr val="F3F2EE"/>
          </a:solidFill>
          <a:ln w="6350">
            <a:solidFill>
              <a:srgbClr val="E5E7EB"/>
            </a:solidFill>
            <a:prstDash val="solid"/>
          </a:ln>
        </p:spPr>
      </p:sp>
      <p:sp>
        <p:nvSpPr>
          <p:cNvPr id="31" name="Text 29"/>
          <p:cNvSpPr/>
          <p:nvPr/>
        </p:nvSpPr>
        <p:spPr>
          <a:xfrm>
            <a:off x="7083552" y="1252728"/>
            <a:ext cx="1712976" cy="1060704"/>
          </a:xfrm>
          <a:prstGeom prst="rect">
            <a:avLst/>
          </a:prstGeom>
          <a:noFill/>
          <a:ln/>
        </p:spPr>
        <p:txBody>
          <a:bodyPr wrap="square" lIns="0" tIns="0" rIns="0" bIns="0" rtlCol="0" anchor="t"/>
          <a:lstStyle/>
          <a:p>
            <a:pPr indent="0" marL="0">
              <a:buNone/>
            </a:pPr>
            <a:r>
              <a:rPr lang="en-US" sz="800" dirty="0">
                <a:solidFill>
                  <a:srgbClr val="1F2937"/>
                </a:solidFill>
                <a:latin typeface="Courier New" pitchFamily="34" charset="0"/>
                <a:ea typeface="Courier New" pitchFamily="34" charset="-122"/>
                <a:cs typeface="Courier New" pitchFamily="34" charset="-120"/>
              </a:rPr>
              <a:t>[Task + UNFAITHFUL definition]</a:t>
            </a:r>
            <a:endParaRPr lang="en-US" sz="800" dirty="0"/>
          </a:p>
          <a:p>
            <a:pPr indent="0" marL="0">
              <a:buNone/>
            </a:pPr>
            <a:r>
              <a:rPr lang="en-US" sz="800" dirty="0">
                <a:solidFill>
                  <a:srgbClr val="1F2937"/>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rgbClr val="1F2937"/>
                </a:solidFill>
                <a:latin typeface="Courier New" pitchFamily="34" charset="0"/>
                <a:ea typeface="Courier New" pitchFamily="34" charset="-122"/>
                <a:cs typeface="Courier New" pitchFamily="34" charset="-120"/>
              </a:rPr>
              <a:t>Briefly explain your reasoning,</a:t>
            </a:r>
            <a:endParaRPr lang="en-US" sz="800" dirty="0"/>
          </a:p>
          <a:p>
            <a:pPr indent="0" marL="0">
              <a:buNone/>
            </a:pPr>
            <a:r>
              <a:rPr lang="en-US" sz="800" dirty="0">
                <a:solidFill>
                  <a:srgbClr val="1F2937"/>
                </a:solidFill>
                <a:latin typeface="Courier New" pitchFamily="34" charset="0"/>
                <a:ea typeface="Courier New" pitchFamily="34" charset="-122"/>
                <a:cs typeface="Courier New" pitchFamily="34" charset="-120"/>
              </a:rPr>
              <a:t>then provide the final verdict.</a:t>
            </a:r>
            <a:endParaRPr lang="en-US" sz="800" dirty="0"/>
          </a:p>
          <a:p>
            <a:pPr indent="0" marL="0">
              <a:buNone/>
            </a:pPr>
            <a:r>
              <a:rPr lang="en-US" sz="800" dirty="0">
                <a:solidFill>
                  <a:srgbClr val="1F2937"/>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rgbClr val="1F2937"/>
                </a:solidFill>
                <a:latin typeface="Courier New" pitchFamily="34" charset="0"/>
                <a:ea typeface="Courier New" pitchFamily="34" charset="-122"/>
                <a:cs typeface="Courier New" pitchFamily="34" charset="-120"/>
              </a:rPr>
              <a:t>Return: {reasoning, verdict}</a:t>
            </a:r>
            <a:endParaRPr lang="en-US" sz="800" dirty="0"/>
          </a:p>
        </p:txBody>
      </p:sp>
      <p:sp>
        <p:nvSpPr>
          <p:cNvPr id="32" name="Shape 30"/>
          <p:cNvSpPr/>
          <p:nvPr/>
        </p:nvSpPr>
        <p:spPr>
          <a:xfrm>
            <a:off x="3017520" y="2514600"/>
            <a:ext cx="5852160" cy="292608"/>
          </a:xfrm>
          <a:prstGeom prst="rect">
            <a:avLst/>
          </a:prstGeom>
          <a:solidFill>
            <a:srgbClr val="8B1A1A"/>
          </a:solidFill>
          <a:ln/>
        </p:spPr>
      </p:sp>
      <p:sp>
        <p:nvSpPr>
          <p:cNvPr id="33" name="Text 31"/>
          <p:cNvSpPr/>
          <p:nvPr/>
        </p:nvSpPr>
        <p:spPr>
          <a:xfrm>
            <a:off x="3127248" y="2514600"/>
            <a:ext cx="5632704" cy="292608"/>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P4  </a:t>
            </a:r>
            <a:pPr indent="0" marL="0">
              <a:buNone/>
            </a:pPr>
            <a:r>
              <a:rPr lang="en-US" sz="1050" dirty="0">
                <a:solidFill>
                  <a:srgbClr val="FFFFFF"/>
                </a:solidFill>
                <a:latin typeface="Cambria" pitchFamily="34" charset="0"/>
                <a:ea typeface="Cambria" pitchFamily="34" charset="-122"/>
                <a:cs typeface="Cambria" pitchFamily="34" charset="-120"/>
              </a:rPr>
              <a:t>— Worked example: claim extraction → verification → score</a:t>
            </a:r>
            <a:endParaRPr lang="en-US" sz="1200" dirty="0"/>
          </a:p>
        </p:txBody>
      </p:sp>
      <p:sp>
        <p:nvSpPr>
          <p:cNvPr id="34" name="Shape 32"/>
          <p:cNvSpPr/>
          <p:nvPr/>
        </p:nvSpPr>
        <p:spPr>
          <a:xfrm>
            <a:off x="3017520" y="2880360"/>
            <a:ext cx="1889760" cy="1234440"/>
          </a:xfrm>
          <a:prstGeom prst="roundRect">
            <a:avLst>
              <a:gd name="adj" fmla="val 4444"/>
            </a:avLst>
          </a:prstGeom>
          <a:solidFill>
            <a:srgbClr val="F4F6FA"/>
          </a:solidFill>
          <a:ln w="12700">
            <a:solidFill>
              <a:srgbClr val="9CB3D9"/>
            </a:solidFill>
            <a:prstDash val="solid"/>
          </a:ln>
        </p:spPr>
      </p:sp>
      <p:sp>
        <p:nvSpPr>
          <p:cNvPr id="35" name="Text 33"/>
          <p:cNvSpPr/>
          <p:nvPr/>
        </p:nvSpPr>
        <p:spPr>
          <a:xfrm>
            <a:off x="3108960" y="2926080"/>
            <a:ext cx="1706880" cy="182880"/>
          </a:xfrm>
          <a:prstGeom prst="rect">
            <a:avLst/>
          </a:prstGeom>
          <a:noFill/>
          <a:ln/>
        </p:spPr>
        <p:txBody>
          <a:bodyPr wrap="square" lIns="0" tIns="0" rIns="0" bIns="0" rtlCol="0" anchor="ctr"/>
          <a:lstStyle/>
          <a:p>
            <a:pPr indent="0" marL="0">
              <a:buNone/>
            </a:pPr>
            <a:r>
              <a:rPr lang="en-US" sz="800" b="1" spc="200" kern="0" dirty="0">
                <a:solidFill>
                  <a:srgbClr val="3B5680"/>
                </a:solidFill>
                <a:latin typeface="Calibri" pitchFamily="34" charset="0"/>
                <a:ea typeface="Calibri" pitchFamily="34" charset="-122"/>
                <a:cs typeface="Calibri" pitchFamily="34" charset="-120"/>
              </a:rPr>
              <a:t>INPUT</a:t>
            </a:r>
            <a:endParaRPr lang="en-US" sz="800" dirty="0"/>
          </a:p>
        </p:txBody>
      </p:sp>
      <p:sp>
        <p:nvSpPr>
          <p:cNvPr id="36" name="Text 34"/>
          <p:cNvSpPr/>
          <p:nvPr/>
        </p:nvSpPr>
        <p:spPr>
          <a:xfrm>
            <a:off x="3108960" y="3108960"/>
            <a:ext cx="1706880" cy="960120"/>
          </a:xfrm>
          <a:prstGeom prst="rect">
            <a:avLst/>
          </a:prstGeom>
          <a:noFill/>
          <a:ln/>
        </p:spPr>
        <p:txBody>
          <a:bodyPr wrap="square" lIns="0" tIns="0" rIns="0" bIns="0" rtlCol="0" anchor="t"/>
          <a:lstStyle/>
          <a:p>
            <a:pPr indent="0" marL="0">
              <a:buNone/>
            </a:pPr>
            <a:r>
              <a:rPr lang="en-US" sz="850" b="1" dirty="0">
                <a:solidFill>
                  <a:srgbClr val="374151"/>
                </a:solidFill>
                <a:latin typeface="Calibri" pitchFamily="34" charset="0"/>
                <a:ea typeface="Calibri" pitchFamily="34" charset="-122"/>
                <a:cs typeface="Calibri" pitchFamily="34" charset="-120"/>
              </a:rPr>
              <a:t>Source:  </a:t>
            </a:r>
            <a:pPr indent="0" marL="0">
              <a:buNone/>
            </a:pPr>
            <a:r>
              <a:rPr lang="en-US" sz="850" i="1" dirty="0">
                <a:solidFill>
                  <a:srgbClr val="374151"/>
                </a:solidFill>
                <a:latin typeface="Calibri" pitchFamily="34" charset="0"/>
                <a:ea typeface="Calibri" pitchFamily="34" charset="-122"/>
                <a:cs typeface="Calibri" pitchFamily="34" charset="-120"/>
              </a:rPr>
              <a:t>"The Eiffel Tower in Paris was completed in 1889."</a:t>
            </a:r>
            <a:endParaRPr lang="en-US" sz="850" dirty="0"/>
          </a:p>
          <a:p>
            <a:pPr indent="0" marL="0">
              <a:buNone/>
            </a:pPr>
            <a:r>
              <a:rPr lang="en-US" sz="400" dirty="0">
                <a:solidFill>
                  <a:srgbClr val="374151"/>
                </a:solidFill>
                <a:latin typeface="Calibri" pitchFamily="34" charset="0"/>
                <a:ea typeface="Calibri" pitchFamily="34" charset="-122"/>
                <a:cs typeface="Calibri" pitchFamily="34" charset="-120"/>
              </a:rPr>
              <a:t> </a:t>
            </a:r>
            <a:endParaRPr lang="en-US" sz="850" dirty="0"/>
          </a:p>
          <a:p>
            <a:pPr indent="0" marL="0">
              <a:buNone/>
            </a:pPr>
            <a:r>
              <a:rPr lang="en-US" sz="850" b="1" dirty="0">
                <a:solidFill>
                  <a:srgbClr val="374151"/>
                </a:solidFill>
                <a:latin typeface="Calibri" pitchFamily="34" charset="0"/>
                <a:ea typeface="Calibri" pitchFamily="34" charset="-122"/>
                <a:cs typeface="Calibri" pitchFamily="34" charset="-120"/>
              </a:rPr>
              <a:t>Response:  </a:t>
            </a:r>
            <a:pPr indent="0" marL="0">
              <a:buNone/>
            </a:pPr>
            <a:r>
              <a:rPr lang="en-US" sz="850" i="1" dirty="0">
                <a:solidFill>
                  <a:srgbClr val="374151"/>
                </a:solidFill>
                <a:latin typeface="Calibri" pitchFamily="34" charset="0"/>
                <a:ea typeface="Calibri" pitchFamily="34" charset="-122"/>
                <a:cs typeface="Calibri" pitchFamily="34" charset="-120"/>
              </a:rPr>
              <a:t>"The Eiffel Tower is in Paris, built in 1889 by Gustave Eiffel himself."</a:t>
            </a:r>
            <a:endParaRPr lang="en-US" sz="850" dirty="0"/>
          </a:p>
        </p:txBody>
      </p:sp>
      <p:pic>
        <p:nvPicPr>
          <p:cNvPr id="37" name="Image 0" descr="preencoded.png">    </p:cNvPr>
          <p:cNvPicPr>
            <a:picLocks noChangeAspect="1"/>
          </p:cNvPicPr>
          <p:nvPr/>
        </p:nvPicPr>
        <p:blipFill>
          <a:blip r:embed="rId1"/>
          <a:stretch>
            <a:fillRect/>
          </a:stretch>
        </p:blipFill>
        <p:spPr>
          <a:xfrm>
            <a:off x="4861560" y="3406140"/>
            <a:ext cx="182880" cy="182880"/>
          </a:xfrm>
          <a:prstGeom prst="rect">
            <a:avLst/>
          </a:prstGeom>
        </p:spPr>
      </p:pic>
      <p:sp>
        <p:nvSpPr>
          <p:cNvPr id="38" name="Shape 35"/>
          <p:cNvSpPr/>
          <p:nvPr/>
        </p:nvSpPr>
        <p:spPr>
          <a:xfrm>
            <a:off x="4998720" y="2880360"/>
            <a:ext cx="1889760" cy="1234440"/>
          </a:xfrm>
          <a:prstGeom prst="roundRect">
            <a:avLst>
              <a:gd name="adj" fmla="val 4444"/>
            </a:avLst>
          </a:prstGeom>
          <a:solidFill>
            <a:srgbClr val="FBF8F3"/>
          </a:solidFill>
          <a:ln w="12700">
            <a:solidFill>
              <a:srgbClr val="8B1A1A"/>
            </a:solidFill>
            <a:prstDash val="solid"/>
          </a:ln>
        </p:spPr>
      </p:sp>
      <p:sp>
        <p:nvSpPr>
          <p:cNvPr id="39" name="Text 36"/>
          <p:cNvSpPr/>
          <p:nvPr/>
        </p:nvSpPr>
        <p:spPr>
          <a:xfrm>
            <a:off x="5090160" y="2926080"/>
            <a:ext cx="1706880" cy="182880"/>
          </a:xfrm>
          <a:prstGeom prst="rect">
            <a:avLst/>
          </a:prstGeom>
          <a:noFill/>
          <a:ln/>
        </p:spPr>
        <p:txBody>
          <a:bodyPr wrap="square" lIns="0" tIns="0" rIns="0" bIns="0" rtlCol="0" anchor="ctr"/>
          <a:lstStyle/>
          <a:p>
            <a:pPr indent="0" marL="0">
              <a:buNone/>
            </a:pPr>
            <a:r>
              <a:rPr lang="en-US" sz="800" b="1" spc="150" kern="0" dirty="0">
                <a:solidFill>
                  <a:srgbClr val="D97706"/>
                </a:solidFill>
                <a:latin typeface="Calibri" pitchFamily="34" charset="0"/>
                <a:ea typeface="Calibri" pitchFamily="34" charset="-122"/>
                <a:cs typeface="Calibri" pitchFamily="34" charset="-120"/>
              </a:rPr>
              <a:t>STAGE 1  ·  EXTRACT CLAIMS</a:t>
            </a:r>
            <a:endParaRPr lang="en-US" sz="800" dirty="0"/>
          </a:p>
        </p:txBody>
      </p:sp>
      <p:sp>
        <p:nvSpPr>
          <p:cNvPr id="40" name="Text 37"/>
          <p:cNvSpPr/>
          <p:nvPr/>
        </p:nvSpPr>
        <p:spPr>
          <a:xfrm>
            <a:off x="5090160" y="3136392"/>
            <a:ext cx="1706880" cy="941832"/>
          </a:xfrm>
          <a:prstGeom prst="rect">
            <a:avLst/>
          </a:prstGeom>
          <a:noFill/>
          <a:ln/>
        </p:spPr>
        <p:txBody>
          <a:bodyPr wrap="square" lIns="0" tIns="0" rIns="0" bIns="0" rtlCol="0" anchor="t"/>
          <a:lstStyle/>
          <a:p>
            <a:pPr indent="0" marL="0">
              <a:spcAft>
                <a:spcPts val="200"/>
              </a:spcAft>
              <a:buNone/>
            </a:pPr>
            <a:r>
              <a:rPr lang="en-US" sz="850" b="1" dirty="0">
                <a:solidFill>
                  <a:srgbClr val="8B1A1A"/>
                </a:solidFill>
                <a:latin typeface="Calibri" pitchFamily="34" charset="0"/>
                <a:ea typeface="Calibri" pitchFamily="34" charset="-122"/>
                <a:cs typeface="Calibri" pitchFamily="34" charset="-120"/>
              </a:rPr>
              <a:t>C1.  </a:t>
            </a:r>
            <a:pPr indent="0" marL="0">
              <a:spcAft>
                <a:spcPts val="200"/>
              </a:spcAft>
              <a:buNone/>
            </a:pPr>
            <a:r>
              <a:rPr lang="en-US" sz="850" dirty="0">
                <a:solidFill>
                  <a:srgbClr val="374151"/>
                </a:solidFill>
                <a:latin typeface="Calibri" pitchFamily="34" charset="0"/>
                <a:ea typeface="Calibri" pitchFamily="34" charset="-122"/>
                <a:cs typeface="Calibri" pitchFamily="34" charset="-120"/>
              </a:rPr>
              <a:t>Eiffel Tower is in Paris</a:t>
            </a:r>
            <a:endParaRPr lang="en-US" sz="850" dirty="0"/>
          </a:p>
          <a:p>
            <a:pPr indent="0" marL="0">
              <a:spcAft>
                <a:spcPts val="200"/>
              </a:spcAft>
              <a:buNone/>
            </a:pPr>
            <a:r>
              <a:rPr lang="en-US" sz="850" b="1" dirty="0">
                <a:solidFill>
                  <a:srgbClr val="8B1A1A"/>
                </a:solidFill>
                <a:latin typeface="Calibri" pitchFamily="34" charset="0"/>
                <a:ea typeface="Calibri" pitchFamily="34" charset="-122"/>
                <a:cs typeface="Calibri" pitchFamily="34" charset="-120"/>
              </a:rPr>
              <a:t>C2.  </a:t>
            </a:r>
            <a:pPr indent="0" marL="0">
              <a:spcAft>
                <a:spcPts val="200"/>
              </a:spcAft>
              <a:buNone/>
            </a:pPr>
            <a:r>
              <a:rPr lang="en-US" sz="850" dirty="0">
                <a:solidFill>
                  <a:srgbClr val="374151"/>
                </a:solidFill>
                <a:latin typeface="Calibri" pitchFamily="34" charset="0"/>
                <a:ea typeface="Calibri" pitchFamily="34" charset="-122"/>
                <a:cs typeface="Calibri" pitchFamily="34" charset="-120"/>
              </a:rPr>
              <a:t>Built in 1889</a:t>
            </a:r>
            <a:endParaRPr lang="en-US" sz="850" dirty="0"/>
          </a:p>
          <a:p>
            <a:pPr indent="0" marL="0">
              <a:spcAft>
                <a:spcPts val="200"/>
              </a:spcAft>
              <a:buNone/>
            </a:pPr>
            <a:r>
              <a:rPr lang="en-US" sz="850" b="1" dirty="0">
                <a:solidFill>
                  <a:srgbClr val="8B1A1A"/>
                </a:solidFill>
                <a:latin typeface="Calibri" pitchFamily="34" charset="0"/>
                <a:ea typeface="Calibri" pitchFamily="34" charset="-122"/>
                <a:cs typeface="Calibri" pitchFamily="34" charset="-120"/>
              </a:rPr>
              <a:t>C3.  </a:t>
            </a:r>
            <a:pPr indent="0" marL="0">
              <a:spcAft>
                <a:spcPts val="200"/>
              </a:spcAft>
              <a:buNone/>
            </a:pPr>
            <a:r>
              <a:rPr lang="en-US" sz="850" dirty="0">
                <a:solidFill>
                  <a:srgbClr val="374151"/>
                </a:solidFill>
                <a:latin typeface="Calibri" pitchFamily="34" charset="0"/>
                <a:ea typeface="Calibri" pitchFamily="34" charset="-122"/>
                <a:cs typeface="Calibri" pitchFamily="34" charset="-120"/>
              </a:rPr>
              <a:t>Built by Gustave Eiffel</a:t>
            </a:r>
            <a:endParaRPr lang="en-US" sz="850" dirty="0"/>
          </a:p>
        </p:txBody>
      </p:sp>
      <p:pic>
        <p:nvPicPr>
          <p:cNvPr id="41" name="Image 1" descr="preencoded.png">    </p:cNvPr>
          <p:cNvPicPr>
            <a:picLocks noChangeAspect="1"/>
          </p:cNvPicPr>
          <p:nvPr/>
        </p:nvPicPr>
        <p:blipFill>
          <a:blip r:embed="rId2"/>
          <a:stretch>
            <a:fillRect/>
          </a:stretch>
        </p:blipFill>
        <p:spPr>
          <a:xfrm>
            <a:off x="6842760" y="3406140"/>
            <a:ext cx="182880" cy="182880"/>
          </a:xfrm>
          <a:prstGeom prst="rect">
            <a:avLst/>
          </a:prstGeom>
        </p:spPr>
      </p:pic>
      <p:sp>
        <p:nvSpPr>
          <p:cNvPr id="42" name="Shape 38"/>
          <p:cNvSpPr/>
          <p:nvPr/>
        </p:nvSpPr>
        <p:spPr>
          <a:xfrm>
            <a:off x="6979920" y="2880360"/>
            <a:ext cx="1889760" cy="1234440"/>
          </a:xfrm>
          <a:prstGeom prst="roundRect">
            <a:avLst>
              <a:gd name="adj" fmla="val 4444"/>
            </a:avLst>
          </a:prstGeom>
          <a:solidFill>
            <a:srgbClr val="FBF8F3"/>
          </a:solidFill>
          <a:ln w="12700">
            <a:solidFill>
              <a:srgbClr val="8B1A1A"/>
            </a:solidFill>
            <a:prstDash val="solid"/>
          </a:ln>
        </p:spPr>
      </p:sp>
      <p:sp>
        <p:nvSpPr>
          <p:cNvPr id="43" name="Text 39"/>
          <p:cNvSpPr/>
          <p:nvPr/>
        </p:nvSpPr>
        <p:spPr>
          <a:xfrm>
            <a:off x="7071360" y="2926080"/>
            <a:ext cx="1706880" cy="182880"/>
          </a:xfrm>
          <a:prstGeom prst="rect">
            <a:avLst/>
          </a:prstGeom>
          <a:noFill/>
          <a:ln/>
        </p:spPr>
        <p:txBody>
          <a:bodyPr wrap="square" lIns="0" tIns="0" rIns="0" bIns="0" rtlCol="0" anchor="ctr"/>
          <a:lstStyle/>
          <a:p>
            <a:pPr indent="0" marL="0">
              <a:buNone/>
            </a:pPr>
            <a:r>
              <a:rPr lang="en-US" sz="800" b="1" spc="150" kern="0" dirty="0">
                <a:solidFill>
                  <a:srgbClr val="D97706"/>
                </a:solidFill>
                <a:latin typeface="Calibri" pitchFamily="34" charset="0"/>
                <a:ea typeface="Calibri" pitchFamily="34" charset="-122"/>
                <a:cs typeface="Calibri" pitchFamily="34" charset="-120"/>
              </a:rPr>
              <a:t>STAGE 2  ·  VERIFY + SCORE</a:t>
            </a:r>
            <a:endParaRPr lang="en-US" sz="800" dirty="0"/>
          </a:p>
        </p:txBody>
      </p:sp>
      <p:sp>
        <p:nvSpPr>
          <p:cNvPr id="44" name="Text 40"/>
          <p:cNvSpPr/>
          <p:nvPr/>
        </p:nvSpPr>
        <p:spPr>
          <a:xfrm>
            <a:off x="7071360" y="3136392"/>
            <a:ext cx="1706880" cy="941832"/>
          </a:xfrm>
          <a:prstGeom prst="rect">
            <a:avLst/>
          </a:prstGeom>
          <a:noFill/>
          <a:ln/>
        </p:spPr>
        <p:txBody>
          <a:bodyPr wrap="square" lIns="0" tIns="0" rIns="0" bIns="0" rtlCol="0" anchor="t"/>
          <a:lstStyle/>
          <a:p>
            <a:pPr indent="0" marL="0">
              <a:spcAft>
                <a:spcPts val="100"/>
              </a:spcAft>
              <a:buNone/>
            </a:pPr>
            <a:r>
              <a:rPr lang="en-US" sz="850" b="1" dirty="0">
                <a:solidFill>
                  <a:srgbClr val="0F7A3E"/>
                </a:solidFill>
                <a:latin typeface="Calibri" pitchFamily="34" charset="0"/>
                <a:ea typeface="Calibri" pitchFamily="34" charset="-122"/>
                <a:cs typeface="Calibri" pitchFamily="34" charset="-120"/>
              </a:rPr>
              <a:t>C1  ✓  </a:t>
            </a:r>
            <a:pPr indent="0" marL="0">
              <a:spcAft>
                <a:spcPts val="100"/>
              </a:spcAft>
              <a:buNone/>
            </a:pPr>
            <a:r>
              <a:rPr lang="en-US" sz="850" dirty="0">
                <a:solidFill>
                  <a:srgbClr val="374151"/>
                </a:solidFill>
                <a:latin typeface="Calibri" pitchFamily="34" charset="0"/>
                <a:ea typeface="Calibri" pitchFamily="34" charset="-122"/>
                <a:cs typeface="Calibri" pitchFamily="34" charset="-120"/>
              </a:rPr>
              <a:t>SUPPORTED</a:t>
            </a:r>
            <a:endParaRPr lang="en-US" sz="850" dirty="0"/>
          </a:p>
          <a:p>
            <a:pPr indent="0" marL="0">
              <a:spcAft>
                <a:spcPts val="100"/>
              </a:spcAft>
              <a:buNone/>
            </a:pPr>
            <a:r>
              <a:rPr lang="en-US" sz="850" b="1" dirty="0">
                <a:solidFill>
                  <a:srgbClr val="0F7A3E"/>
                </a:solidFill>
                <a:latin typeface="Calibri" pitchFamily="34" charset="0"/>
                <a:ea typeface="Calibri" pitchFamily="34" charset="-122"/>
                <a:cs typeface="Calibri" pitchFamily="34" charset="-120"/>
              </a:rPr>
              <a:t>C2  ✓  </a:t>
            </a:r>
            <a:pPr indent="0" marL="0">
              <a:spcAft>
                <a:spcPts val="100"/>
              </a:spcAft>
              <a:buNone/>
            </a:pPr>
            <a:r>
              <a:rPr lang="en-US" sz="850" dirty="0">
                <a:solidFill>
                  <a:srgbClr val="374151"/>
                </a:solidFill>
                <a:latin typeface="Calibri" pitchFamily="34" charset="0"/>
                <a:ea typeface="Calibri" pitchFamily="34" charset="-122"/>
                <a:cs typeface="Calibri" pitchFamily="34" charset="-120"/>
              </a:rPr>
              <a:t>SUPPORTED</a:t>
            </a:r>
            <a:endParaRPr lang="en-US" sz="850" dirty="0"/>
          </a:p>
          <a:p>
            <a:pPr indent="0" marL="0">
              <a:spcAft>
                <a:spcPts val="100"/>
              </a:spcAft>
              <a:buNone/>
            </a:pPr>
            <a:r>
              <a:rPr lang="en-US" sz="850" b="1" dirty="0">
                <a:solidFill>
                  <a:srgbClr val="B91C1C"/>
                </a:solidFill>
                <a:latin typeface="Calibri" pitchFamily="34" charset="0"/>
                <a:ea typeface="Calibri" pitchFamily="34" charset="-122"/>
                <a:cs typeface="Calibri" pitchFamily="34" charset="-120"/>
              </a:rPr>
              <a:t>C3  ✗  </a:t>
            </a:r>
            <a:pPr indent="0" marL="0">
              <a:spcAft>
                <a:spcPts val="100"/>
              </a:spcAft>
              <a:buNone/>
            </a:pPr>
            <a:r>
              <a:rPr lang="en-US" sz="850" dirty="0">
                <a:solidFill>
                  <a:srgbClr val="374151"/>
                </a:solidFill>
                <a:latin typeface="Calibri" pitchFamily="34" charset="0"/>
                <a:ea typeface="Calibri" pitchFamily="34" charset="-122"/>
                <a:cs typeface="Calibri" pitchFamily="34" charset="-120"/>
              </a:rPr>
              <a:t>UNSUPPORTED</a:t>
            </a:r>
            <a:endParaRPr lang="en-US" sz="850" dirty="0"/>
          </a:p>
          <a:p>
            <a:pPr indent="0" marL="0">
              <a:spcAft>
                <a:spcPts val="100"/>
              </a:spcAft>
              <a:buNone/>
            </a:pPr>
            <a:r>
              <a:rPr lang="en-US" sz="400" dirty="0">
                <a:solidFill>
                  <a:srgbClr val="374151"/>
                </a:solidFill>
                <a:latin typeface="Calibri" pitchFamily="34" charset="0"/>
                <a:ea typeface="Calibri" pitchFamily="34" charset="-122"/>
                <a:cs typeface="Calibri" pitchFamily="34" charset="-120"/>
              </a:rPr>
              <a:t> </a:t>
            </a:r>
            <a:endParaRPr lang="en-US" sz="850" dirty="0"/>
          </a:p>
          <a:p>
            <a:pPr indent="0" marL="0">
              <a:spcAft>
                <a:spcPts val="100"/>
              </a:spcAft>
              <a:buNone/>
            </a:pPr>
            <a:r>
              <a:rPr lang="en-US" sz="850" dirty="0">
                <a:solidFill>
                  <a:srgbClr val="374151"/>
                </a:solidFill>
                <a:latin typeface="Calibri" pitchFamily="34" charset="0"/>
                <a:ea typeface="Calibri" pitchFamily="34" charset="-122"/>
                <a:cs typeface="Calibri" pitchFamily="34" charset="-120"/>
              </a:rPr>
              <a:t>supported_ratio = 2 / 3  →  </a:t>
            </a:r>
            <a:pPr indent="0" marL="0">
              <a:spcAft>
                <a:spcPts val="100"/>
              </a:spcAft>
              <a:buNone/>
            </a:pPr>
            <a:r>
              <a:rPr lang="en-US" sz="900" b="1" dirty="0">
                <a:solidFill>
                  <a:srgbClr val="B91C1C"/>
                </a:solidFill>
                <a:latin typeface="Calibri" pitchFamily="34" charset="0"/>
                <a:ea typeface="Calibri" pitchFamily="34" charset="-122"/>
                <a:cs typeface="Calibri" pitchFamily="34" charset="-120"/>
              </a:rPr>
              <a:t>UNFAITHFUL</a:t>
            </a:r>
            <a:endParaRPr lang="en-US" sz="850" dirty="0"/>
          </a:p>
        </p:txBody>
      </p:sp>
      <p:pic>
        <p:nvPicPr>
          <p:cNvPr id="45" name="Image 2" descr="preencoded.png">    </p:cNvPr>
          <p:cNvPicPr>
            <a:picLocks noChangeAspect="1"/>
          </p:cNvPicPr>
          <p:nvPr/>
        </p:nvPicPr>
        <p:blipFill>
          <a:blip r:embed="rId3"/>
          <a:stretch>
            <a:fillRect/>
          </a:stretch>
        </p:blipFill>
        <p:spPr>
          <a:xfrm>
            <a:off x="3063240" y="4114800"/>
            <a:ext cx="164592" cy="164592"/>
          </a:xfrm>
          <a:prstGeom prst="rect">
            <a:avLst/>
          </a:prstGeom>
        </p:spPr>
      </p:pic>
      <p:sp>
        <p:nvSpPr>
          <p:cNvPr id="46" name="Text 41"/>
          <p:cNvSpPr/>
          <p:nvPr/>
        </p:nvSpPr>
        <p:spPr>
          <a:xfrm>
            <a:off x="3273552" y="4096512"/>
            <a:ext cx="5532120" cy="201168"/>
          </a:xfrm>
          <a:prstGeom prst="rect">
            <a:avLst/>
          </a:prstGeom>
          <a:noFill/>
          <a:ln/>
        </p:spPr>
        <p:txBody>
          <a:bodyPr wrap="square" lIns="0" tIns="0" rIns="0" bIns="0" rtlCol="0" anchor="ctr"/>
          <a:lstStyle/>
          <a:p>
            <a:pPr indent="0" marL="0">
              <a:buNone/>
            </a:pPr>
            <a:r>
              <a:rPr lang="en-US" sz="900" i="1" dirty="0">
                <a:solidFill>
                  <a:srgbClr val="374151"/>
                </a:solidFill>
                <a:latin typeface="Calibri" pitchFamily="34" charset="0"/>
                <a:ea typeface="Calibri" pitchFamily="34" charset="-122"/>
                <a:cs typeface="Calibri" pitchFamily="34" charset="-120"/>
              </a:rPr>
              <a:t>P4 may run as a single prompt that performs both stages internally — same logic, less modularity.</a:t>
            </a:r>
            <a:endParaRPr lang="en-US" sz="900" dirty="0"/>
          </a:p>
        </p:txBody>
      </p:sp>
      <p:sp>
        <p:nvSpPr>
          <p:cNvPr id="47" name="Text 42"/>
          <p:cNvSpPr/>
          <p:nvPr/>
        </p:nvSpPr>
        <p:spPr>
          <a:xfrm>
            <a:off x="8412480" y="4846320"/>
            <a:ext cx="548640" cy="182880"/>
          </a:xfrm>
          <a:prstGeom prst="rect">
            <a:avLst/>
          </a:prstGeom>
          <a:noFill/>
          <a:ln/>
        </p:spPr>
        <p:txBody>
          <a:bodyPr wrap="square" lIns="0" tIns="0" rIns="0" bIns="0" rtlCol="0" anchor="ctr"/>
          <a:lstStyle/>
          <a:p>
            <a:pPr algn="r" indent="0" marL="0">
              <a:buNone/>
            </a:pPr>
            <a:r>
              <a:rPr lang="en-US" sz="800" dirty="0">
                <a:solidFill>
                  <a:srgbClr val="9CA3AF"/>
                </a:solidFill>
                <a:latin typeface="Calibri" pitchFamily="34" charset="0"/>
                <a:ea typeface="Calibri" pitchFamily="34" charset="-122"/>
                <a:cs typeface="Calibri" pitchFamily="34" charset="-120"/>
              </a:rPr>
              <a:t>3 / 7</a:t>
            </a:r>
            <a:endParaRPr lang="en-US" sz="800" dirty="0"/>
          </a:p>
        </p:txBody>
      </p:sp>
      <p:sp>
        <p:nvSpPr>
          <p:cNvPr id="48" name="Text 43"/>
          <p:cNvSpPr/>
          <p:nvPr/>
        </p:nvSpPr>
        <p:spPr>
          <a:xfrm>
            <a:off x="457200" y="4846320"/>
            <a:ext cx="5486400" cy="182880"/>
          </a:xfrm>
          <a:prstGeom prst="rect">
            <a:avLst/>
          </a:prstGeom>
          <a:noFill/>
          <a:ln/>
        </p:spPr>
        <p:txBody>
          <a:bodyPr wrap="square" lIns="0" tIns="0" rIns="0" bIns="0" rtlCol="0" anchor="ctr"/>
          <a:lstStyle/>
          <a:p>
            <a:pPr indent="0" marL="0">
              <a:buNone/>
            </a:pPr>
            <a:r>
              <a:rPr lang="en-US" sz="800" dirty="0">
                <a:solidFill>
                  <a:srgbClr val="9CA3AF"/>
                </a:solidFill>
                <a:latin typeface="Calibri" pitchFamily="34" charset="0"/>
                <a:ea typeface="Calibri" pitchFamily="34" charset="-122"/>
                <a:cs typeface="Calibri" pitchFamily="34" charset="-120"/>
              </a:rPr>
              <a:t>LLM-as-Judge: Best Practices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600" b="1" dirty="0">
                <a:solidFill>
                  <a:srgbClr val="8B1A1A"/>
                </a:solidFill>
                <a:latin typeface="Cambria" pitchFamily="34" charset="0"/>
                <a:ea typeface="Cambria" pitchFamily="34" charset="-122"/>
                <a:cs typeface="Cambria" pitchFamily="34" charset="-120"/>
              </a:rPr>
              <a:t>Results — Each prompt layer pays off</a:t>
            </a:r>
            <a:endParaRPr lang="en-US" sz="2600" dirty="0"/>
          </a:p>
        </p:txBody>
      </p:sp>
      <p:sp>
        <p:nvSpPr>
          <p:cNvPr id="3" name="Shape 1"/>
          <p:cNvSpPr/>
          <p:nvPr/>
        </p:nvSpPr>
        <p:spPr>
          <a:xfrm>
            <a:off x="457200" y="804672"/>
            <a:ext cx="822960" cy="45720"/>
          </a:xfrm>
          <a:prstGeom prst="rect">
            <a:avLst/>
          </a:prstGeom>
          <a:solidFill>
            <a:srgbClr val="C9A227"/>
          </a:solidFill>
          <a:ln/>
        </p:spPr>
      </p:sp>
      <p:sp>
        <p:nvSpPr>
          <p:cNvPr id="4" name="Shape 2"/>
          <p:cNvSpPr/>
          <p:nvPr/>
        </p:nvSpPr>
        <p:spPr>
          <a:xfrm>
            <a:off x="228600" y="1051560"/>
            <a:ext cx="1508760" cy="329184"/>
          </a:xfrm>
          <a:prstGeom prst="roundRect">
            <a:avLst>
              <a:gd name="adj" fmla="val 11111"/>
            </a:avLst>
          </a:prstGeom>
          <a:solidFill>
            <a:srgbClr val="EEEEEE"/>
          </a:solidFill>
          <a:ln w="6350">
            <a:solidFill>
              <a:srgbClr val="DDDDDD"/>
            </a:solidFill>
            <a:prstDash val="solid"/>
          </a:ln>
        </p:spPr>
      </p:sp>
      <p:sp>
        <p:nvSpPr>
          <p:cNvPr id="5" name="Text 3"/>
          <p:cNvSpPr/>
          <p:nvPr/>
        </p:nvSpPr>
        <p:spPr>
          <a:xfrm>
            <a:off x="274320" y="1051560"/>
            <a:ext cx="1417320" cy="329184"/>
          </a:xfrm>
          <a:prstGeom prst="rect">
            <a:avLst/>
          </a:prstGeom>
          <a:noFill/>
          <a:ln/>
        </p:spPr>
        <p:txBody>
          <a:bodyPr wrap="square" lIns="0" tIns="0" rIns="0" bIns="0"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Model selection</a:t>
            </a:r>
            <a:endParaRPr lang="en-US" sz="900" dirty="0"/>
          </a:p>
        </p:txBody>
      </p:sp>
      <p:sp>
        <p:nvSpPr>
          <p:cNvPr id="6" name="Shape 4"/>
          <p:cNvSpPr/>
          <p:nvPr/>
        </p:nvSpPr>
        <p:spPr>
          <a:xfrm>
            <a:off x="228600" y="1453896"/>
            <a:ext cx="1508760" cy="329184"/>
          </a:xfrm>
          <a:prstGeom prst="roundRect">
            <a:avLst>
              <a:gd name="adj" fmla="val 11111"/>
            </a:avLst>
          </a:prstGeom>
          <a:solidFill>
            <a:srgbClr val="8B1A1A"/>
          </a:solidFill>
          <a:ln w="6350">
            <a:solidFill>
              <a:srgbClr val="8B1A1A"/>
            </a:solidFill>
            <a:prstDash val="solid"/>
          </a:ln>
        </p:spPr>
      </p:sp>
      <p:sp>
        <p:nvSpPr>
          <p:cNvPr id="7" name="Text 5"/>
          <p:cNvSpPr/>
          <p:nvPr/>
        </p:nvSpPr>
        <p:spPr>
          <a:xfrm>
            <a:off x="274320" y="1453896"/>
            <a:ext cx="141732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Structured prompting</a:t>
            </a:r>
            <a:endParaRPr lang="en-US" sz="900" dirty="0"/>
          </a:p>
        </p:txBody>
      </p:sp>
      <p:sp>
        <p:nvSpPr>
          <p:cNvPr id="8" name="Shape 6"/>
          <p:cNvSpPr/>
          <p:nvPr/>
        </p:nvSpPr>
        <p:spPr>
          <a:xfrm>
            <a:off x="228600" y="1856232"/>
            <a:ext cx="1508760" cy="329184"/>
          </a:xfrm>
          <a:prstGeom prst="roundRect">
            <a:avLst>
              <a:gd name="adj" fmla="val 11111"/>
            </a:avLst>
          </a:prstGeom>
          <a:solidFill>
            <a:srgbClr val="8B1A1A"/>
          </a:solidFill>
          <a:ln w="6350">
            <a:solidFill>
              <a:srgbClr val="8B1A1A"/>
            </a:solidFill>
            <a:prstDash val="solid"/>
          </a:ln>
        </p:spPr>
      </p:sp>
      <p:sp>
        <p:nvSpPr>
          <p:cNvPr id="9" name="Text 7"/>
          <p:cNvSpPr/>
          <p:nvPr/>
        </p:nvSpPr>
        <p:spPr>
          <a:xfrm>
            <a:off x="274320" y="1856232"/>
            <a:ext cx="141732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Improved task understanding</a:t>
            </a:r>
            <a:endParaRPr lang="en-US" sz="900" dirty="0"/>
          </a:p>
        </p:txBody>
      </p:sp>
      <p:sp>
        <p:nvSpPr>
          <p:cNvPr id="10" name="Shape 8"/>
          <p:cNvSpPr/>
          <p:nvPr/>
        </p:nvSpPr>
        <p:spPr>
          <a:xfrm>
            <a:off x="228600" y="2258568"/>
            <a:ext cx="1508760" cy="329184"/>
          </a:xfrm>
          <a:prstGeom prst="roundRect">
            <a:avLst>
              <a:gd name="adj" fmla="val 11111"/>
            </a:avLst>
          </a:prstGeom>
          <a:solidFill>
            <a:srgbClr val="EEEEEE"/>
          </a:solidFill>
          <a:ln w="6350">
            <a:solidFill>
              <a:srgbClr val="DDDDDD"/>
            </a:solidFill>
            <a:prstDash val="solid"/>
          </a:ln>
        </p:spPr>
      </p:sp>
      <p:sp>
        <p:nvSpPr>
          <p:cNvPr id="11" name="Text 9"/>
          <p:cNvSpPr/>
          <p:nvPr/>
        </p:nvSpPr>
        <p:spPr>
          <a:xfrm>
            <a:off x="274320" y="2258568"/>
            <a:ext cx="1417320" cy="329184"/>
          </a:xfrm>
          <a:prstGeom prst="rect">
            <a:avLst/>
          </a:prstGeom>
          <a:noFill/>
          <a:ln/>
        </p:spPr>
        <p:txBody>
          <a:bodyPr wrap="square" lIns="0" tIns="0" rIns="0" bIns="0"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Aggregation across judges</a:t>
            </a:r>
            <a:endParaRPr lang="en-US" sz="900" dirty="0"/>
          </a:p>
        </p:txBody>
      </p:sp>
      <p:sp>
        <p:nvSpPr>
          <p:cNvPr id="12" name="Shape 10"/>
          <p:cNvSpPr/>
          <p:nvPr/>
        </p:nvSpPr>
        <p:spPr>
          <a:xfrm>
            <a:off x="228600" y="2660904"/>
            <a:ext cx="1508760" cy="329184"/>
          </a:xfrm>
          <a:prstGeom prst="roundRect">
            <a:avLst>
              <a:gd name="adj" fmla="val 11111"/>
            </a:avLst>
          </a:prstGeom>
          <a:solidFill>
            <a:srgbClr val="EEEEEE"/>
          </a:solidFill>
          <a:ln w="6350">
            <a:solidFill>
              <a:srgbClr val="DDDDDD"/>
            </a:solidFill>
            <a:prstDash val="solid"/>
          </a:ln>
        </p:spPr>
      </p:sp>
      <p:sp>
        <p:nvSpPr>
          <p:cNvPr id="13" name="Text 11"/>
          <p:cNvSpPr/>
          <p:nvPr/>
        </p:nvSpPr>
        <p:spPr>
          <a:xfrm>
            <a:off x="274320" y="2660904"/>
            <a:ext cx="1417320" cy="329184"/>
          </a:xfrm>
          <a:prstGeom prst="rect">
            <a:avLst/>
          </a:prstGeom>
          <a:noFill/>
          <a:ln/>
        </p:spPr>
        <p:txBody>
          <a:bodyPr wrap="square" lIns="0" tIns="0" rIns="0" bIns="0"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Reporting scores</a:t>
            </a:r>
            <a:endParaRPr lang="en-US" sz="900" dirty="0"/>
          </a:p>
        </p:txBody>
      </p:sp>
      <p:sp>
        <p:nvSpPr>
          <p:cNvPr id="14" name="Shape 12"/>
          <p:cNvSpPr/>
          <p:nvPr/>
        </p:nvSpPr>
        <p:spPr>
          <a:xfrm>
            <a:off x="228600" y="3063240"/>
            <a:ext cx="1508760" cy="329184"/>
          </a:xfrm>
          <a:prstGeom prst="roundRect">
            <a:avLst>
              <a:gd name="adj" fmla="val 11111"/>
            </a:avLst>
          </a:prstGeom>
          <a:solidFill>
            <a:srgbClr val="EEEEEE"/>
          </a:solidFill>
          <a:ln w="6350">
            <a:solidFill>
              <a:srgbClr val="DDDDDD"/>
            </a:solidFill>
            <a:prstDash val="solid"/>
          </a:ln>
        </p:spPr>
      </p:sp>
      <p:sp>
        <p:nvSpPr>
          <p:cNvPr id="15" name="Text 13"/>
          <p:cNvSpPr/>
          <p:nvPr/>
        </p:nvSpPr>
        <p:spPr>
          <a:xfrm>
            <a:off x="274320" y="3063240"/>
            <a:ext cx="1417320" cy="329184"/>
          </a:xfrm>
          <a:prstGeom prst="rect">
            <a:avLst/>
          </a:prstGeom>
          <a:noFill/>
          <a:ln/>
        </p:spPr>
        <p:txBody>
          <a:bodyPr wrap="square" lIns="0" tIns="0" rIns="0" bIns="0"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Judge evaluation</a:t>
            </a:r>
            <a:endParaRPr lang="en-US" sz="900" dirty="0"/>
          </a:p>
        </p:txBody>
      </p:sp>
      <p:sp>
        <p:nvSpPr>
          <p:cNvPr id="16" name="Text 14"/>
          <p:cNvSpPr/>
          <p:nvPr/>
        </p:nvSpPr>
        <p:spPr>
          <a:xfrm>
            <a:off x="228600" y="868680"/>
            <a:ext cx="1508760" cy="164592"/>
          </a:xfrm>
          <a:prstGeom prst="rect">
            <a:avLst/>
          </a:prstGeom>
          <a:noFill/>
          <a:ln/>
        </p:spPr>
        <p:txBody>
          <a:bodyPr wrap="square" lIns="0" tIns="0" rIns="0" bIns="0" rtlCol="0" anchor="ctr"/>
          <a:lstStyle/>
          <a:p>
            <a:pPr algn="ctr" indent="0" marL="0">
              <a:buNone/>
            </a:pPr>
            <a:r>
              <a:rPr lang="en-US" sz="750" b="1" spc="200" kern="0" dirty="0">
                <a:solidFill>
                  <a:srgbClr val="6B7280"/>
                </a:solidFill>
                <a:latin typeface="Calibri" pitchFamily="34" charset="0"/>
                <a:ea typeface="Calibri" pitchFamily="34" charset="-122"/>
                <a:cs typeface="Calibri" pitchFamily="34" charset="-120"/>
              </a:rPr>
              <a:t>BEST PRACTICES</a:t>
            </a:r>
            <a:endParaRPr lang="en-US" sz="750" dirty="0"/>
          </a:p>
        </p:txBody>
      </p:sp>
      <p:sp>
        <p:nvSpPr>
          <p:cNvPr id="17" name="Shape 15"/>
          <p:cNvSpPr/>
          <p:nvPr/>
        </p:nvSpPr>
        <p:spPr>
          <a:xfrm>
            <a:off x="1920240" y="960120"/>
            <a:ext cx="7040880" cy="292608"/>
          </a:xfrm>
          <a:prstGeom prst="rect">
            <a:avLst/>
          </a:prstGeom>
          <a:solidFill>
            <a:srgbClr val="8B1A1A"/>
          </a:solidFill>
          <a:ln/>
        </p:spPr>
      </p:sp>
      <p:sp>
        <p:nvSpPr>
          <p:cNvPr id="18" name="Text 16"/>
          <p:cNvSpPr/>
          <p:nvPr/>
        </p:nvSpPr>
        <p:spPr>
          <a:xfrm>
            <a:off x="2029968" y="960120"/>
            <a:ext cx="6821424" cy="292608"/>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FAITHFULNESS &amp; COMPLETENESS — ACCURACY / CAPTURE RATE (%)</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920240" y="1289304"/>
          <a:ext cx="7040880" cy="914400"/>
        </p:xfrm>
        <a:graphic>
          <a:graphicData uri="http://schemas.openxmlformats.org/drawingml/2006/table">
            <a:tbl>
              <a:tblPr/>
              <a:tblGrid>
                <a:gridCol w="1188720"/>
                <a:gridCol w="1920240"/>
                <a:gridCol w="1920240"/>
                <a:gridCol w="2011680"/>
              </a:tblGrid>
              <a:tr h="18288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Approach</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6B1313"/>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RAGTruth  (Acc / HCR)</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6B1313"/>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HaluEval  (Acc / HCR)</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6B1313"/>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RAGBench  (Acc / ICR)</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6B1313"/>
                    </a:solidFill>
                  </a:tcPr>
                </a:tc>
              </a:tr>
              <a:tr h="182880">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P1</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66.2 / 81.9</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68.9 / 69.5</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182880">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P2</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68.5 / 85.8</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70.4 / 73.5</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78.8 / 69.0</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182880">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P2*</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70.1 / 88.7</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70.8 / 74.1</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80.2 / 71.0</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182880">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P3</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70.3 / 89.0</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72.7 / 76.2</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182880">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P4*</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71.2 / 91.4</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74.1 / 79.1</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81.0 / 75.7</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182880">
                <a:tc>
                  <a:txBody>
                    <a:bodyPr/>
                    <a:lstStyle/>
                    <a:p>
                      <a:pPr algn="ctr" indent="0" marL="0">
                        <a:buNone/>
                      </a:pPr>
                      <a:r>
                        <a:rPr lang="en-US" sz="900" b="1" dirty="0">
                          <a:solidFill>
                            <a:srgbClr val="374151"/>
                          </a:solidFill>
                          <a:latin typeface="Calibri" pitchFamily="34" charset="0"/>
                          <a:ea typeface="Calibri" pitchFamily="34" charset="-122"/>
                          <a:cs typeface="Calibri" pitchFamily="34" charset="-120"/>
                        </a:rPr>
                        <a:t>P4</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BE8C8"/>
                    </a:solidFill>
                  </a:tcPr>
                </a:tc>
                <a:tc>
                  <a:txBody>
                    <a:bodyPr/>
                    <a:lstStyle/>
                    <a:p>
                      <a:pPr algn="ctr" indent="0" marL="0">
                        <a:buNone/>
                      </a:pPr>
                      <a:r>
                        <a:rPr lang="en-US" sz="900" b="1" dirty="0">
                          <a:solidFill>
                            <a:srgbClr val="374151"/>
                          </a:solidFill>
                          <a:latin typeface="Calibri" pitchFamily="34" charset="0"/>
                          <a:ea typeface="Calibri" pitchFamily="34" charset="-122"/>
                          <a:cs typeface="Calibri" pitchFamily="34" charset="-120"/>
                        </a:rPr>
                        <a:t>72.4 / 92.6</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BE8C8"/>
                    </a:solidFill>
                  </a:tcPr>
                </a:tc>
                <a:tc>
                  <a:txBody>
                    <a:bodyPr/>
                    <a:lstStyle/>
                    <a:p>
                      <a:pPr algn="ctr" indent="0" marL="0">
                        <a:buNone/>
                      </a:pPr>
                      <a:r>
                        <a:rPr lang="en-US" sz="900" b="1" dirty="0">
                          <a:solidFill>
                            <a:srgbClr val="374151"/>
                          </a:solidFill>
                          <a:latin typeface="Calibri" pitchFamily="34" charset="0"/>
                          <a:ea typeface="Calibri" pitchFamily="34" charset="-122"/>
                          <a:cs typeface="Calibri" pitchFamily="34" charset="-120"/>
                        </a:rPr>
                        <a:t>74.8 / 81.2</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BE8C8"/>
                    </a:solidFill>
                  </a:tcPr>
                </a:tc>
                <a:tc>
                  <a:txBody>
                    <a:bodyPr/>
                    <a:lstStyle/>
                    <a:p>
                      <a:pPr algn="ctr" indent="0" marL="0">
                        <a:buNone/>
                      </a:pPr>
                      <a:r>
                        <a:rPr lang="en-US" sz="900" b="1" dirty="0">
                          <a:solidFill>
                            <a:srgbClr val="374151"/>
                          </a:solidFill>
                          <a:latin typeface="Calibri" pitchFamily="34" charset="0"/>
                          <a:ea typeface="Calibri" pitchFamily="34" charset="-122"/>
                          <a:cs typeface="Calibri" pitchFamily="34" charset="-120"/>
                        </a:rPr>
                        <a:t>82.8 / 82.8</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BE8C8"/>
                    </a:solidFill>
                  </a:tcPr>
                </a:tc>
              </a:tr>
              <a:tr h="182880">
                <a:tc>
                  <a:txBody>
                    <a:bodyPr/>
                    <a:lstStyle/>
                    <a:p>
                      <a:pPr algn="ctr" indent="0" marL="0">
                        <a:buNone/>
                      </a:pPr>
                      <a:r>
                        <a:rPr lang="en-US" sz="900" b="1" dirty="0">
                          <a:solidFill>
                            <a:srgbClr val="374151"/>
                          </a:solidFill>
                          <a:latin typeface="Calibri" pitchFamily="34" charset="0"/>
                          <a:ea typeface="Calibri" pitchFamily="34" charset="-122"/>
                          <a:cs typeface="Calibri" pitchFamily="34" charset="-120"/>
                        </a:rPr>
                        <a:t>Jury (P4)</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BE8C8"/>
                    </a:solidFill>
                  </a:tcPr>
                </a:tc>
                <a:tc>
                  <a:txBody>
                    <a:bodyPr/>
                    <a:lstStyle/>
                    <a:p>
                      <a:pPr algn="ctr" indent="0" marL="0">
                        <a:buNone/>
                      </a:pPr>
                      <a:r>
                        <a:rPr lang="en-US" sz="900" b="1" dirty="0">
                          <a:solidFill>
                            <a:srgbClr val="374151"/>
                          </a:solidFill>
                          <a:latin typeface="Calibri" pitchFamily="34" charset="0"/>
                          <a:ea typeface="Calibri" pitchFamily="34" charset="-122"/>
                          <a:cs typeface="Calibri" pitchFamily="34" charset="-120"/>
                        </a:rPr>
                        <a:t>73.9 / 94.1</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BE8C8"/>
                    </a:solidFill>
                  </a:tcPr>
                </a:tc>
                <a:tc>
                  <a:txBody>
                    <a:bodyPr/>
                    <a:lstStyle/>
                    <a:p>
                      <a:pPr algn="ctr" indent="0" marL="0">
                        <a:buNone/>
                      </a:pPr>
                      <a:r>
                        <a:rPr lang="en-US" sz="900" b="1" dirty="0">
                          <a:solidFill>
                            <a:srgbClr val="374151"/>
                          </a:solidFill>
                          <a:latin typeface="Calibri" pitchFamily="34" charset="0"/>
                          <a:ea typeface="Calibri" pitchFamily="34" charset="-122"/>
                          <a:cs typeface="Calibri" pitchFamily="34" charset="-120"/>
                        </a:rPr>
                        <a:t>76.3 / 85.4</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BE8C8"/>
                    </a:solidFill>
                  </a:tcPr>
                </a:tc>
                <a:tc>
                  <a:txBody>
                    <a:bodyP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BE8C8"/>
                    </a:solidFill>
                  </a:tcPr>
                </a:tc>
              </a:tr>
            </a:tbl>
          </a:graphicData>
        </a:graphic>
      </p:graphicFrame>
      <p:pic>
        <p:nvPicPr>
          <p:cNvPr id="20" name="Image 0" descr="preencoded.png">    </p:cNvPr>
          <p:cNvPicPr>
            <a:picLocks noChangeAspect="1"/>
          </p:cNvPicPr>
          <p:nvPr/>
        </p:nvPicPr>
        <p:blipFill>
          <a:blip r:embed="rId1"/>
          <a:stretch>
            <a:fillRect/>
          </a:stretch>
        </p:blipFill>
        <p:spPr>
          <a:xfrm>
            <a:off x="1965960" y="3200400"/>
            <a:ext cx="164592" cy="164592"/>
          </a:xfrm>
          <a:prstGeom prst="rect">
            <a:avLst/>
          </a:prstGeom>
        </p:spPr>
      </p:pic>
      <p:sp>
        <p:nvSpPr>
          <p:cNvPr id="21" name="Text 17"/>
          <p:cNvSpPr/>
          <p:nvPr/>
        </p:nvSpPr>
        <p:spPr>
          <a:xfrm>
            <a:off x="2157984" y="3182112"/>
            <a:ext cx="6803136" cy="201168"/>
          </a:xfrm>
          <a:prstGeom prst="rect">
            <a:avLst/>
          </a:prstGeom>
          <a:noFill/>
          <a:ln/>
        </p:spPr>
        <p:txBody>
          <a:bodyPr wrap="square" lIns="0" tIns="0" rIns="0" bIns="0" rtlCol="0" anchor="ctr"/>
          <a:lstStyle/>
          <a:p>
            <a:pPr indent="0" marL="0">
              <a:buNone/>
            </a:pPr>
            <a:r>
              <a:rPr lang="en-US" sz="950" i="1" dirty="0">
                <a:solidFill>
                  <a:srgbClr val="374151"/>
                </a:solidFill>
                <a:latin typeface="Calibri" pitchFamily="34" charset="0"/>
                <a:ea typeface="Calibri" pitchFamily="34" charset="-122"/>
                <a:cs typeface="Calibri" pitchFamily="34" charset="-120"/>
              </a:rPr>
              <a:t>Monotonic climb P1 → P4 → Jury. Every prompt-ladder element from Slide 3 contributes measurable gains.</a:t>
            </a:r>
            <a:endParaRPr lang="en-US" sz="950" dirty="0"/>
          </a:p>
        </p:txBody>
      </p:sp>
      <p:sp>
        <p:nvSpPr>
          <p:cNvPr id="22" name="Shape 18"/>
          <p:cNvSpPr/>
          <p:nvPr/>
        </p:nvSpPr>
        <p:spPr>
          <a:xfrm>
            <a:off x="1920240" y="3456432"/>
            <a:ext cx="2286000" cy="1280160"/>
          </a:xfrm>
          <a:prstGeom prst="roundRect">
            <a:avLst>
              <a:gd name="adj" fmla="val 3571"/>
            </a:avLst>
          </a:prstGeom>
          <a:solidFill>
            <a:srgbClr val="FBF8F3"/>
          </a:solidFill>
          <a:ln w="9525">
            <a:solidFill>
              <a:srgbClr val="E5E7EB"/>
            </a:solidFill>
            <a:prstDash val="solid"/>
          </a:ln>
        </p:spPr>
      </p:sp>
      <p:sp>
        <p:nvSpPr>
          <p:cNvPr id="23" name="Shape 19"/>
          <p:cNvSpPr/>
          <p:nvPr/>
        </p:nvSpPr>
        <p:spPr>
          <a:xfrm>
            <a:off x="2011680" y="3547872"/>
            <a:ext cx="219456" cy="219456"/>
          </a:xfrm>
          <a:prstGeom prst="oval">
            <a:avLst/>
          </a:prstGeom>
          <a:solidFill>
            <a:srgbClr val="8B1A1A"/>
          </a:solidFill>
          <a:ln/>
        </p:spPr>
      </p:sp>
      <p:pic>
        <p:nvPicPr>
          <p:cNvPr id="24" name="Image 1" descr="preencoded.png">    </p:cNvPr>
          <p:cNvPicPr>
            <a:picLocks noChangeAspect="1"/>
          </p:cNvPicPr>
          <p:nvPr/>
        </p:nvPicPr>
        <p:blipFill>
          <a:blip r:embed="rId2"/>
          <a:stretch>
            <a:fillRect/>
          </a:stretch>
        </p:blipFill>
        <p:spPr>
          <a:xfrm>
            <a:off x="2039112" y="3575304"/>
            <a:ext cx="164592" cy="164592"/>
          </a:xfrm>
          <a:prstGeom prst="rect">
            <a:avLst/>
          </a:prstGeom>
        </p:spPr>
      </p:pic>
      <p:sp>
        <p:nvSpPr>
          <p:cNvPr id="25" name="Text 20"/>
          <p:cNvSpPr/>
          <p:nvPr/>
        </p:nvSpPr>
        <p:spPr>
          <a:xfrm>
            <a:off x="2286000" y="3529584"/>
            <a:ext cx="1847088" cy="256032"/>
          </a:xfrm>
          <a:prstGeom prst="rect">
            <a:avLst/>
          </a:prstGeom>
          <a:noFill/>
          <a:ln/>
        </p:spPr>
        <p:txBody>
          <a:bodyPr wrap="square" lIns="0" tIns="0" rIns="0" bIns="0" rtlCol="0" anchor="ctr"/>
          <a:lstStyle/>
          <a:p>
            <a:pPr indent="0" marL="0">
              <a:buNone/>
            </a:pPr>
            <a:r>
              <a:rPr lang="en-US" sz="1050" b="1" dirty="0">
                <a:solidFill>
                  <a:srgbClr val="8B1A1A"/>
                </a:solidFill>
                <a:latin typeface="Cambria" pitchFamily="34" charset="0"/>
                <a:ea typeface="Cambria" pitchFamily="34" charset="-122"/>
                <a:cs typeface="Cambria" pitchFamily="34" charset="-120"/>
              </a:rPr>
              <a:t>Structured prompting</a:t>
            </a:r>
            <a:endParaRPr lang="en-US" sz="1050" dirty="0"/>
          </a:p>
        </p:txBody>
      </p:sp>
      <p:sp>
        <p:nvSpPr>
          <p:cNvPr id="26" name="Text 21"/>
          <p:cNvSpPr/>
          <p:nvPr/>
        </p:nvSpPr>
        <p:spPr>
          <a:xfrm>
            <a:off x="2011680" y="3822192"/>
            <a:ext cx="2103120" cy="640080"/>
          </a:xfrm>
          <a:prstGeom prst="rect">
            <a:avLst/>
          </a:prstGeom>
          <a:noFill/>
          <a:ln/>
        </p:spPr>
        <p:txBody>
          <a:bodyPr wrap="square" lIns="0" tIns="0" rIns="0" bIns="0" rtlCol="0" anchor="t"/>
          <a:lstStyle/>
          <a:p>
            <a:pPr indent="0" marL="0">
              <a:buNone/>
            </a:pPr>
            <a:r>
              <a:rPr lang="en-US" sz="850" dirty="0">
                <a:solidFill>
                  <a:srgbClr val="374151"/>
                </a:solidFill>
                <a:latin typeface="Calibri" pitchFamily="34" charset="0"/>
                <a:ea typeface="Calibri" pitchFamily="34" charset="-122"/>
                <a:cs typeface="Calibri" pitchFamily="34" charset="-120"/>
              </a:rPr>
              <a:t>Define task + metric, chain-of-thought, JSON schemas. Drives the P2 → P3 → P4 gains.</a:t>
            </a:r>
            <a:endParaRPr lang="en-US" sz="850" dirty="0"/>
          </a:p>
        </p:txBody>
      </p:sp>
      <p:sp>
        <p:nvSpPr>
          <p:cNvPr id="27" name="Text 22"/>
          <p:cNvSpPr/>
          <p:nvPr/>
        </p:nvSpPr>
        <p:spPr>
          <a:xfrm>
            <a:off x="2011680" y="4498848"/>
            <a:ext cx="2103120" cy="201168"/>
          </a:xfrm>
          <a:prstGeom prst="rect">
            <a:avLst/>
          </a:prstGeom>
          <a:noFill/>
          <a:ln/>
        </p:spPr>
        <p:txBody>
          <a:bodyPr wrap="square" lIns="0" tIns="0" rIns="0" bIns="0" rtlCol="0" anchor="t"/>
          <a:lstStyle/>
          <a:p>
            <a:pPr indent="0" marL="0">
              <a:buNone/>
            </a:pPr>
            <a:r>
              <a:rPr lang="en-US" sz="750" i="1" dirty="0">
                <a:solidFill>
                  <a:srgbClr val="6B7280"/>
                </a:solidFill>
                <a:latin typeface="Calibri" pitchFamily="34" charset="0"/>
                <a:ea typeface="Calibri" pitchFamily="34" charset="-122"/>
                <a:cs typeface="Calibri" pitchFamily="34" charset="-120"/>
              </a:rPr>
              <a:t>[Gu 2024; Wei 2022]</a:t>
            </a:r>
            <a:endParaRPr lang="en-US" sz="750" dirty="0"/>
          </a:p>
        </p:txBody>
      </p:sp>
      <p:sp>
        <p:nvSpPr>
          <p:cNvPr id="28" name="Shape 23"/>
          <p:cNvSpPr/>
          <p:nvPr/>
        </p:nvSpPr>
        <p:spPr>
          <a:xfrm>
            <a:off x="4297680" y="3456432"/>
            <a:ext cx="2286000" cy="1280160"/>
          </a:xfrm>
          <a:prstGeom prst="roundRect">
            <a:avLst>
              <a:gd name="adj" fmla="val 3571"/>
            </a:avLst>
          </a:prstGeom>
          <a:solidFill>
            <a:srgbClr val="FBF8F3"/>
          </a:solidFill>
          <a:ln w="9525">
            <a:solidFill>
              <a:srgbClr val="E5E7EB"/>
            </a:solidFill>
            <a:prstDash val="solid"/>
          </a:ln>
        </p:spPr>
      </p:sp>
      <p:sp>
        <p:nvSpPr>
          <p:cNvPr id="29" name="Shape 24"/>
          <p:cNvSpPr/>
          <p:nvPr/>
        </p:nvSpPr>
        <p:spPr>
          <a:xfrm>
            <a:off x="4389120" y="3547872"/>
            <a:ext cx="219456" cy="219456"/>
          </a:xfrm>
          <a:prstGeom prst="oval">
            <a:avLst/>
          </a:prstGeom>
          <a:solidFill>
            <a:srgbClr val="8B1A1A"/>
          </a:solidFill>
          <a:ln/>
        </p:spPr>
      </p:sp>
      <p:pic>
        <p:nvPicPr>
          <p:cNvPr id="30" name="Image 2" descr="preencoded.png">    </p:cNvPr>
          <p:cNvPicPr>
            <a:picLocks noChangeAspect="1"/>
          </p:cNvPicPr>
          <p:nvPr/>
        </p:nvPicPr>
        <p:blipFill>
          <a:blip r:embed="rId3"/>
          <a:stretch>
            <a:fillRect/>
          </a:stretch>
        </p:blipFill>
        <p:spPr>
          <a:xfrm>
            <a:off x="4416552" y="3575304"/>
            <a:ext cx="164592" cy="164592"/>
          </a:xfrm>
          <a:prstGeom prst="rect">
            <a:avLst/>
          </a:prstGeom>
        </p:spPr>
      </p:pic>
      <p:sp>
        <p:nvSpPr>
          <p:cNvPr id="31" name="Text 25"/>
          <p:cNvSpPr/>
          <p:nvPr/>
        </p:nvSpPr>
        <p:spPr>
          <a:xfrm>
            <a:off x="4663440" y="3529584"/>
            <a:ext cx="1847088" cy="256032"/>
          </a:xfrm>
          <a:prstGeom prst="rect">
            <a:avLst/>
          </a:prstGeom>
          <a:noFill/>
          <a:ln/>
        </p:spPr>
        <p:txBody>
          <a:bodyPr wrap="square" lIns="0" tIns="0" rIns="0" bIns="0" rtlCol="0" anchor="ctr"/>
          <a:lstStyle/>
          <a:p>
            <a:pPr indent="0" marL="0">
              <a:buNone/>
            </a:pPr>
            <a:r>
              <a:rPr lang="en-US" sz="1050" b="1" dirty="0">
                <a:solidFill>
                  <a:srgbClr val="8B1A1A"/>
                </a:solidFill>
                <a:latin typeface="Cambria" pitchFamily="34" charset="0"/>
                <a:ea typeface="Cambria" pitchFamily="34" charset="-122"/>
                <a:cs typeface="Cambria" pitchFamily="34" charset="-120"/>
              </a:rPr>
              <a:t>Improved task understanding</a:t>
            </a:r>
            <a:endParaRPr lang="en-US" sz="1050" dirty="0"/>
          </a:p>
        </p:txBody>
      </p:sp>
      <p:sp>
        <p:nvSpPr>
          <p:cNvPr id="32" name="Text 26"/>
          <p:cNvSpPr/>
          <p:nvPr/>
        </p:nvSpPr>
        <p:spPr>
          <a:xfrm>
            <a:off x="4389120" y="3822192"/>
            <a:ext cx="2103120" cy="640080"/>
          </a:xfrm>
          <a:prstGeom prst="rect">
            <a:avLst/>
          </a:prstGeom>
          <a:noFill/>
          <a:ln/>
        </p:spPr>
        <p:txBody>
          <a:bodyPr wrap="square" lIns="0" tIns="0" rIns="0" bIns="0" rtlCol="0" anchor="t"/>
          <a:lstStyle/>
          <a:p>
            <a:pPr indent="0" marL="0">
              <a:buNone/>
            </a:pPr>
            <a:r>
              <a:rPr lang="en-US" sz="850" dirty="0">
                <a:solidFill>
                  <a:srgbClr val="374151"/>
                </a:solidFill>
                <a:latin typeface="Calibri" pitchFamily="34" charset="0"/>
                <a:ea typeface="Calibri" pitchFamily="34" charset="-122"/>
                <a:cs typeface="Calibri" pitchFamily="34" charset="-120"/>
              </a:rPr>
              <a:t>Task decomposition (claim → evidence → verdict) and few-shot anchors. Drives the P4* / P4 gains.</a:t>
            </a:r>
            <a:endParaRPr lang="en-US" sz="850" dirty="0"/>
          </a:p>
        </p:txBody>
      </p:sp>
      <p:sp>
        <p:nvSpPr>
          <p:cNvPr id="33" name="Text 27"/>
          <p:cNvSpPr/>
          <p:nvPr/>
        </p:nvSpPr>
        <p:spPr>
          <a:xfrm>
            <a:off x="4389120" y="4498848"/>
            <a:ext cx="2103120" cy="201168"/>
          </a:xfrm>
          <a:prstGeom prst="rect">
            <a:avLst/>
          </a:prstGeom>
          <a:noFill/>
          <a:ln/>
        </p:spPr>
        <p:txBody>
          <a:bodyPr wrap="square" lIns="0" tIns="0" rIns="0" bIns="0" rtlCol="0" anchor="t"/>
          <a:lstStyle/>
          <a:p>
            <a:pPr indent="0" marL="0">
              <a:buNone/>
            </a:pPr>
            <a:r>
              <a:rPr lang="en-US" sz="750" i="1" dirty="0">
                <a:solidFill>
                  <a:srgbClr val="6B7280"/>
                </a:solidFill>
                <a:latin typeface="Calibri" pitchFamily="34" charset="0"/>
                <a:ea typeface="Calibri" pitchFamily="34" charset="-122"/>
                <a:cs typeface="Calibri" pitchFamily="34" charset="-120"/>
              </a:rPr>
              <a:t>[Gu 2024 RAGAS; Brown 2020]</a:t>
            </a:r>
            <a:endParaRPr lang="en-US" sz="750" dirty="0"/>
          </a:p>
        </p:txBody>
      </p:sp>
      <p:sp>
        <p:nvSpPr>
          <p:cNvPr id="34" name="Shape 28"/>
          <p:cNvSpPr/>
          <p:nvPr/>
        </p:nvSpPr>
        <p:spPr>
          <a:xfrm>
            <a:off x="6675120" y="3456432"/>
            <a:ext cx="2286000" cy="1280160"/>
          </a:xfrm>
          <a:prstGeom prst="roundRect">
            <a:avLst>
              <a:gd name="adj" fmla="val 3571"/>
            </a:avLst>
          </a:prstGeom>
          <a:solidFill>
            <a:srgbClr val="FBF8F3"/>
          </a:solidFill>
          <a:ln w="9525">
            <a:solidFill>
              <a:srgbClr val="E5E7EB"/>
            </a:solidFill>
            <a:prstDash val="solid"/>
          </a:ln>
        </p:spPr>
      </p:sp>
      <p:sp>
        <p:nvSpPr>
          <p:cNvPr id="35" name="Shape 29"/>
          <p:cNvSpPr/>
          <p:nvPr/>
        </p:nvSpPr>
        <p:spPr>
          <a:xfrm>
            <a:off x="6766560" y="3547872"/>
            <a:ext cx="219456" cy="219456"/>
          </a:xfrm>
          <a:prstGeom prst="oval">
            <a:avLst/>
          </a:prstGeom>
          <a:solidFill>
            <a:srgbClr val="8B1A1A"/>
          </a:solidFill>
          <a:ln/>
        </p:spPr>
      </p:sp>
      <p:pic>
        <p:nvPicPr>
          <p:cNvPr id="36" name="Image 3" descr="preencoded.png">    </p:cNvPr>
          <p:cNvPicPr>
            <a:picLocks noChangeAspect="1"/>
          </p:cNvPicPr>
          <p:nvPr/>
        </p:nvPicPr>
        <p:blipFill>
          <a:blip r:embed="rId4"/>
          <a:stretch>
            <a:fillRect/>
          </a:stretch>
        </p:blipFill>
        <p:spPr>
          <a:xfrm>
            <a:off x="6793992" y="3575304"/>
            <a:ext cx="164592" cy="164592"/>
          </a:xfrm>
          <a:prstGeom prst="rect">
            <a:avLst/>
          </a:prstGeom>
        </p:spPr>
      </p:pic>
      <p:sp>
        <p:nvSpPr>
          <p:cNvPr id="37" name="Text 30"/>
          <p:cNvSpPr/>
          <p:nvPr/>
        </p:nvSpPr>
        <p:spPr>
          <a:xfrm>
            <a:off x="7040880" y="3529584"/>
            <a:ext cx="1847088" cy="256032"/>
          </a:xfrm>
          <a:prstGeom prst="rect">
            <a:avLst/>
          </a:prstGeom>
          <a:noFill/>
          <a:ln/>
        </p:spPr>
        <p:txBody>
          <a:bodyPr wrap="square" lIns="0" tIns="0" rIns="0" bIns="0" rtlCol="0" anchor="ctr"/>
          <a:lstStyle/>
          <a:p>
            <a:pPr indent="0" marL="0">
              <a:buNone/>
            </a:pPr>
            <a:r>
              <a:rPr lang="en-US" sz="1050" b="1" dirty="0">
                <a:solidFill>
                  <a:srgbClr val="8B1A1A"/>
                </a:solidFill>
                <a:latin typeface="Cambria" pitchFamily="34" charset="0"/>
                <a:ea typeface="Cambria" pitchFamily="34" charset="-122"/>
                <a:cs typeface="Cambria" pitchFamily="34" charset="-120"/>
              </a:rPr>
              <a:t>Bias mitigation</a:t>
            </a:r>
            <a:endParaRPr lang="en-US" sz="1050" dirty="0"/>
          </a:p>
        </p:txBody>
      </p:sp>
      <p:sp>
        <p:nvSpPr>
          <p:cNvPr id="38" name="Text 31"/>
          <p:cNvSpPr/>
          <p:nvPr/>
        </p:nvSpPr>
        <p:spPr>
          <a:xfrm>
            <a:off x="6766560" y="3822192"/>
            <a:ext cx="2103120" cy="640080"/>
          </a:xfrm>
          <a:prstGeom prst="rect">
            <a:avLst/>
          </a:prstGeom>
          <a:noFill/>
          <a:ln/>
        </p:spPr>
        <p:txBody>
          <a:bodyPr wrap="square" lIns="0" tIns="0" rIns="0" bIns="0" rtlCol="0" anchor="t"/>
          <a:lstStyle/>
          <a:p>
            <a:pPr indent="0" marL="0">
              <a:buNone/>
            </a:pPr>
            <a:r>
              <a:rPr lang="en-US" sz="850" dirty="0">
                <a:solidFill>
                  <a:srgbClr val="374151"/>
                </a:solidFill>
                <a:latin typeface="Calibri" pitchFamily="34" charset="0"/>
                <a:ea typeface="Calibri" pitchFamily="34" charset="-122"/>
                <a:cs typeface="Calibri" pitchFamily="34" charset="-120"/>
              </a:rPr>
              <a:t>“Ignore style, eloquence, length” counters verbosity and stylistic preference bias.</a:t>
            </a:r>
            <a:endParaRPr lang="en-US" sz="850" dirty="0"/>
          </a:p>
        </p:txBody>
      </p:sp>
      <p:sp>
        <p:nvSpPr>
          <p:cNvPr id="39" name="Text 32"/>
          <p:cNvSpPr/>
          <p:nvPr/>
        </p:nvSpPr>
        <p:spPr>
          <a:xfrm>
            <a:off x="6766560" y="4498848"/>
            <a:ext cx="2103120" cy="201168"/>
          </a:xfrm>
          <a:prstGeom prst="rect">
            <a:avLst/>
          </a:prstGeom>
          <a:noFill/>
          <a:ln/>
        </p:spPr>
        <p:txBody>
          <a:bodyPr wrap="square" lIns="0" tIns="0" rIns="0" bIns="0" rtlCol="0" anchor="t"/>
          <a:lstStyle/>
          <a:p>
            <a:pPr indent="0" marL="0">
              <a:buNone/>
            </a:pPr>
            <a:r>
              <a:rPr lang="en-US" sz="750" i="1" dirty="0">
                <a:solidFill>
                  <a:srgbClr val="6B7280"/>
                </a:solidFill>
                <a:latin typeface="Calibri" pitchFamily="34" charset="0"/>
                <a:ea typeface="Calibri" pitchFamily="34" charset="-122"/>
                <a:cs typeface="Calibri" pitchFamily="34" charset="-120"/>
              </a:rPr>
              <a:t>[Zheng 2023]</a:t>
            </a:r>
            <a:endParaRPr lang="en-US" sz="750" dirty="0"/>
          </a:p>
        </p:txBody>
      </p:sp>
      <p:sp>
        <p:nvSpPr>
          <p:cNvPr id="40" name="Text 33"/>
          <p:cNvSpPr/>
          <p:nvPr/>
        </p:nvSpPr>
        <p:spPr>
          <a:xfrm>
            <a:off x="8412480" y="4846320"/>
            <a:ext cx="548640" cy="182880"/>
          </a:xfrm>
          <a:prstGeom prst="rect">
            <a:avLst/>
          </a:prstGeom>
          <a:noFill/>
          <a:ln/>
        </p:spPr>
        <p:txBody>
          <a:bodyPr wrap="square" lIns="0" tIns="0" rIns="0" bIns="0" rtlCol="0" anchor="ctr"/>
          <a:lstStyle/>
          <a:p>
            <a:pPr algn="r" indent="0" marL="0">
              <a:buNone/>
            </a:pPr>
            <a:r>
              <a:rPr lang="en-US" sz="800" dirty="0">
                <a:solidFill>
                  <a:srgbClr val="9CA3AF"/>
                </a:solidFill>
                <a:latin typeface="Calibri" pitchFamily="34" charset="0"/>
                <a:ea typeface="Calibri" pitchFamily="34" charset="-122"/>
                <a:cs typeface="Calibri" pitchFamily="34" charset="-120"/>
              </a:rPr>
              <a:t>4 / 7</a:t>
            </a:r>
            <a:endParaRPr lang="en-US" sz="800" dirty="0"/>
          </a:p>
        </p:txBody>
      </p:sp>
      <p:sp>
        <p:nvSpPr>
          <p:cNvPr id="41" name="Text 34"/>
          <p:cNvSpPr/>
          <p:nvPr/>
        </p:nvSpPr>
        <p:spPr>
          <a:xfrm>
            <a:off x="457200" y="4846320"/>
            <a:ext cx="5486400" cy="182880"/>
          </a:xfrm>
          <a:prstGeom prst="rect">
            <a:avLst/>
          </a:prstGeom>
          <a:noFill/>
          <a:ln/>
        </p:spPr>
        <p:txBody>
          <a:bodyPr wrap="square" lIns="0" tIns="0" rIns="0" bIns="0" rtlCol="0" anchor="ctr"/>
          <a:lstStyle/>
          <a:p>
            <a:pPr indent="0" marL="0">
              <a:buNone/>
            </a:pPr>
            <a:r>
              <a:rPr lang="en-US" sz="800" dirty="0">
                <a:solidFill>
                  <a:srgbClr val="9CA3AF"/>
                </a:solidFill>
                <a:latin typeface="Calibri" pitchFamily="34" charset="0"/>
                <a:ea typeface="Calibri" pitchFamily="34" charset="-122"/>
                <a:cs typeface="Calibri" pitchFamily="34" charset="-120"/>
              </a:rPr>
              <a:t>LLM-as-Judge: Best Practices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600" b="1" dirty="0">
                <a:solidFill>
                  <a:srgbClr val="8B1A1A"/>
                </a:solidFill>
                <a:latin typeface="Cambria" pitchFamily="34" charset="0"/>
                <a:ea typeface="Cambria" pitchFamily="34" charset="-122"/>
                <a:cs typeface="Cambria" pitchFamily="34" charset="-120"/>
              </a:rPr>
              <a:t>Experiment 3 — Jury effect: aggregation wins</a:t>
            </a:r>
            <a:endParaRPr lang="en-US" sz="2600" dirty="0"/>
          </a:p>
        </p:txBody>
      </p:sp>
      <p:sp>
        <p:nvSpPr>
          <p:cNvPr id="3" name="Shape 1"/>
          <p:cNvSpPr/>
          <p:nvPr/>
        </p:nvSpPr>
        <p:spPr>
          <a:xfrm>
            <a:off x="457200" y="804672"/>
            <a:ext cx="822960" cy="45720"/>
          </a:xfrm>
          <a:prstGeom prst="rect">
            <a:avLst/>
          </a:prstGeom>
          <a:solidFill>
            <a:srgbClr val="C9A227"/>
          </a:solidFill>
          <a:ln/>
        </p:spPr>
      </p:sp>
      <p:sp>
        <p:nvSpPr>
          <p:cNvPr id="4" name="Shape 2"/>
          <p:cNvSpPr/>
          <p:nvPr/>
        </p:nvSpPr>
        <p:spPr>
          <a:xfrm>
            <a:off x="228600" y="1051560"/>
            <a:ext cx="1508760" cy="329184"/>
          </a:xfrm>
          <a:prstGeom prst="roundRect">
            <a:avLst>
              <a:gd name="adj" fmla="val 11111"/>
            </a:avLst>
          </a:prstGeom>
          <a:solidFill>
            <a:srgbClr val="EEEEEE"/>
          </a:solidFill>
          <a:ln w="6350">
            <a:solidFill>
              <a:srgbClr val="DDDDDD"/>
            </a:solidFill>
            <a:prstDash val="solid"/>
          </a:ln>
        </p:spPr>
      </p:sp>
      <p:sp>
        <p:nvSpPr>
          <p:cNvPr id="5" name="Text 3"/>
          <p:cNvSpPr/>
          <p:nvPr/>
        </p:nvSpPr>
        <p:spPr>
          <a:xfrm>
            <a:off x="274320" y="1051560"/>
            <a:ext cx="1417320" cy="329184"/>
          </a:xfrm>
          <a:prstGeom prst="rect">
            <a:avLst/>
          </a:prstGeom>
          <a:noFill/>
          <a:ln/>
        </p:spPr>
        <p:txBody>
          <a:bodyPr wrap="square" lIns="0" tIns="0" rIns="0" bIns="0"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Model selection</a:t>
            </a:r>
            <a:endParaRPr lang="en-US" sz="900" dirty="0"/>
          </a:p>
        </p:txBody>
      </p:sp>
      <p:sp>
        <p:nvSpPr>
          <p:cNvPr id="6" name="Shape 4"/>
          <p:cNvSpPr/>
          <p:nvPr/>
        </p:nvSpPr>
        <p:spPr>
          <a:xfrm>
            <a:off x="228600" y="1453896"/>
            <a:ext cx="1508760" cy="329184"/>
          </a:xfrm>
          <a:prstGeom prst="roundRect">
            <a:avLst>
              <a:gd name="adj" fmla="val 11111"/>
            </a:avLst>
          </a:prstGeom>
          <a:solidFill>
            <a:srgbClr val="EEEEEE"/>
          </a:solidFill>
          <a:ln w="6350">
            <a:solidFill>
              <a:srgbClr val="DDDDDD"/>
            </a:solidFill>
            <a:prstDash val="solid"/>
          </a:ln>
        </p:spPr>
      </p:sp>
      <p:sp>
        <p:nvSpPr>
          <p:cNvPr id="7" name="Text 5"/>
          <p:cNvSpPr/>
          <p:nvPr/>
        </p:nvSpPr>
        <p:spPr>
          <a:xfrm>
            <a:off x="274320" y="1453896"/>
            <a:ext cx="1417320" cy="329184"/>
          </a:xfrm>
          <a:prstGeom prst="rect">
            <a:avLst/>
          </a:prstGeom>
          <a:noFill/>
          <a:ln/>
        </p:spPr>
        <p:txBody>
          <a:bodyPr wrap="square" lIns="0" tIns="0" rIns="0" bIns="0"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Structured prompting</a:t>
            </a:r>
            <a:endParaRPr lang="en-US" sz="900" dirty="0"/>
          </a:p>
        </p:txBody>
      </p:sp>
      <p:sp>
        <p:nvSpPr>
          <p:cNvPr id="8" name="Shape 6"/>
          <p:cNvSpPr/>
          <p:nvPr/>
        </p:nvSpPr>
        <p:spPr>
          <a:xfrm>
            <a:off x="228600" y="1856232"/>
            <a:ext cx="1508760" cy="329184"/>
          </a:xfrm>
          <a:prstGeom prst="roundRect">
            <a:avLst>
              <a:gd name="adj" fmla="val 11111"/>
            </a:avLst>
          </a:prstGeom>
          <a:solidFill>
            <a:srgbClr val="EEEEEE"/>
          </a:solidFill>
          <a:ln w="6350">
            <a:solidFill>
              <a:srgbClr val="DDDDDD"/>
            </a:solidFill>
            <a:prstDash val="solid"/>
          </a:ln>
        </p:spPr>
      </p:sp>
      <p:sp>
        <p:nvSpPr>
          <p:cNvPr id="9" name="Text 7"/>
          <p:cNvSpPr/>
          <p:nvPr/>
        </p:nvSpPr>
        <p:spPr>
          <a:xfrm>
            <a:off x="274320" y="1856232"/>
            <a:ext cx="1417320" cy="329184"/>
          </a:xfrm>
          <a:prstGeom prst="rect">
            <a:avLst/>
          </a:prstGeom>
          <a:noFill/>
          <a:ln/>
        </p:spPr>
        <p:txBody>
          <a:bodyPr wrap="square" lIns="0" tIns="0" rIns="0" bIns="0"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Improved task understanding</a:t>
            </a:r>
            <a:endParaRPr lang="en-US" sz="900" dirty="0"/>
          </a:p>
        </p:txBody>
      </p:sp>
      <p:sp>
        <p:nvSpPr>
          <p:cNvPr id="10" name="Shape 8"/>
          <p:cNvSpPr/>
          <p:nvPr/>
        </p:nvSpPr>
        <p:spPr>
          <a:xfrm>
            <a:off x="228600" y="2258568"/>
            <a:ext cx="1508760" cy="329184"/>
          </a:xfrm>
          <a:prstGeom prst="roundRect">
            <a:avLst>
              <a:gd name="adj" fmla="val 11111"/>
            </a:avLst>
          </a:prstGeom>
          <a:solidFill>
            <a:srgbClr val="8B1A1A"/>
          </a:solidFill>
          <a:ln w="6350">
            <a:solidFill>
              <a:srgbClr val="8B1A1A"/>
            </a:solidFill>
            <a:prstDash val="solid"/>
          </a:ln>
        </p:spPr>
      </p:sp>
      <p:sp>
        <p:nvSpPr>
          <p:cNvPr id="11" name="Text 9"/>
          <p:cNvSpPr/>
          <p:nvPr/>
        </p:nvSpPr>
        <p:spPr>
          <a:xfrm>
            <a:off x="274320" y="2258568"/>
            <a:ext cx="141732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Aggregation across judges</a:t>
            </a:r>
            <a:endParaRPr lang="en-US" sz="900" dirty="0"/>
          </a:p>
        </p:txBody>
      </p:sp>
      <p:sp>
        <p:nvSpPr>
          <p:cNvPr id="12" name="Shape 10"/>
          <p:cNvSpPr/>
          <p:nvPr/>
        </p:nvSpPr>
        <p:spPr>
          <a:xfrm>
            <a:off x="228600" y="2660904"/>
            <a:ext cx="1508760" cy="329184"/>
          </a:xfrm>
          <a:prstGeom prst="roundRect">
            <a:avLst>
              <a:gd name="adj" fmla="val 11111"/>
            </a:avLst>
          </a:prstGeom>
          <a:solidFill>
            <a:srgbClr val="8B1A1A"/>
          </a:solidFill>
          <a:ln w="6350">
            <a:solidFill>
              <a:srgbClr val="8B1A1A"/>
            </a:solidFill>
            <a:prstDash val="solid"/>
          </a:ln>
        </p:spPr>
      </p:sp>
      <p:sp>
        <p:nvSpPr>
          <p:cNvPr id="13" name="Text 11"/>
          <p:cNvSpPr/>
          <p:nvPr/>
        </p:nvSpPr>
        <p:spPr>
          <a:xfrm>
            <a:off x="274320" y="2660904"/>
            <a:ext cx="141732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Reporting scores</a:t>
            </a:r>
            <a:endParaRPr lang="en-US" sz="900" dirty="0"/>
          </a:p>
        </p:txBody>
      </p:sp>
      <p:sp>
        <p:nvSpPr>
          <p:cNvPr id="14" name="Shape 12"/>
          <p:cNvSpPr/>
          <p:nvPr/>
        </p:nvSpPr>
        <p:spPr>
          <a:xfrm>
            <a:off x="228600" y="3063240"/>
            <a:ext cx="1508760" cy="329184"/>
          </a:xfrm>
          <a:prstGeom prst="roundRect">
            <a:avLst>
              <a:gd name="adj" fmla="val 11111"/>
            </a:avLst>
          </a:prstGeom>
          <a:solidFill>
            <a:srgbClr val="8B1A1A"/>
          </a:solidFill>
          <a:ln w="6350">
            <a:solidFill>
              <a:srgbClr val="8B1A1A"/>
            </a:solidFill>
            <a:prstDash val="solid"/>
          </a:ln>
        </p:spPr>
      </p:sp>
      <p:sp>
        <p:nvSpPr>
          <p:cNvPr id="15" name="Text 13"/>
          <p:cNvSpPr/>
          <p:nvPr/>
        </p:nvSpPr>
        <p:spPr>
          <a:xfrm>
            <a:off x="274320" y="3063240"/>
            <a:ext cx="141732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Judge evaluation</a:t>
            </a:r>
            <a:endParaRPr lang="en-US" sz="900" dirty="0"/>
          </a:p>
        </p:txBody>
      </p:sp>
      <p:sp>
        <p:nvSpPr>
          <p:cNvPr id="16" name="Text 14"/>
          <p:cNvSpPr/>
          <p:nvPr/>
        </p:nvSpPr>
        <p:spPr>
          <a:xfrm>
            <a:off x="228600" y="868680"/>
            <a:ext cx="1508760" cy="164592"/>
          </a:xfrm>
          <a:prstGeom prst="rect">
            <a:avLst/>
          </a:prstGeom>
          <a:noFill/>
          <a:ln/>
        </p:spPr>
        <p:txBody>
          <a:bodyPr wrap="square" lIns="0" tIns="0" rIns="0" bIns="0" rtlCol="0" anchor="ctr"/>
          <a:lstStyle/>
          <a:p>
            <a:pPr algn="ctr" indent="0" marL="0">
              <a:buNone/>
            </a:pPr>
            <a:r>
              <a:rPr lang="en-US" sz="750" b="1" spc="200" kern="0" dirty="0">
                <a:solidFill>
                  <a:srgbClr val="6B7280"/>
                </a:solidFill>
                <a:latin typeface="Calibri" pitchFamily="34" charset="0"/>
                <a:ea typeface="Calibri" pitchFamily="34" charset="-122"/>
                <a:cs typeface="Calibri" pitchFamily="34" charset="-120"/>
              </a:rPr>
              <a:t>BEST PRACTICES</a:t>
            </a:r>
            <a:endParaRPr lang="en-US" sz="750" dirty="0"/>
          </a:p>
        </p:txBody>
      </p:sp>
      <p:sp>
        <p:nvSpPr>
          <p:cNvPr id="17" name="Shape 15"/>
          <p:cNvSpPr/>
          <p:nvPr/>
        </p:nvSpPr>
        <p:spPr>
          <a:xfrm>
            <a:off x="1920240" y="960120"/>
            <a:ext cx="7040880" cy="822960"/>
          </a:xfrm>
          <a:prstGeom prst="roundRect">
            <a:avLst>
              <a:gd name="adj" fmla="val 5556"/>
            </a:avLst>
          </a:prstGeom>
          <a:solidFill>
            <a:srgbClr val="FBF8F3"/>
          </a:solidFill>
          <a:ln w="12700">
            <a:solidFill>
              <a:srgbClr val="8B1A1A"/>
            </a:solidFill>
            <a:prstDash val="solid"/>
          </a:ln>
        </p:spPr>
      </p:sp>
      <p:pic>
        <p:nvPicPr>
          <p:cNvPr id="18" name="Image 0" descr="preencoded.png">    </p:cNvPr>
          <p:cNvPicPr>
            <a:picLocks noChangeAspect="1"/>
          </p:cNvPicPr>
          <p:nvPr/>
        </p:nvPicPr>
        <p:blipFill>
          <a:blip r:embed="rId1"/>
          <a:stretch>
            <a:fillRect/>
          </a:stretch>
        </p:blipFill>
        <p:spPr>
          <a:xfrm>
            <a:off x="2057400" y="1106424"/>
            <a:ext cx="237744" cy="237744"/>
          </a:xfrm>
          <a:prstGeom prst="rect">
            <a:avLst/>
          </a:prstGeom>
        </p:spPr>
      </p:pic>
      <p:sp>
        <p:nvSpPr>
          <p:cNvPr id="19" name="Text 16"/>
          <p:cNvSpPr/>
          <p:nvPr/>
        </p:nvSpPr>
        <p:spPr>
          <a:xfrm>
            <a:off x="2331720" y="1069848"/>
            <a:ext cx="1828800" cy="228600"/>
          </a:xfrm>
          <a:prstGeom prst="rect">
            <a:avLst/>
          </a:prstGeom>
          <a:noFill/>
          <a:ln/>
        </p:spPr>
        <p:txBody>
          <a:bodyPr wrap="square" lIns="0" tIns="0" rIns="0" bIns="0" rtlCol="0" anchor="ctr"/>
          <a:lstStyle/>
          <a:p>
            <a:pPr indent="0" marL="0">
              <a:buNone/>
            </a:pPr>
            <a:r>
              <a:rPr lang="en-US" sz="900" b="1" spc="200" kern="0" dirty="0">
                <a:solidFill>
                  <a:srgbClr val="D97706"/>
                </a:solidFill>
                <a:latin typeface="Calibri" pitchFamily="34" charset="0"/>
                <a:ea typeface="Calibri" pitchFamily="34" charset="-122"/>
                <a:cs typeface="Calibri" pitchFamily="34" charset="-120"/>
              </a:rPr>
              <a:t>FINDING</a:t>
            </a:r>
            <a:endParaRPr lang="en-US" sz="900" dirty="0"/>
          </a:p>
        </p:txBody>
      </p:sp>
      <p:sp>
        <p:nvSpPr>
          <p:cNvPr id="20" name="Text 17"/>
          <p:cNvSpPr/>
          <p:nvPr/>
        </p:nvSpPr>
        <p:spPr>
          <a:xfrm>
            <a:off x="2331720" y="1307592"/>
            <a:ext cx="6492240" cy="457200"/>
          </a:xfrm>
          <a:prstGeom prst="rect">
            <a:avLst/>
          </a:prstGeom>
          <a:noFill/>
          <a:ln/>
        </p:spPr>
        <p:txBody>
          <a:bodyPr wrap="square" lIns="0" tIns="0" rIns="0" bIns="0" rtlCol="0" anchor="t"/>
          <a:lstStyle/>
          <a:p>
            <a:pPr indent="0" marL="0">
              <a:buNone/>
            </a:pPr>
            <a:r>
              <a:rPr lang="en-US" sz="1050" b="1" dirty="0">
                <a:solidFill>
                  <a:srgbClr val="374151"/>
                </a:solidFill>
                <a:latin typeface="Calibri" pitchFamily="34" charset="0"/>
                <a:ea typeface="Calibri" pitchFamily="34" charset="-122"/>
                <a:cs typeface="Calibri" pitchFamily="34" charset="-120"/>
              </a:rPr>
              <a:t>Multi-model Jury (P4) beats every single-judge configuration.  </a:t>
            </a:r>
            <a:pPr indent="0" marL="0">
              <a:buNone/>
            </a:pPr>
            <a:r>
              <a:rPr lang="en-US" sz="1050" dirty="0">
                <a:solidFill>
                  <a:srgbClr val="374151"/>
                </a:solidFill>
                <a:latin typeface="Calibri" pitchFamily="34" charset="0"/>
                <a:ea typeface="Calibri" pitchFamily="34" charset="-122"/>
                <a:cs typeface="Calibri" pitchFamily="34" charset="-120"/>
              </a:rPr>
              <a:t>RAGTruth: 73.9% acc / 94.1% HCR. HaluEval: 76.3 / 85.4. Heterogeneous panels reduce correlated errors.</a:t>
            </a:r>
            <a:endParaRPr lang="en-US" sz="1050" dirty="0"/>
          </a:p>
        </p:txBody>
      </p:sp>
      <p:sp>
        <p:nvSpPr>
          <p:cNvPr id="21" name="Text 18"/>
          <p:cNvSpPr/>
          <p:nvPr/>
        </p:nvSpPr>
        <p:spPr>
          <a:xfrm>
            <a:off x="1920240" y="1874520"/>
            <a:ext cx="7040880" cy="22860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This motivates three practices around how we combine, report, and validate.</a:t>
            </a:r>
            <a:endParaRPr lang="en-US" sz="1000" dirty="0"/>
          </a:p>
        </p:txBody>
      </p:sp>
      <p:sp>
        <p:nvSpPr>
          <p:cNvPr id="22" name="Shape 19"/>
          <p:cNvSpPr/>
          <p:nvPr/>
        </p:nvSpPr>
        <p:spPr>
          <a:xfrm>
            <a:off x="1920240" y="2194560"/>
            <a:ext cx="7040880" cy="292608"/>
          </a:xfrm>
          <a:prstGeom prst="rect">
            <a:avLst/>
          </a:prstGeom>
          <a:solidFill>
            <a:srgbClr val="8B1A1A"/>
          </a:solidFill>
          <a:ln/>
        </p:spPr>
      </p:sp>
      <p:sp>
        <p:nvSpPr>
          <p:cNvPr id="23" name="Text 20"/>
          <p:cNvSpPr/>
          <p:nvPr/>
        </p:nvSpPr>
        <p:spPr>
          <a:xfrm>
            <a:off x="2029968" y="2194560"/>
            <a:ext cx="6821424" cy="292608"/>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BEST PRACTICES  ·  AGGREGATION · REPORTING · EVALUATION</a:t>
            </a:r>
            <a:endParaRPr lang="en-US" sz="1200" dirty="0"/>
          </a:p>
        </p:txBody>
      </p:sp>
      <p:sp>
        <p:nvSpPr>
          <p:cNvPr id="24" name="Shape 21"/>
          <p:cNvSpPr/>
          <p:nvPr/>
        </p:nvSpPr>
        <p:spPr>
          <a:xfrm>
            <a:off x="1920240" y="2560320"/>
            <a:ext cx="2286000" cy="2377440"/>
          </a:xfrm>
          <a:prstGeom prst="roundRect">
            <a:avLst>
              <a:gd name="adj" fmla="val 2000"/>
            </a:avLst>
          </a:prstGeom>
          <a:solidFill>
            <a:srgbClr val="FBF8F3"/>
          </a:solidFill>
          <a:ln w="9525">
            <a:solidFill>
              <a:srgbClr val="E5E7EB"/>
            </a:solidFill>
            <a:prstDash val="solid"/>
          </a:ln>
        </p:spPr>
      </p:sp>
      <p:sp>
        <p:nvSpPr>
          <p:cNvPr id="25" name="Shape 22"/>
          <p:cNvSpPr/>
          <p:nvPr/>
        </p:nvSpPr>
        <p:spPr>
          <a:xfrm>
            <a:off x="2011680" y="2651760"/>
            <a:ext cx="292608" cy="292608"/>
          </a:xfrm>
          <a:prstGeom prst="oval">
            <a:avLst/>
          </a:prstGeom>
          <a:solidFill>
            <a:srgbClr val="8B1A1A"/>
          </a:solidFill>
          <a:ln/>
        </p:spPr>
      </p:sp>
      <p:pic>
        <p:nvPicPr>
          <p:cNvPr id="26" name="Image 1" descr="preencoded.png">    </p:cNvPr>
          <p:cNvPicPr>
            <a:picLocks noChangeAspect="1"/>
          </p:cNvPicPr>
          <p:nvPr/>
        </p:nvPicPr>
        <p:blipFill>
          <a:blip r:embed="rId2"/>
          <a:stretch>
            <a:fillRect/>
          </a:stretch>
        </p:blipFill>
        <p:spPr>
          <a:xfrm>
            <a:off x="2066544" y="2706624"/>
            <a:ext cx="182880" cy="182880"/>
          </a:xfrm>
          <a:prstGeom prst="rect">
            <a:avLst/>
          </a:prstGeom>
        </p:spPr>
      </p:pic>
      <p:sp>
        <p:nvSpPr>
          <p:cNvPr id="27" name="Text 23"/>
          <p:cNvSpPr/>
          <p:nvPr/>
        </p:nvSpPr>
        <p:spPr>
          <a:xfrm>
            <a:off x="2377440" y="2633472"/>
            <a:ext cx="1737360" cy="329184"/>
          </a:xfrm>
          <a:prstGeom prst="rect">
            <a:avLst/>
          </a:prstGeom>
          <a:noFill/>
          <a:ln/>
        </p:spPr>
        <p:txBody>
          <a:bodyPr wrap="square" lIns="0" tIns="0" rIns="0" bIns="0" rtlCol="0" anchor="ctr"/>
          <a:lstStyle/>
          <a:p>
            <a:pPr indent="0" marL="0">
              <a:buNone/>
            </a:pPr>
            <a:r>
              <a:rPr lang="en-US" sz="1100" b="1" dirty="0">
                <a:solidFill>
                  <a:srgbClr val="8B1A1A"/>
                </a:solidFill>
                <a:latin typeface="Cambria" pitchFamily="34" charset="0"/>
                <a:ea typeface="Cambria" pitchFamily="34" charset="-122"/>
                <a:cs typeface="Cambria" pitchFamily="34" charset="-120"/>
              </a:rPr>
              <a:t>Aggregation across judges</a:t>
            </a:r>
            <a:endParaRPr lang="en-US" sz="1100" dirty="0"/>
          </a:p>
        </p:txBody>
      </p:sp>
      <p:sp>
        <p:nvSpPr>
          <p:cNvPr id="28" name="Text 24"/>
          <p:cNvSpPr/>
          <p:nvPr/>
        </p:nvSpPr>
        <p:spPr>
          <a:xfrm>
            <a:off x="2029968" y="3017520"/>
            <a:ext cx="2066544" cy="1371600"/>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374151"/>
                </a:solidFill>
                <a:latin typeface="Calibri" pitchFamily="34" charset="0"/>
                <a:ea typeface="Calibri" pitchFamily="34" charset="-122"/>
                <a:cs typeface="Calibri" pitchFamily="34" charset="-120"/>
              </a:rPr>
              <a:t>Heterogeneous panels reduce correlated errors</a:t>
            </a:r>
            <a:endParaRPr lang="en-US" sz="900" dirty="0"/>
          </a:p>
          <a:p>
            <a:pPr marL="342900" indent="-342900">
              <a:spcAft>
                <a:spcPts val="300"/>
              </a:spcAft>
              <a:buSzPct val="100000"/>
              <a:buChar char="■"/>
            </a:pPr>
            <a:r>
              <a:rPr lang="en-US" sz="900" dirty="0">
                <a:solidFill>
                  <a:srgbClr val="374151"/>
                </a:solidFill>
                <a:latin typeface="Calibri" pitchFamily="34" charset="0"/>
                <a:ea typeface="Calibri" pitchFamily="34" charset="-122"/>
                <a:cs typeface="Calibri" pitchFamily="34" charset="-120"/>
              </a:rPr>
              <a:t>Majority voting, reliability-weighted</a:t>
            </a:r>
            <a:endParaRPr lang="en-US" sz="900" dirty="0"/>
          </a:p>
          <a:p>
            <a:pPr marL="342900" indent="-342900">
              <a:spcAft>
                <a:spcPts val="300"/>
              </a:spcAft>
              <a:buSzPct val="100000"/>
              <a:buChar char="■"/>
            </a:pPr>
            <a:r>
              <a:rPr lang="en-US" sz="900" dirty="0">
                <a:solidFill>
                  <a:srgbClr val="374151"/>
                </a:solidFill>
                <a:latin typeface="Calibri" pitchFamily="34" charset="0"/>
                <a:ea typeface="Calibri" pitchFamily="34" charset="-122"/>
                <a:cs typeface="Calibri" pitchFamily="34" charset="-120"/>
              </a:rPr>
              <a:t>PoLL (Haiku + Command R + GPT-3.5) ≈ a large judge</a:t>
            </a:r>
            <a:endParaRPr lang="en-US" sz="900" dirty="0"/>
          </a:p>
        </p:txBody>
      </p:sp>
      <p:sp>
        <p:nvSpPr>
          <p:cNvPr id="29" name="Text 25"/>
          <p:cNvSpPr/>
          <p:nvPr/>
        </p:nvSpPr>
        <p:spPr>
          <a:xfrm>
            <a:off x="2029968" y="4480560"/>
            <a:ext cx="2066544" cy="411480"/>
          </a:xfrm>
          <a:prstGeom prst="rect">
            <a:avLst/>
          </a:prstGeom>
          <a:noFill/>
          <a:ln/>
        </p:spPr>
        <p:txBody>
          <a:bodyPr wrap="square" lIns="0" tIns="0" rIns="0" bIns="0" rtlCol="0" anchor="t"/>
          <a:lstStyle/>
          <a:p>
            <a:pPr indent="0" marL="0">
              <a:buNone/>
            </a:pPr>
            <a:r>
              <a:rPr lang="en-US" sz="750" i="1" dirty="0">
                <a:solidFill>
                  <a:srgbClr val="6B7280"/>
                </a:solidFill>
                <a:latin typeface="Calibri" pitchFamily="34" charset="0"/>
                <a:ea typeface="Calibri" pitchFamily="34" charset="-122"/>
                <a:cs typeface="Calibri" pitchFamily="34" charset="-120"/>
              </a:rPr>
              <a:t>[Verga 2024; Dawid &amp; Skene 1979; Whitehill 2009]</a:t>
            </a:r>
            <a:endParaRPr lang="en-US" sz="750" dirty="0"/>
          </a:p>
        </p:txBody>
      </p:sp>
      <p:sp>
        <p:nvSpPr>
          <p:cNvPr id="30" name="Shape 26"/>
          <p:cNvSpPr/>
          <p:nvPr/>
        </p:nvSpPr>
        <p:spPr>
          <a:xfrm>
            <a:off x="4297680" y="2560320"/>
            <a:ext cx="2286000" cy="2377440"/>
          </a:xfrm>
          <a:prstGeom prst="roundRect">
            <a:avLst>
              <a:gd name="adj" fmla="val 2000"/>
            </a:avLst>
          </a:prstGeom>
          <a:solidFill>
            <a:srgbClr val="FBF8F3"/>
          </a:solidFill>
          <a:ln w="9525">
            <a:solidFill>
              <a:srgbClr val="E5E7EB"/>
            </a:solidFill>
            <a:prstDash val="solid"/>
          </a:ln>
        </p:spPr>
      </p:sp>
      <p:sp>
        <p:nvSpPr>
          <p:cNvPr id="31" name="Shape 27"/>
          <p:cNvSpPr/>
          <p:nvPr/>
        </p:nvSpPr>
        <p:spPr>
          <a:xfrm>
            <a:off x="4389120" y="2651760"/>
            <a:ext cx="292608" cy="292608"/>
          </a:xfrm>
          <a:prstGeom prst="oval">
            <a:avLst/>
          </a:prstGeom>
          <a:solidFill>
            <a:srgbClr val="8B1A1A"/>
          </a:solidFill>
          <a:ln/>
        </p:spPr>
      </p:sp>
      <p:pic>
        <p:nvPicPr>
          <p:cNvPr id="32" name="Image 2" descr="preencoded.png">    </p:cNvPr>
          <p:cNvPicPr>
            <a:picLocks noChangeAspect="1"/>
          </p:cNvPicPr>
          <p:nvPr/>
        </p:nvPicPr>
        <p:blipFill>
          <a:blip r:embed="rId3"/>
          <a:stretch>
            <a:fillRect/>
          </a:stretch>
        </p:blipFill>
        <p:spPr>
          <a:xfrm>
            <a:off x="4443984" y="2706624"/>
            <a:ext cx="182880" cy="182880"/>
          </a:xfrm>
          <a:prstGeom prst="rect">
            <a:avLst/>
          </a:prstGeom>
        </p:spPr>
      </p:pic>
      <p:sp>
        <p:nvSpPr>
          <p:cNvPr id="33" name="Text 28"/>
          <p:cNvSpPr/>
          <p:nvPr/>
        </p:nvSpPr>
        <p:spPr>
          <a:xfrm>
            <a:off x="4754880" y="2633472"/>
            <a:ext cx="1737360" cy="329184"/>
          </a:xfrm>
          <a:prstGeom prst="rect">
            <a:avLst/>
          </a:prstGeom>
          <a:noFill/>
          <a:ln/>
        </p:spPr>
        <p:txBody>
          <a:bodyPr wrap="square" lIns="0" tIns="0" rIns="0" bIns="0" rtlCol="0" anchor="ctr"/>
          <a:lstStyle/>
          <a:p>
            <a:pPr indent="0" marL="0">
              <a:buNone/>
            </a:pPr>
            <a:r>
              <a:rPr lang="en-US" sz="1100" b="1" dirty="0">
                <a:solidFill>
                  <a:srgbClr val="8B1A1A"/>
                </a:solidFill>
                <a:latin typeface="Cambria" pitchFamily="34" charset="0"/>
                <a:ea typeface="Cambria" pitchFamily="34" charset="-122"/>
                <a:cs typeface="Cambria" pitchFamily="34" charset="-120"/>
              </a:rPr>
              <a:t>Reporting scores</a:t>
            </a:r>
            <a:endParaRPr lang="en-US" sz="1100" dirty="0"/>
          </a:p>
        </p:txBody>
      </p:sp>
      <p:sp>
        <p:nvSpPr>
          <p:cNvPr id="34" name="Text 29"/>
          <p:cNvSpPr/>
          <p:nvPr/>
        </p:nvSpPr>
        <p:spPr>
          <a:xfrm>
            <a:off x="4407408" y="3017520"/>
            <a:ext cx="2066544" cy="1371600"/>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374151"/>
                </a:solidFill>
                <a:latin typeface="Calibri" pitchFamily="34" charset="0"/>
                <a:ea typeface="Calibri" pitchFamily="34" charset="-122"/>
                <a:cs typeface="Calibri" pitchFamily="34" charset="-120"/>
              </a:rPr>
              <a:t>Ratio: supported claims / total claims</a:t>
            </a:r>
            <a:endParaRPr lang="en-US" sz="900" dirty="0"/>
          </a:p>
          <a:p>
            <a:pPr marL="342900" indent="-342900">
              <a:spcAft>
                <a:spcPts val="300"/>
              </a:spcAft>
              <a:buSzPct val="100000"/>
              <a:buChar char="■"/>
            </a:pPr>
            <a:r>
              <a:rPr lang="en-US" sz="900" dirty="0">
                <a:solidFill>
                  <a:srgbClr val="374151"/>
                </a:solidFill>
                <a:latin typeface="Calibri" pitchFamily="34" charset="0"/>
                <a:ea typeface="Calibri" pitchFamily="34" charset="-122"/>
                <a:cs typeface="Calibri" pitchFamily="34" charset="-120"/>
              </a:rPr>
              <a:t>Rubric 1–5 when partial quality matters</a:t>
            </a:r>
            <a:endParaRPr lang="en-US" sz="900" dirty="0"/>
          </a:p>
          <a:p>
            <a:pPr marL="342900" indent="-342900">
              <a:spcAft>
                <a:spcPts val="300"/>
              </a:spcAft>
              <a:buSzPct val="100000"/>
              <a:buChar char="■"/>
            </a:pPr>
            <a:r>
              <a:rPr lang="en-US" sz="900" dirty="0">
                <a:solidFill>
                  <a:srgbClr val="374151"/>
                </a:solidFill>
                <a:latin typeface="Calibri" pitchFamily="34" charset="0"/>
                <a:ea typeface="Calibri" pitchFamily="34" charset="-122"/>
                <a:cs typeface="Calibri" pitchFamily="34" charset="-120"/>
              </a:rPr>
              <a:t>Transparent, evidence-grounded scoring</a:t>
            </a:r>
            <a:endParaRPr lang="en-US" sz="900" dirty="0"/>
          </a:p>
        </p:txBody>
      </p:sp>
      <p:sp>
        <p:nvSpPr>
          <p:cNvPr id="35" name="Text 30"/>
          <p:cNvSpPr/>
          <p:nvPr/>
        </p:nvSpPr>
        <p:spPr>
          <a:xfrm>
            <a:off x="4407408" y="4480560"/>
            <a:ext cx="2066544" cy="411480"/>
          </a:xfrm>
          <a:prstGeom prst="rect">
            <a:avLst/>
          </a:prstGeom>
          <a:noFill/>
          <a:ln/>
        </p:spPr>
        <p:txBody>
          <a:bodyPr wrap="square" lIns="0" tIns="0" rIns="0" bIns="0" rtlCol="0" anchor="t"/>
          <a:lstStyle/>
          <a:p>
            <a:pPr indent="0" marL="0">
              <a:buNone/>
            </a:pPr>
            <a:r>
              <a:rPr lang="en-US" sz="750" i="1" dirty="0">
                <a:solidFill>
                  <a:srgbClr val="6B7280"/>
                </a:solidFill>
                <a:latin typeface="Calibri" pitchFamily="34" charset="0"/>
                <a:ea typeface="Calibri" pitchFamily="34" charset="-122"/>
                <a:cs typeface="Calibri" pitchFamily="34" charset="-120"/>
              </a:rPr>
              <a:t>[Es 2023 RAGAS; Gu 2024]</a:t>
            </a:r>
            <a:endParaRPr lang="en-US" sz="750" dirty="0"/>
          </a:p>
        </p:txBody>
      </p:sp>
      <p:sp>
        <p:nvSpPr>
          <p:cNvPr id="36" name="Shape 31"/>
          <p:cNvSpPr/>
          <p:nvPr/>
        </p:nvSpPr>
        <p:spPr>
          <a:xfrm>
            <a:off x="6675120" y="2560320"/>
            <a:ext cx="2286000" cy="2377440"/>
          </a:xfrm>
          <a:prstGeom prst="roundRect">
            <a:avLst>
              <a:gd name="adj" fmla="val 2000"/>
            </a:avLst>
          </a:prstGeom>
          <a:solidFill>
            <a:srgbClr val="FBF8F3"/>
          </a:solidFill>
          <a:ln w="9525">
            <a:solidFill>
              <a:srgbClr val="E5E7EB"/>
            </a:solidFill>
            <a:prstDash val="solid"/>
          </a:ln>
        </p:spPr>
      </p:sp>
      <p:sp>
        <p:nvSpPr>
          <p:cNvPr id="37" name="Shape 32"/>
          <p:cNvSpPr/>
          <p:nvPr/>
        </p:nvSpPr>
        <p:spPr>
          <a:xfrm>
            <a:off x="6766560" y="2651760"/>
            <a:ext cx="292608" cy="292608"/>
          </a:xfrm>
          <a:prstGeom prst="oval">
            <a:avLst/>
          </a:prstGeom>
          <a:solidFill>
            <a:srgbClr val="8B1A1A"/>
          </a:solidFill>
          <a:ln/>
        </p:spPr>
      </p:sp>
      <p:pic>
        <p:nvPicPr>
          <p:cNvPr id="38" name="Image 3" descr="preencoded.png">    </p:cNvPr>
          <p:cNvPicPr>
            <a:picLocks noChangeAspect="1"/>
          </p:cNvPicPr>
          <p:nvPr/>
        </p:nvPicPr>
        <p:blipFill>
          <a:blip r:embed="rId4"/>
          <a:stretch>
            <a:fillRect/>
          </a:stretch>
        </p:blipFill>
        <p:spPr>
          <a:xfrm>
            <a:off x="6821424" y="2706624"/>
            <a:ext cx="182880" cy="182880"/>
          </a:xfrm>
          <a:prstGeom prst="rect">
            <a:avLst/>
          </a:prstGeom>
        </p:spPr>
      </p:pic>
      <p:sp>
        <p:nvSpPr>
          <p:cNvPr id="39" name="Text 33"/>
          <p:cNvSpPr/>
          <p:nvPr/>
        </p:nvSpPr>
        <p:spPr>
          <a:xfrm>
            <a:off x="7132320" y="2633472"/>
            <a:ext cx="1737360" cy="329184"/>
          </a:xfrm>
          <a:prstGeom prst="rect">
            <a:avLst/>
          </a:prstGeom>
          <a:noFill/>
          <a:ln/>
        </p:spPr>
        <p:txBody>
          <a:bodyPr wrap="square" lIns="0" tIns="0" rIns="0" bIns="0" rtlCol="0" anchor="ctr"/>
          <a:lstStyle/>
          <a:p>
            <a:pPr indent="0" marL="0">
              <a:buNone/>
            </a:pPr>
            <a:r>
              <a:rPr lang="en-US" sz="1100" b="1" dirty="0">
                <a:solidFill>
                  <a:srgbClr val="8B1A1A"/>
                </a:solidFill>
                <a:latin typeface="Cambria" pitchFamily="34" charset="0"/>
                <a:ea typeface="Cambria" pitchFamily="34" charset="-122"/>
                <a:cs typeface="Cambria" pitchFamily="34" charset="-120"/>
              </a:rPr>
              <a:t>Judge evaluation</a:t>
            </a:r>
            <a:endParaRPr lang="en-US" sz="1100" dirty="0"/>
          </a:p>
        </p:txBody>
      </p:sp>
      <p:sp>
        <p:nvSpPr>
          <p:cNvPr id="40" name="Text 34"/>
          <p:cNvSpPr/>
          <p:nvPr/>
        </p:nvSpPr>
        <p:spPr>
          <a:xfrm>
            <a:off x="6784848" y="3017520"/>
            <a:ext cx="2066544" cy="1371600"/>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374151"/>
                </a:solidFill>
                <a:latin typeface="Calibri" pitchFamily="34" charset="0"/>
                <a:ea typeface="Calibri" pitchFamily="34" charset="-122"/>
                <a:cs typeface="Calibri" pitchFamily="34" charset="-120"/>
              </a:rPr>
              <a:t>Report HCR / ICR + accuracy, F1, Spearman</a:t>
            </a:r>
            <a:endParaRPr lang="en-US" sz="900" dirty="0"/>
          </a:p>
          <a:p>
            <a:pPr marL="342900" indent="-342900">
              <a:spcAft>
                <a:spcPts val="300"/>
              </a:spcAft>
              <a:buSzPct val="100000"/>
              <a:buChar char="■"/>
            </a:pPr>
            <a:r>
              <a:rPr lang="en-US" sz="900" dirty="0">
                <a:solidFill>
                  <a:srgbClr val="374151"/>
                </a:solidFill>
                <a:latin typeface="Calibri" pitchFamily="34" charset="0"/>
                <a:ea typeface="Calibri" pitchFamily="34" charset="-122"/>
                <a:cs typeface="Calibri" pitchFamily="34" charset="-120"/>
              </a:rPr>
              <a:t>Validate against human / gold labels</a:t>
            </a:r>
            <a:endParaRPr lang="en-US" sz="900" dirty="0"/>
          </a:p>
          <a:p>
            <a:pPr marL="342900" indent="-342900">
              <a:spcAft>
                <a:spcPts val="300"/>
              </a:spcAft>
              <a:buSzPct val="100000"/>
              <a:buChar char="■"/>
            </a:pPr>
            <a:r>
              <a:rPr lang="en-US" sz="900" dirty="0">
                <a:solidFill>
                  <a:srgbClr val="374151"/>
                </a:solidFill>
                <a:latin typeface="Calibri" pitchFamily="34" charset="0"/>
                <a:ea typeface="Calibri" pitchFamily="34" charset="-122"/>
                <a:cs typeface="Calibri" pitchFamily="34" charset="-120"/>
              </a:rPr>
              <a:t>Keep human annotations independent</a:t>
            </a:r>
            <a:endParaRPr lang="en-US" sz="900" dirty="0"/>
          </a:p>
        </p:txBody>
      </p:sp>
      <p:sp>
        <p:nvSpPr>
          <p:cNvPr id="41" name="Text 35"/>
          <p:cNvSpPr/>
          <p:nvPr/>
        </p:nvSpPr>
        <p:spPr>
          <a:xfrm>
            <a:off x="6784848" y="4480560"/>
            <a:ext cx="2066544" cy="411480"/>
          </a:xfrm>
          <a:prstGeom prst="rect">
            <a:avLst/>
          </a:prstGeom>
          <a:noFill/>
          <a:ln/>
        </p:spPr>
        <p:txBody>
          <a:bodyPr wrap="square" lIns="0" tIns="0" rIns="0" bIns="0" rtlCol="0" anchor="t"/>
          <a:lstStyle/>
          <a:p>
            <a:pPr indent="0" marL="0">
              <a:buNone/>
            </a:pPr>
            <a:r>
              <a:rPr lang="en-US" sz="750" i="1" dirty="0">
                <a:solidFill>
                  <a:srgbClr val="6B7280"/>
                </a:solidFill>
                <a:latin typeface="Calibri" pitchFamily="34" charset="0"/>
                <a:ea typeface="Calibri" pitchFamily="34" charset="-122"/>
                <a:cs typeface="Calibri" pitchFamily="34" charset="-120"/>
              </a:rPr>
              <a:t>[Zheng 2023; Liu 2023; Niu 2024; Li 2023; Tamber 2025]</a:t>
            </a:r>
            <a:endParaRPr lang="en-US" sz="750" dirty="0"/>
          </a:p>
        </p:txBody>
      </p:sp>
      <p:sp>
        <p:nvSpPr>
          <p:cNvPr id="42" name="Text 36"/>
          <p:cNvSpPr/>
          <p:nvPr/>
        </p:nvSpPr>
        <p:spPr>
          <a:xfrm>
            <a:off x="8412480" y="4846320"/>
            <a:ext cx="548640" cy="182880"/>
          </a:xfrm>
          <a:prstGeom prst="rect">
            <a:avLst/>
          </a:prstGeom>
          <a:noFill/>
          <a:ln/>
        </p:spPr>
        <p:txBody>
          <a:bodyPr wrap="square" lIns="0" tIns="0" rIns="0" bIns="0" rtlCol="0" anchor="ctr"/>
          <a:lstStyle/>
          <a:p>
            <a:pPr algn="r" indent="0" marL="0">
              <a:buNone/>
            </a:pPr>
            <a:r>
              <a:rPr lang="en-US" sz="800" dirty="0">
                <a:solidFill>
                  <a:srgbClr val="9CA3AF"/>
                </a:solidFill>
                <a:latin typeface="Calibri" pitchFamily="34" charset="0"/>
                <a:ea typeface="Calibri" pitchFamily="34" charset="-122"/>
                <a:cs typeface="Calibri" pitchFamily="34" charset="-120"/>
              </a:rPr>
              <a:t>5 / 7</a:t>
            </a:r>
            <a:endParaRPr lang="en-US" sz="800" dirty="0"/>
          </a:p>
        </p:txBody>
      </p:sp>
      <p:sp>
        <p:nvSpPr>
          <p:cNvPr id="43" name="Text 37"/>
          <p:cNvSpPr/>
          <p:nvPr/>
        </p:nvSpPr>
        <p:spPr>
          <a:xfrm>
            <a:off x="457200" y="4846320"/>
            <a:ext cx="5486400" cy="182880"/>
          </a:xfrm>
          <a:prstGeom prst="rect">
            <a:avLst/>
          </a:prstGeom>
          <a:noFill/>
          <a:ln/>
        </p:spPr>
        <p:txBody>
          <a:bodyPr wrap="square" lIns="0" tIns="0" rIns="0" bIns="0" rtlCol="0" anchor="ctr"/>
          <a:lstStyle/>
          <a:p>
            <a:pPr indent="0" marL="0">
              <a:buNone/>
            </a:pPr>
            <a:r>
              <a:rPr lang="en-US" sz="800" dirty="0">
                <a:solidFill>
                  <a:srgbClr val="9CA3AF"/>
                </a:solidFill>
                <a:latin typeface="Calibri" pitchFamily="34" charset="0"/>
                <a:ea typeface="Calibri" pitchFamily="34" charset="-122"/>
                <a:cs typeface="Calibri" pitchFamily="34" charset="-120"/>
              </a:rPr>
              <a:t>LLM-as-Judge: Best Practices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600" b="1" dirty="0">
                <a:solidFill>
                  <a:srgbClr val="8B1A1A"/>
                </a:solidFill>
                <a:latin typeface="Cambria" pitchFamily="34" charset="0"/>
                <a:ea typeface="Cambria" pitchFamily="34" charset="-122"/>
                <a:cs typeface="Cambria" pitchFamily="34" charset="-120"/>
              </a:rPr>
              <a:t>Experiment 4 — Does it hold on our own data?</a:t>
            </a:r>
            <a:endParaRPr lang="en-US" sz="2600" dirty="0"/>
          </a:p>
        </p:txBody>
      </p:sp>
      <p:sp>
        <p:nvSpPr>
          <p:cNvPr id="3" name="Shape 1"/>
          <p:cNvSpPr/>
          <p:nvPr/>
        </p:nvSpPr>
        <p:spPr>
          <a:xfrm>
            <a:off x="457200" y="804672"/>
            <a:ext cx="822960" cy="45720"/>
          </a:xfrm>
          <a:prstGeom prst="rect">
            <a:avLst/>
          </a:prstGeom>
          <a:solidFill>
            <a:srgbClr val="C9A227"/>
          </a:solidFill>
          <a:ln/>
        </p:spPr>
      </p:sp>
      <p:sp>
        <p:nvSpPr>
          <p:cNvPr id="4" name="Shape 2"/>
          <p:cNvSpPr/>
          <p:nvPr/>
        </p:nvSpPr>
        <p:spPr>
          <a:xfrm>
            <a:off x="457200" y="960120"/>
            <a:ext cx="8229600" cy="292608"/>
          </a:xfrm>
          <a:prstGeom prst="rect">
            <a:avLst/>
          </a:prstGeom>
          <a:solidFill>
            <a:srgbClr val="8B1A1A"/>
          </a:solidFill>
          <a:ln/>
        </p:spPr>
      </p:sp>
      <p:sp>
        <p:nvSpPr>
          <p:cNvPr id="5" name="Text 3"/>
          <p:cNvSpPr/>
          <p:nvPr/>
        </p:nvSpPr>
        <p:spPr>
          <a:xfrm>
            <a:off x="566928" y="960120"/>
            <a:ext cx="8010144" cy="292608"/>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SETUP</a:t>
            </a:r>
            <a:endParaRPr lang="en-US" sz="1200" dirty="0"/>
          </a:p>
        </p:txBody>
      </p:sp>
      <p:sp>
        <p:nvSpPr>
          <p:cNvPr id="6" name="Text 4"/>
          <p:cNvSpPr/>
          <p:nvPr/>
        </p:nvSpPr>
        <p:spPr>
          <a:xfrm>
            <a:off x="457200" y="1289304"/>
            <a:ext cx="8229600" cy="411480"/>
          </a:xfrm>
          <a:prstGeom prst="rect">
            <a:avLst/>
          </a:prstGeom>
          <a:noFill/>
          <a:ln/>
        </p:spPr>
        <p:txBody>
          <a:bodyPr wrap="square" lIns="0" tIns="0" rIns="0" bIns="0" rtlCol="0" anchor="t"/>
          <a:lstStyle/>
          <a:p>
            <a:pPr indent="0" marL="0">
              <a:buNone/>
            </a:pPr>
            <a:r>
              <a:rPr lang="en-US" sz="1050" b="1" dirty="0">
                <a:solidFill>
                  <a:srgbClr val="374151"/>
                </a:solidFill>
                <a:latin typeface="Calibri" pitchFamily="34" charset="0"/>
                <a:ea typeface="Calibri" pitchFamily="34" charset="-122"/>
                <a:cs typeface="Calibri" pitchFamily="34" charset="-120"/>
              </a:rPr>
              <a:t>Summarization  </a:t>
            </a:r>
            <a:pPr indent="0" marL="0">
              <a:buNone/>
            </a:pPr>
            <a:r>
              <a:rPr lang="en-US" sz="1050" dirty="0">
                <a:solidFill>
                  <a:srgbClr val="374151"/>
                </a:solidFill>
                <a:latin typeface="Calibri" pitchFamily="34" charset="0"/>
                <a:ea typeface="Calibri" pitchFamily="34" charset="-122"/>
                <a:cs typeface="Calibri" pitchFamily="34" charset="-120"/>
              </a:rPr>
              <a:t>193 summaries (103 faithful, 90 with injected hallucinations).  </a:t>
            </a:r>
            <a:pPr indent="0" marL="0">
              <a:buNone/>
            </a:pPr>
            <a:r>
              <a:rPr lang="en-US" sz="1050" b="1" dirty="0">
                <a:solidFill>
                  <a:srgbClr val="374151"/>
                </a:solidFill>
                <a:latin typeface="Calibri" pitchFamily="34" charset="0"/>
                <a:ea typeface="Calibri" pitchFamily="34" charset="-122"/>
                <a:cs typeface="Calibri" pitchFamily="34" charset="-120"/>
              </a:rPr>
              <a:t>RAG  </a:t>
            </a:r>
            <a:pPr indent="0" marL="0">
              <a:buNone/>
            </a:pPr>
            <a:r>
              <a:rPr lang="en-US" sz="1050" dirty="0">
                <a:solidFill>
                  <a:srgbClr val="374151"/>
                </a:solidFill>
                <a:latin typeface="Calibri" pitchFamily="34" charset="0"/>
                <a:ea typeface="Calibri" pitchFamily="34" charset="-122"/>
                <a:cs typeface="Calibri" pitchFamily="34" charset="-120"/>
              </a:rPr>
              <a:t>295 summaries (205 faithful, 90 injected). </a:t>
            </a:r>
            <a:pPr indent="0" marL="0">
              <a:buNone/>
            </a:pPr>
            <a:r>
              <a:rPr lang="en-US" sz="1050" i="1" dirty="0">
                <a:solidFill>
                  <a:srgbClr val="6B7280"/>
                </a:solidFill>
                <a:latin typeface="Calibri" pitchFamily="34" charset="0"/>
                <a:ea typeface="Calibri" pitchFamily="34" charset="-122"/>
                <a:cs typeface="Calibri" pitchFamily="34" charset="-120"/>
              </a:rPr>
              <a:t>Severity levels: subtle · moderate · aggressive. Judged with P4 prompt.</a:t>
            </a:r>
            <a:endParaRPr lang="en-US" sz="1050" dirty="0"/>
          </a:p>
        </p:txBody>
      </p:sp>
      <p:sp>
        <p:nvSpPr>
          <p:cNvPr id="7" name="Shape 5"/>
          <p:cNvSpPr/>
          <p:nvPr/>
        </p:nvSpPr>
        <p:spPr>
          <a:xfrm>
            <a:off x="457200" y="1874520"/>
            <a:ext cx="8229600" cy="292608"/>
          </a:xfrm>
          <a:prstGeom prst="rect">
            <a:avLst/>
          </a:prstGeom>
          <a:solidFill>
            <a:srgbClr val="8B1A1A"/>
          </a:solidFill>
          <a:ln/>
        </p:spPr>
      </p:sp>
      <p:sp>
        <p:nvSpPr>
          <p:cNvPr id="8" name="Text 6"/>
          <p:cNvSpPr/>
          <p:nvPr/>
        </p:nvSpPr>
        <p:spPr>
          <a:xfrm>
            <a:off x="566928" y="1874520"/>
            <a:ext cx="8010144" cy="292608"/>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RESULTS  —  ACCURACY / RECALL / F1</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2203704"/>
          <a:ext cx="8229600" cy="914400"/>
        </p:xfrm>
        <a:graphic>
          <a:graphicData uri="http://schemas.openxmlformats.org/drawingml/2006/table">
            <a:tbl>
              <a:tblPr/>
              <a:tblGrid>
                <a:gridCol w="2194560"/>
                <a:gridCol w="3017520"/>
                <a:gridCol w="3017520"/>
              </a:tblGrid>
              <a:tr h="27432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Severity</a:t>
                      </a:r>
                      <a:endParaRPr lang="en-US" sz="10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6B131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Summarization</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Acc / Rec / F1</a:t>
                      </a:r>
                      <a:endParaRPr lang="en-US" sz="10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6B131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RAG</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Acc / Rec / F1</a:t>
                      </a:r>
                      <a:endParaRPr lang="en-US" sz="10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6B1313"/>
                    </a:solidFill>
                  </a:tcPr>
                </a:tc>
              </a:tr>
              <a:tr h="274320">
                <a:tc>
                  <a:txBody>
                    <a:bodyPr/>
                    <a:lstStyle/>
                    <a:p>
                      <a:pPr algn="ctr" indent="0" marL="0">
                        <a:buNone/>
                      </a:pPr>
                      <a:r>
                        <a:rPr lang="en-US" sz="1000" i="1" dirty="0">
                          <a:solidFill>
                            <a:srgbClr val="374151"/>
                          </a:solidFill>
                          <a:latin typeface="Calibri" pitchFamily="34" charset="0"/>
                          <a:ea typeface="Calibri" pitchFamily="34" charset="-122"/>
                          <a:cs typeface="Calibri" pitchFamily="34" charset="-120"/>
                        </a:rPr>
                        <a:t>LLM vs Ground Truth</a:t>
                      </a:r>
                      <a:endParaRPr lang="en-US" sz="10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374151"/>
                          </a:solidFill>
                          <a:latin typeface="Calibri" pitchFamily="34" charset="0"/>
                          <a:ea typeface="Calibri" pitchFamily="34" charset="-122"/>
                          <a:cs typeface="Calibri" pitchFamily="34" charset="-120"/>
                        </a:rPr>
                        <a:t>0.8445 / 0.8351 / 0.8351</a:t>
                      </a:r>
                      <a:endParaRPr lang="en-US" sz="10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374151"/>
                          </a:solidFill>
                          <a:latin typeface="Calibri" pitchFamily="34" charset="0"/>
                          <a:ea typeface="Calibri" pitchFamily="34" charset="-122"/>
                          <a:cs typeface="Calibri" pitchFamily="34" charset="-120"/>
                        </a:rPr>
                        <a:t>0.8920 / 0.9200 / 0.9100</a:t>
                      </a:r>
                      <a:endParaRPr lang="en-US" sz="10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000" dirty="0">
                          <a:solidFill>
                            <a:srgbClr val="374151"/>
                          </a:solidFill>
                          <a:latin typeface="Calibri" pitchFamily="34" charset="0"/>
                          <a:ea typeface="Calibri" pitchFamily="34" charset="-122"/>
                          <a:cs typeface="Calibri" pitchFamily="34" charset="-120"/>
                        </a:rPr>
                        <a:t>Subtle</a:t>
                      </a:r>
                      <a:endParaRPr lang="en-US" sz="10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374151"/>
                          </a:solidFill>
                          <a:latin typeface="Calibri" pitchFamily="34" charset="0"/>
                          <a:ea typeface="Calibri" pitchFamily="34" charset="-122"/>
                          <a:cs typeface="Calibri" pitchFamily="34" charset="-120"/>
                        </a:rPr>
                        <a:t>0.8039 / 0.8039 / 0.8913</a:t>
                      </a:r>
                      <a:endParaRPr lang="en-US" sz="10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374151"/>
                          </a:solidFill>
                          <a:latin typeface="Calibri" pitchFamily="34" charset="0"/>
                          <a:ea typeface="Calibri" pitchFamily="34" charset="-122"/>
                          <a:cs typeface="Calibri" pitchFamily="34" charset="-120"/>
                        </a:rPr>
                        <a:t>0.9000 / 0.9000 / 0.9247</a:t>
                      </a:r>
                      <a:endParaRPr lang="en-US" sz="10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000" dirty="0">
                          <a:solidFill>
                            <a:srgbClr val="374151"/>
                          </a:solidFill>
                          <a:latin typeface="Calibri" pitchFamily="34" charset="0"/>
                          <a:ea typeface="Calibri" pitchFamily="34" charset="-122"/>
                          <a:cs typeface="Calibri" pitchFamily="34" charset="-120"/>
                        </a:rPr>
                        <a:t>Moderate</a:t>
                      </a:r>
                      <a:endParaRPr lang="en-US" sz="10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374151"/>
                          </a:solidFill>
                          <a:latin typeface="Calibri" pitchFamily="34" charset="0"/>
                          <a:ea typeface="Calibri" pitchFamily="34" charset="-122"/>
                          <a:cs typeface="Calibri" pitchFamily="34" charset="-120"/>
                        </a:rPr>
                        <a:t>0.8965 / 0.8965 / 0.9454</a:t>
                      </a:r>
                      <a:endParaRPr lang="en-US" sz="10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374151"/>
                          </a:solidFill>
                          <a:latin typeface="Calibri" pitchFamily="34" charset="0"/>
                          <a:ea typeface="Calibri" pitchFamily="34" charset="-122"/>
                          <a:cs typeface="Calibri" pitchFamily="34" charset="-120"/>
                        </a:rPr>
                        <a:t>0.9400 / 0.9400 / 0.9691</a:t>
                      </a:r>
                      <a:endParaRPr lang="en-US" sz="10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000" b="1" dirty="0">
                          <a:solidFill>
                            <a:srgbClr val="374151"/>
                          </a:solidFill>
                          <a:latin typeface="Calibri" pitchFamily="34" charset="0"/>
                          <a:ea typeface="Calibri" pitchFamily="34" charset="-122"/>
                          <a:cs typeface="Calibri" pitchFamily="34" charset="-120"/>
                        </a:rPr>
                        <a:t>Aggressive</a:t>
                      </a:r>
                      <a:endParaRPr lang="en-US" sz="10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BE8C8"/>
                    </a:solidFill>
                  </a:tcPr>
                </a:tc>
                <a:tc>
                  <a:txBody>
                    <a:bodyPr/>
                    <a:lstStyle/>
                    <a:p>
                      <a:pPr algn="ctr" indent="0" marL="0">
                        <a:buNone/>
                      </a:pPr>
                      <a:r>
                        <a:rPr lang="en-US" sz="1000" b="1" dirty="0">
                          <a:solidFill>
                            <a:srgbClr val="374151"/>
                          </a:solidFill>
                          <a:latin typeface="Calibri" pitchFamily="34" charset="0"/>
                          <a:ea typeface="Calibri" pitchFamily="34" charset="-122"/>
                          <a:cs typeface="Calibri" pitchFamily="34" charset="-120"/>
                        </a:rPr>
                        <a:t>0.9000 / 0.9000 / 0.9473</a:t>
                      </a:r>
                      <a:endParaRPr lang="en-US" sz="10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BE8C8"/>
                    </a:solidFill>
                  </a:tcPr>
                </a:tc>
                <a:tc>
                  <a:txBody>
                    <a:bodyPr/>
                    <a:lstStyle/>
                    <a:p>
                      <a:pPr algn="ctr" indent="0" marL="0">
                        <a:buNone/>
                      </a:pPr>
                      <a:r>
                        <a:rPr lang="en-US" sz="1000" b="1" dirty="0">
                          <a:solidFill>
                            <a:srgbClr val="374151"/>
                          </a:solidFill>
                          <a:latin typeface="Calibri" pitchFamily="34" charset="0"/>
                          <a:ea typeface="Calibri" pitchFamily="34" charset="-122"/>
                          <a:cs typeface="Calibri" pitchFamily="34" charset="-120"/>
                        </a:rPr>
                        <a:t>0.9650 / 0.9650 / 0.9822</a:t>
                      </a:r>
                      <a:endParaRPr lang="en-US" sz="10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BE8C8"/>
                    </a:solidFill>
                  </a:tcPr>
                </a:tc>
              </a:tr>
            </a:tbl>
          </a:graphicData>
        </a:graphic>
      </p:graphicFrame>
      <p:sp>
        <p:nvSpPr>
          <p:cNvPr id="10" name="Shape 7"/>
          <p:cNvSpPr/>
          <p:nvPr/>
        </p:nvSpPr>
        <p:spPr>
          <a:xfrm>
            <a:off x="457200" y="3886200"/>
            <a:ext cx="8229600" cy="292608"/>
          </a:xfrm>
          <a:prstGeom prst="rect">
            <a:avLst/>
          </a:prstGeom>
          <a:solidFill>
            <a:srgbClr val="8B1A1A"/>
          </a:solidFill>
          <a:ln/>
        </p:spPr>
      </p:sp>
      <p:sp>
        <p:nvSpPr>
          <p:cNvPr id="11" name="Text 8"/>
          <p:cNvSpPr/>
          <p:nvPr/>
        </p:nvSpPr>
        <p:spPr>
          <a:xfrm>
            <a:off x="566928" y="3886200"/>
            <a:ext cx="8010144" cy="292608"/>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OBSERVATIONS</a:t>
            </a:r>
            <a:endParaRPr lang="en-US" sz="1200" dirty="0"/>
          </a:p>
        </p:txBody>
      </p:sp>
      <p:sp>
        <p:nvSpPr>
          <p:cNvPr id="12" name="Shape 9"/>
          <p:cNvSpPr/>
          <p:nvPr/>
        </p:nvSpPr>
        <p:spPr>
          <a:xfrm>
            <a:off x="457200" y="4233672"/>
            <a:ext cx="2679192" cy="566928"/>
          </a:xfrm>
          <a:prstGeom prst="roundRect">
            <a:avLst>
              <a:gd name="adj" fmla="val 8065"/>
            </a:avLst>
          </a:prstGeom>
          <a:solidFill>
            <a:srgbClr val="FBF8F3"/>
          </a:solidFill>
          <a:ln w="9525">
            <a:solidFill>
              <a:srgbClr val="E5E7EB"/>
            </a:solidFill>
            <a:prstDash val="solid"/>
          </a:ln>
        </p:spPr>
      </p:sp>
      <p:sp>
        <p:nvSpPr>
          <p:cNvPr id="13" name="Text 10"/>
          <p:cNvSpPr/>
          <p:nvPr/>
        </p:nvSpPr>
        <p:spPr>
          <a:xfrm>
            <a:off x="548640" y="4251960"/>
            <a:ext cx="2496312" cy="219456"/>
          </a:xfrm>
          <a:prstGeom prst="rect">
            <a:avLst/>
          </a:prstGeom>
          <a:noFill/>
          <a:ln/>
        </p:spPr>
        <p:txBody>
          <a:bodyPr wrap="square" lIns="0" tIns="0" rIns="0" bIns="0" rtlCol="0" anchor="t"/>
          <a:lstStyle/>
          <a:p>
            <a:pPr indent="0" marL="0">
              <a:buNone/>
            </a:pPr>
            <a:r>
              <a:rPr lang="en-US" sz="1000" b="1" dirty="0">
                <a:solidFill>
                  <a:srgbClr val="8B1A1A"/>
                </a:solidFill>
                <a:latin typeface="Cambria" pitchFamily="34" charset="0"/>
                <a:ea typeface="Cambria" pitchFamily="34" charset="-122"/>
                <a:cs typeface="Cambria" pitchFamily="34" charset="-120"/>
              </a:rPr>
              <a:t>Scales with severity</a:t>
            </a:r>
            <a:endParaRPr lang="en-US" sz="1000" dirty="0"/>
          </a:p>
        </p:txBody>
      </p:sp>
      <p:sp>
        <p:nvSpPr>
          <p:cNvPr id="14" name="Text 11"/>
          <p:cNvSpPr/>
          <p:nvPr/>
        </p:nvSpPr>
        <p:spPr>
          <a:xfrm>
            <a:off x="548640" y="4462272"/>
            <a:ext cx="2496312" cy="329184"/>
          </a:xfrm>
          <a:prstGeom prst="rect">
            <a:avLst/>
          </a:prstGeom>
          <a:noFill/>
          <a:ln/>
        </p:spPr>
        <p:txBody>
          <a:bodyPr wrap="square" lIns="0" tIns="0" rIns="0" bIns="0" rtlCol="0" anchor="t"/>
          <a:lstStyle/>
          <a:p>
            <a:pPr indent="0" marL="0">
              <a:buNone/>
            </a:pPr>
            <a:r>
              <a:rPr lang="en-US" sz="850" dirty="0">
                <a:solidFill>
                  <a:srgbClr val="374151"/>
                </a:solidFill>
                <a:latin typeface="Calibri" pitchFamily="34" charset="0"/>
                <a:ea typeface="Calibri" pitchFamily="34" charset="-122"/>
                <a:cs typeface="Calibri" pitchFamily="34" charset="-120"/>
              </a:rPr>
              <a:t>Overt fabrications easiest to catch (F1 0.98 RAG aggressive).</a:t>
            </a:r>
            <a:endParaRPr lang="en-US" sz="850" dirty="0"/>
          </a:p>
        </p:txBody>
      </p:sp>
      <p:sp>
        <p:nvSpPr>
          <p:cNvPr id="15" name="Shape 12"/>
          <p:cNvSpPr/>
          <p:nvPr/>
        </p:nvSpPr>
        <p:spPr>
          <a:xfrm>
            <a:off x="3227832" y="4233672"/>
            <a:ext cx="2679192" cy="566928"/>
          </a:xfrm>
          <a:prstGeom prst="roundRect">
            <a:avLst>
              <a:gd name="adj" fmla="val 8065"/>
            </a:avLst>
          </a:prstGeom>
          <a:solidFill>
            <a:srgbClr val="FBF8F3"/>
          </a:solidFill>
          <a:ln w="9525">
            <a:solidFill>
              <a:srgbClr val="E5E7EB"/>
            </a:solidFill>
            <a:prstDash val="solid"/>
          </a:ln>
        </p:spPr>
      </p:sp>
      <p:sp>
        <p:nvSpPr>
          <p:cNvPr id="16" name="Text 13"/>
          <p:cNvSpPr/>
          <p:nvPr/>
        </p:nvSpPr>
        <p:spPr>
          <a:xfrm>
            <a:off x="3319272" y="4251960"/>
            <a:ext cx="2496312" cy="219456"/>
          </a:xfrm>
          <a:prstGeom prst="rect">
            <a:avLst/>
          </a:prstGeom>
          <a:noFill/>
          <a:ln/>
        </p:spPr>
        <p:txBody>
          <a:bodyPr wrap="square" lIns="0" tIns="0" rIns="0" bIns="0" rtlCol="0" anchor="t"/>
          <a:lstStyle/>
          <a:p>
            <a:pPr indent="0" marL="0">
              <a:buNone/>
            </a:pPr>
            <a:r>
              <a:rPr lang="en-US" sz="1000" b="1" dirty="0">
                <a:solidFill>
                  <a:srgbClr val="8B1A1A"/>
                </a:solidFill>
                <a:latin typeface="Cambria" pitchFamily="34" charset="0"/>
                <a:ea typeface="Cambria" pitchFamily="34" charset="-122"/>
                <a:cs typeface="Cambria" pitchFamily="34" charset="-120"/>
              </a:rPr>
              <a:t>Conservative tendency</a:t>
            </a:r>
            <a:endParaRPr lang="en-US" sz="1000" dirty="0"/>
          </a:p>
        </p:txBody>
      </p:sp>
      <p:sp>
        <p:nvSpPr>
          <p:cNvPr id="17" name="Text 14"/>
          <p:cNvSpPr/>
          <p:nvPr/>
        </p:nvSpPr>
        <p:spPr>
          <a:xfrm>
            <a:off x="3319272" y="4462272"/>
            <a:ext cx="2496312" cy="329184"/>
          </a:xfrm>
          <a:prstGeom prst="rect">
            <a:avLst/>
          </a:prstGeom>
          <a:noFill/>
          <a:ln/>
        </p:spPr>
        <p:txBody>
          <a:bodyPr wrap="square" lIns="0" tIns="0" rIns="0" bIns="0" rtlCol="0" anchor="t"/>
          <a:lstStyle/>
          <a:p>
            <a:pPr indent="0" marL="0">
              <a:buNone/>
            </a:pPr>
            <a:r>
              <a:rPr lang="en-US" sz="850" dirty="0">
                <a:solidFill>
                  <a:srgbClr val="374151"/>
                </a:solidFill>
                <a:latin typeface="Calibri" pitchFamily="34" charset="0"/>
                <a:ea typeface="Calibri" pitchFamily="34" charset="-122"/>
                <a:cs typeface="Calibri" pitchFamily="34" charset="-120"/>
              </a:rPr>
              <a:t>Errors skew false-positive — judge prefers safe over permissive.</a:t>
            </a:r>
            <a:endParaRPr lang="en-US" sz="850" dirty="0"/>
          </a:p>
        </p:txBody>
      </p:sp>
      <p:sp>
        <p:nvSpPr>
          <p:cNvPr id="18" name="Shape 15"/>
          <p:cNvSpPr/>
          <p:nvPr/>
        </p:nvSpPr>
        <p:spPr>
          <a:xfrm>
            <a:off x="5998464" y="4233672"/>
            <a:ext cx="2679192" cy="566928"/>
          </a:xfrm>
          <a:prstGeom prst="roundRect">
            <a:avLst>
              <a:gd name="adj" fmla="val 8065"/>
            </a:avLst>
          </a:prstGeom>
          <a:solidFill>
            <a:srgbClr val="FBF8F3"/>
          </a:solidFill>
          <a:ln w="9525">
            <a:solidFill>
              <a:srgbClr val="E5E7EB"/>
            </a:solidFill>
            <a:prstDash val="solid"/>
          </a:ln>
        </p:spPr>
      </p:sp>
      <p:sp>
        <p:nvSpPr>
          <p:cNvPr id="19" name="Text 16"/>
          <p:cNvSpPr/>
          <p:nvPr/>
        </p:nvSpPr>
        <p:spPr>
          <a:xfrm>
            <a:off x="6089904" y="4251960"/>
            <a:ext cx="2496312" cy="219456"/>
          </a:xfrm>
          <a:prstGeom prst="rect">
            <a:avLst/>
          </a:prstGeom>
          <a:noFill/>
          <a:ln/>
        </p:spPr>
        <p:txBody>
          <a:bodyPr wrap="square" lIns="0" tIns="0" rIns="0" bIns="0" rtlCol="0" anchor="t"/>
          <a:lstStyle/>
          <a:p>
            <a:pPr indent="0" marL="0">
              <a:buNone/>
            </a:pPr>
            <a:r>
              <a:rPr lang="en-US" sz="1000" b="1" dirty="0">
                <a:solidFill>
                  <a:srgbClr val="8B1A1A"/>
                </a:solidFill>
                <a:latin typeface="Cambria" pitchFamily="34" charset="0"/>
                <a:ea typeface="Cambria" pitchFamily="34" charset="-122"/>
                <a:cs typeface="Cambria" pitchFamily="34" charset="-120"/>
              </a:rPr>
              <a:t>Subtle remains the frontier</a:t>
            </a:r>
            <a:endParaRPr lang="en-US" sz="1000" dirty="0"/>
          </a:p>
        </p:txBody>
      </p:sp>
      <p:sp>
        <p:nvSpPr>
          <p:cNvPr id="20" name="Text 17"/>
          <p:cNvSpPr/>
          <p:nvPr/>
        </p:nvSpPr>
        <p:spPr>
          <a:xfrm>
            <a:off x="6089904" y="4462272"/>
            <a:ext cx="2496312" cy="329184"/>
          </a:xfrm>
          <a:prstGeom prst="rect">
            <a:avLst/>
          </a:prstGeom>
          <a:noFill/>
          <a:ln/>
        </p:spPr>
        <p:txBody>
          <a:bodyPr wrap="square" lIns="0" tIns="0" rIns="0" bIns="0" rtlCol="0" anchor="t"/>
          <a:lstStyle/>
          <a:p>
            <a:pPr indent="0" marL="0">
              <a:buNone/>
            </a:pPr>
            <a:r>
              <a:rPr lang="en-US" sz="850" dirty="0">
                <a:solidFill>
                  <a:srgbClr val="374151"/>
                </a:solidFill>
                <a:latin typeface="Calibri" pitchFamily="34" charset="0"/>
                <a:ea typeface="Calibri" pitchFamily="34" charset="-122"/>
                <a:cs typeface="Calibri" pitchFamily="34" charset="-120"/>
              </a:rPr>
              <a:t>Plausible deviations still escape detection in a nontrivial share.</a:t>
            </a:r>
            <a:endParaRPr lang="en-US" sz="850" dirty="0"/>
          </a:p>
        </p:txBody>
      </p:sp>
      <p:sp>
        <p:nvSpPr>
          <p:cNvPr id="21" name="Text 18"/>
          <p:cNvSpPr/>
          <p:nvPr/>
        </p:nvSpPr>
        <p:spPr>
          <a:xfrm>
            <a:off x="8412480" y="4846320"/>
            <a:ext cx="548640" cy="182880"/>
          </a:xfrm>
          <a:prstGeom prst="rect">
            <a:avLst/>
          </a:prstGeom>
          <a:noFill/>
          <a:ln/>
        </p:spPr>
        <p:txBody>
          <a:bodyPr wrap="square" lIns="0" tIns="0" rIns="0" bIns="0" rtlCol="0" anchor="ctr"/>
          <a:lstStyle/>
          <a:p>
            <a:pPr algn="r" indent="0" marL="0">
              <a:buNone/>
            </a:pPr>
            <a:r>
              <a:rPr lang="en-US" sz="800" dirty="0">
                <a:solidFill>
                  <a:srgbClr val="9CA3AF"/>
                </a:solidFill>
                <a:latin typeface="Calibri" pitchFamily="34" charset="0"/>
                <a:ea typeface="Calibri" pitchFamily="34" charset="-122"/>
                <a:cs typeface="Calibri" pitchFamily="34" charset="-120"/>
              </a:rPr>
              <a:t>6 / 7</a:t>
            </a:r>
            <a:endParaRPr lang="en-US" sz="800" dirty="0"/>
          </a:p>
        </p:txBody>
      </p:sp>
      <p:sp>
        <p:nvSpPr>
          <p:cNvPr id="22" name="Text 19"/>
          <p:cNvSpPr/>
          <p:nvPr/>
        </p:nvSpPr>
        <p:spPr>
          <a:xfrm>
            <a:off x="457200" y="4846320"/>
            <a:ext cx="5486400" cy="182880"/>
          </a:xfrm>
          <a:prstGeom prst="rect">
            <a:avLst/>
          </a:prstGeom>
          <a:noFill/>
          <a:ln/>
        </p:spPr>
        <p:txBody>
          <a:bodyPr wrap="square" lIns="0" tIns="0" rIns="0" bIns="0" rtlCol="0" anchor="ctr"/>
          <a:lstStyle/>
          <a:p>
            <a:pPr indent="0" marL="0">
              <a:buNone/>
            </a:pPr>
            <a:r>
              <a:rPr lang="en-US" sz="800" dirty="0">
                <a:solidFill>
                  <a:srgbClr val="9CA3AF"/>
                </a:solidFill>
                <a:latin typeface="Calibri" pitchFamily="34" charset="0"/>
                <a:ea typeface="Calibri" pitchFamily="34" charset="-122"/>
                <a:cs typeface="Calibri" pitchFamily="34" charset="-120"/>
              </a:rPr>
              <a:t>LLM-as-Judge: Best Practices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600" b="1" dirty="0">
                <a:solidFill>
                  <a:srgbClr val="8B1A1A"/>
                </a:solidFill>
                <a:latin typeface="Cambria" pitchFamily="34" charset="0"/>
                <a:ea typeface="Cambria" pitchFamily="34" charset="-122"/>
                <a:cs typeface="Cambria" pitchFamily="34" charset="-120"/>
              </a:rPr>
              <a:t>Best Practices Map</a:t>
            </a:r>
            <a:endParaRPr lang="en-US" sz="2600" dirty="0"/>
          </a:p>
        </p:txBody>
      </p:sp>
      <p:sp>
        <p:nvSpPr>
          <p:cNvPr id="3" name="Shape 1"/>
          <p:cNvSpPr/>
          <p:nvPr/>
        </p:nvSpPr>
        <p:spPr>
          <a:xfrm>
            <a:off x="457200" y="804672"/>
            <a:ext cx="822960" cy="45720"/>
          </a:xfrm>
          <a:prstGeom prst="rect">
            <a:avLst/>
          </a:prstGeom>
          <a:solidFill>
            <a:srgbClr val="C9A227"/>
          </a:solidFill>
          <a:ln/>
        </p:spPr>
      </p:sp>
      <p:sp>
        <p:nvSpPr>
          <p:cNvPr id="4" name="Shape 2"/>
          <p:cNvSpPr/>
          <p:nvPr/>
        </p:nvSpPr>
        <p:spPr>
          <a:xfrm>
            <a:off x="1645920" y="2651760"/>
            <a:ext cx="114300" cy="0"/>
          </a:xfrm>
          <a:prstGeom prst="line">
            <a:avLst/>
          </a:prstGeom>
          <a:noFill/>
          <a:ln w="19050">
            <a:solidFill>
              <a:srgbClr val="C9A227"/>
            </a:solidFill>
            <a:prstDash val="solid"/>
          </a:ln>
        </p:spPr>
      </p:sp>
      <p:sp>
        <p:nvSpPr>
          <p:cNvPr id="5" name="Shape 3"/>
          <p:cNvSpPr/>
          <p:nvPr/>
        </p:nvSpPr>
        <p:spPr>
          <a:xfrm>
            <a:off x="1760220" y="1732788"/>
            <a:ext cx="0" cy="918972"/>
          </a:xfrm>
          <a:prstGeom prst="line">
            <a:avLst/>
          </a:prstGeom>
          <a:noFill/>
          <a:ln w="19050">
            <a:solidFill>
              <a:srgbClr val="C9A227"/>
            </a:solidFill>
            <a:prstDash val="solid"/>
          </a:ln>
        </p:spPr>
      </p:sp>
      <p:sp>
        <p:nvSpPr>
          <p:cNvPr id="6" name="Shape 4"/>
          <p:cNvSpPr/>
          <p:nvPr/>
        </p:nvSpPr>
        <p:spPr>
          <a:xfrm>
            <a:off x="1760220" y="1732788"/>
            <a:ext cx="114300" cy="0"/>
          </a:xfrm>
          <a:prstGeom prst="line">
            <a:avLst/>
          </a:prstGeom>
          <a:noFill/>
          <a:ln w="19050">
            <a:solidFill>
              <a:srgbClr val="C9A227"/>
            </a:solidFill>
            <a:prstDash val="solid"/>
          </a:ln>
        </p:spPr>
      </p:sp>
      <p:sp>
        <p:nvSpPr>
          <p:cNvPr id="7" name="Shape 5"/>
          <p:cNvSpPr/>
          <p:nvPr/>
        </p:nvSpPr>
        <p:spPr>
          <a:xfrm>
            <a:off x="1645920" y="2651760"/>
            <a:ext cx="114300" cy="0"/>
          </a:xfrm>
          <a:prstGeom prst="line">
            <a:avLst/>
          </a:prstGeom>
          <a:noFill/>
          <a:ln w="19050">
            <a:solidFill>
              <a:srgbClr val="C9A227"/>
            </a:solidFill>
            <a:prstDash val="solid"/>
          </a:ln>
        </p:spPr>
      </p:sp>
      <p:sp>
        <p:nvSpPr>
          <p:cNvPr id="8" name="Shape 6"/>
          <p:cNvSpPr/>
          <p:nvPr/>
        </p:nvSpPr>
        <p:spPr>
          <a:xfrm>
            <a:off x="1760220" y="2651760"/>
            <a:ext cx="0" cy="918972"/>
          </a:xfrm>
          <a:prstGeom prst="line">
            <a:avLst/>
          </a:prstGeom>
          <a:noFill/>
          <a:ln w="19050">
            <a:solidFill>
              <a:srgbClr val="C9A227"/>
            </a:solidFill>
            <a:prstDash val="solid"/>
          </a:ln>
        </p:spPr>
      </p:sp>
      <p:sp>
        <p:nvSpPr>
          <p:cNvPr id="9" name="Shape 7"/>
          <p:cNvSpPr/>
          <p:nvPr/>
        </p:nvSpPr>
        <p:spPr>
          <a:xfrm>
            <a:off x="1760220" y="3570732"/>
            <a:ext cx="114300" cy="0"/>
          </a:xfrm>
          <a:prstGeom prst="line">
            <a:avLst/>
          </a:prstGeom>
          <a:noFill/>
          <a:ln w="19050">
            <a:solidFill>
              <a:srgbClr val="C9A227"/>
            </a:solidFill>
            <a:prstDash val="solid"/>
          </a:ln>
        </p:spPr>
      </p:sp>
      <p:sp>
        <p:nvSpPr>
          <p:cNvPr id="10" name="Shape 8"/>
          <p:cNvSpPr/>
          <p:nvPr/>
        </p:nvSpPr>
        <p:spPr>
          <a:xfrm>
            <a:off x="3291840" y="1732788"/>
            <a:ext cx="205740" cy="0"/>
          </a:xfrm>
          <a:prstGeom prst="line">
            <a:avLst/>
          </a:prstGeom>
          <a:noFill/>
          <a:ln w="12700">
            <a:solidFill>
              <a:srgbClr val="8B1A1A"/>
            </a:solidFill>
            <a:prstDash val="solid"/>
          </a:ln>
        </p:spPr>
      </p:sp>
      <p:sp>
        <p:nvSpPr>
          <p:cNvPr id="11" name="Shape 9"/>
          <p:cNvSpPr/>
          <p:nvPr/>
        </p:nvSpPr>
        <p:spPr>
          <a:xfrm>
            <a:off x="3497580" y="1165860"/>
            <a:ext cx="0" cy="566928"/>
          </a:xfrm>
          <a:prstGeom prst="line">
            <a:avLst/>
          </a:prstGeom>
          <a:noFill/>
          <a:ln w="12700">
            <a:solidFill>
              <a:srgbClr val="8B1A1A"/>
            </a:solidFill>
            <a:prstDash val="solid"/>
          </a:ln>
        </p:spPr>
      </p:sp>
      <p:sp>
        <p:nvSpPr>
          <p:cNvPr id="12" name="Shape 10"/>
          <p:cNvSpPr/>
          <p:nvPr/>
        </p:nvSpPr>
        <p:spPr>
          <a:xfrm>
            <a:off x="3497580" y="1165860"/>
            <a:ext cx="205740" cy="0"/>
          </a:xfrm>
          <a:prstGeom prst="line">
            <a:avLst/>
          </a:prstGeom>
          <a:noFill/>
          <a:ln w="12700">
            <a:solidFill>
              <a:srgbClr val="8B1A1A"/>
            </a:solidFill>
            <a:prstDash val="solid"/>
          </a:ln>
        </p:spPr>
      </p:sp>
      <p:sp>
        <p:nvSpPr>
          <p:cNvPr id="13" name="Shape 11"/>
          <p:cNvSpPr/>
          <p:nvPr/>
        </p:nvSpPr>
        <p:spPr>
          <a:xfrm>
            <a:off x="3291840" y="1732788"/>
            <a:ext cx="205740" cy="0"/>
          </a:xfrm>
          <a:prstGeom prst="line">
            <a:avLst/>
          </a:prstGeom>
          <a:noFill/>
          <a:ln w="12700">
            <a:solidFill>
              <a:srgbClr val="8B1A1A"/>
            </a:solidFill>
            <a:prstDash val="solid"/>
          </a:ln>
        </p:spPr>
      </p:sp>
      <p:sp>
        <p:nvSpPr>
          <p:cNvPr id="14" name="Shape 12"/>
          <p:cNvSpPr/>
          <p:nvPr/>
        </p:nvSpPr>
        <p:spPr>
          <a:xfrm>
            <a:off x="3497580" y="1732788"/>
            <a:ext cx="205740" cy="0"/>
          </a:xfrm>
          <a:prstGeom prst="line">
            <a:avLst/>
          </a:prstGeom>
          <a:noFill/>
          <a:ln w="12700">
            <a:solidFill>
              <a:srgbClr val="8B1A1A"/>
            </a:solidFill>
            <a:prstDash val="solid"/>
          </a:ln>
        </p:spPr>
      </p:sp>
      <p:sp>
        <p:nvSpPr>
          <p:cNvPr id="15" name="Shape 13"/>
          <p:cNvSpPr/>
          <p:nvPr/>
        </p:nvSpPr>
        <p:spPr>
          <a:xfrm>
            <a:off x="3291840" y="1732788"/>
            <a:ext cx="205740" cy="0"/>
          </a:xfrm>
          <a:prstGeom prst="line">
            <a:avLst/>
          </a:prstGeom>
          <a:noFill/>
          <a:ln w="12700">
            <a:solidFill>
              <a:srgbClr val="8B1A1A"/>
            </a:solidFill>
            <a:prstDash val="solid"/>
          </a:ln>
        </p:spPr>
      </p:sp>
      <p:sp>
        <p:nvSpPr>
          <p:cNvPr id="16" name="Shape 14"/>
          <p:cNvSpPr/>
          <p:nvPr/>
        </p:nvSpPr>
        <p:spPr>
          <a:xfrm>
            <a:off x="3497580" y="1732788"/>
            <a:ext cx="0" cy="566928"/>
          </a:xfrm>
          <a:prstGeom prst="line">
            <a:avLst/>
          </a:prstGeom>
          <a:noFill/>
          <a:ln w="12700">
            <a:solidFill>
              <a:srgbClr val="8B1A1A"/>
            </a:solidFill>
            <a:prstDash val="solid"/>
          </a:ln>
        </p:spPr>
      </p:sp>
      <p:sp>
        <p:nvSpPr>
          <p:cNvPr id="17" name="Shape 15"/>
          <p:cNvSpPr/>
          <p:nvPr/>
        </p:nvSpPr>
        <p:spPr>
          <a:xfrm>
            <a:off x="3497580" y="2299716"/>
            <a:ext cx="205740" cy="0"/>
          </a:xfrm>
          <a:prstGeom prst="line">
            <a:avLst/>
          </a:prstGeom>
          <a:noFill/>
          <a:ln w="12700">
            <a:solidFill>
              <a:srgbClr val="8B1A1A"/>
            </a:solidFill>
            <a:prstDash val="solid"/>
          </a:ln>
        </p:spPr>
      </p:sp>
      <p:sp>
        <p:nvSpPr>
          <p:cNvPr id="18" name="Shape 16"/>
          <p:cNvSpPr/>
          <p:nvPr/>
        </p:nvSpPr>
        <p:spPr>
          <a:xfrm>
            <a:off x="3291840" y="3570732"/>
            <a:ext cx="205740" cy="0"/>
          </a:xfrm>
          <a:prstGeom prst="line">
            <a:avLst/>
          </a:prstGeom>
          <a:noFill/>
          <a:ln w="12700">
            <a:solidFill>
              <a:srgbClr val="8B1A1A"/>
            </a:solidFill>
            <a:prstDash val="solid"/>
          </a:ln>
        </p:spPr>
      </p:sp>
      <p:sp>
        <p:nvSpPr>
          <p:cNvPr id="19" name="Shape 17"/>
          <p:cNvSpPr/>
          <p:nvPr/>
        </p:nvSpPr>
        <p:spPr>
          <a:xfrm>
            <a:off x="3497580" y="3003804"/>
            <a:ext cx="0" cy="566928"/>
          </a:xfrm>
          <a:prstGeom prst="line">
            <a:avLst/>
          </a:prstGeom>
          <a:noFill/>
          <a:ln w="12700">
            <a:solidFill>
              <a:srgbClr val="8B1A1A"/>
            </a:solidFill>
            <a:prstDash val="solid"/>
          </a:ln>
        </p:spPr>
      </p:sp>
      <p:sp>
        <p:nvSpPr>
          <p:cNvPr id="20" name="Shape 18"/>
          <p:cNvSpPr/>
          <p:nvPr/>
        </p:nvSpPr>
        <p:spPr>
          <a:xfrm>
            <a:off x="3497580" y="3003804"/>
            <a:ext cx="205740" cy="0"/>
          </a:xfrm>
          <a:prstGeom prst="line">
            <a:avLst/>
          </a:prstGeom>
          <a:noFill/>
          <a:ln w="12700">
            <a:solidFill>
              <a:srgbClr val="8B1A1A"/>
            </a:solidFill>
            <a:prstDash val="solid"/>
          </a:ln>
        </p:spPr>
      </p:sp>
      <p:sp>
        <p:nvSpPr>
          <p:cNvPr id="21" name="Shape 19"/>
          <p:cNvSpPr/>
          <p:nvPr/>
        </p:nvSpPr>
        <p:spPr>
          <a:xfrm>
            <a:off x="3291840" y="3570732"/>
            <a:ext cx="205740" cy="0"/>
          </a:xfrm>
          <a:prstGeom prst="line">
            <a:avLst/>
          </a:prstGeom>
          <a:noFill/>
          <a:ln w="12700">
            <a:solidFill>
              <a:srgbClr val="8B1A1A"/>
            </a:solidFill>
            <a:prstDash val="solid"/>
          </a:ln>
        </p:spPr>
      </p:sp>
      <p:sp>
        <p:nvSpPr>
          <p:cNvPr id="22" name="Shape 20"/>
          <p:cNvSpPr/>
          <p:nvPr/>
        </p:nvSpPr>
        <p:spPr>
          <a:xfrm>
            <a:off x="3497580" y="3570732"/>
            <a:ext cx="205740" cy="0"/>
          </a:xfrm>
          <a:prstGeom prst="line">
            <a:avLst/>
          </a:prstGeom>
          <a:noFill/>
          <a:ln w="12700">
            <a:solidFill>
              <a:srgbClr val="8B1A1A"/>
            </a:solidFill>
            <a:prstDash val="solid"/>
          </a:ln>
        </p:spPr>
      </p:sp>
      <p:sp>
        <p:nvSpPr>
          <p:cNvPr id="23" name="Shape 21"/>
          <p:cNvSpPr/>
          <p:nvPr/>
        </p:nvSpPr>
        <p:spPr>
          <a:xfrm>
            <a:off x="3291840" y="3570732"/>
            <a:ext cx="205740" cy="0"/>
          </a:xfrm>
          <a:prstGeom prst="line">
            <a:avLst/>
          </a:prstGeom>
          <a:noFill/>
          <a:ln w="12700">
            <a:solidFill>
              <a:srgbClr val="8B1A1A"/>
            </a:solidFill>
            <a:prstDash val="solid"/>
          </a:ln>
        </p:spPr>
      </p:sp>
      <p:sp>
        <p:nvSpPr>
          <p:cNvPr id="24" name="Shape 22"/>
          <p:cNvSpPr/>
          <p:nvPr/>
        </p:nvSpPr>
        <p:spPr>
          <a:xfrm>
            <a:off x="3497580" y="3570732"/>
            <a:ext cx="0" cy="566928"/>
          </a:xfrm>
          <a:prstGeom prst="line">
            <a:avLst/>
          </a:prstGeom>
          <a:noFill/>
          <a:ln w="12700">
            <a:solidFill>
              <a:srgbClr val="8B1A1A"/>
            </a:solidFill>
            <a:prstDash val="solid"/>
          </a:ln>
        </p:spPr>
      </p:sp>
      <p:sp>
        <p:nvSpPr>
          <p:cNvPr id="25" name="Shape 23"/>
          <p:cNvSpPr/>
          <p:nvPr/>
        </p:nvSpPr>
        <p:spPr>
          <a:xfrm>
            <a:off x="3497580" y="4137660"/>
            <a:ext cx="205740" cy="0"/>
          </a:xfrm>
          <a:prstGeom prst="line">
            <a:avLst/>
          </a:prstGeom>
          <a:noFill/>
          <a:ln w="12700">
            <a:solidFill>
              <a:srgbClr val="8B1A1A"/>
            </a:solidFill>
            <a:prstDash val="solid"/>
          </a:ln>
        </p:spPr>
      </p:sp>
      <p:sp>
        <p:nvSpPr>
          <p:cNvPr id="26" name="Shape 24"/>
          <p:cNvSpPr/>
          <p:nvPr/>
        </p:nvSpPr>
        <p:spPr>
          <a:xfrm>
            <a:off x="274320" y="2263140"/>
            <a:ext cx="1371600" cy="777240"/>
          </a:xfrm>
          <a:prstGeom prst="roundRect">
            <a:avLst>
              <a:gd name="adj" fmla="val 11765"/>
            </a:avLst>
          </a:prstGeom>
          <a:solidFill>
            <a:srgbClr val="8B1A1A"/>
          </a:solidFill>
          <a:ln w="19050">
            <a:solidFill>
              <a:srgbClr val="6B1313"/>
            </a:solidFill>
            <a:prstDash val="solid"/>
          </a:ln>
          <a:effectLst>
            <a:outerShdw sx="100000" sy="100000" kx="0" ky="0" algn="bl" rotWithShape="0" blurRad="101600" dist="38100" dir="2700000">
              <a:srgbClr val="000000">
                <a:alpha val="20000"/>
              </a:srgbClr>
            </a:outerShdw>
          </a:effectLst>
        </p:spPr>
      </p:sp>
      <p:sp>
        <p:nvSpPr>
          <p:cNvPr id="27" name="Text 25"/>
          <p:cNvSpPr/>
          <p:nvPr/>
        </p:nvSpPr>
        <p:spPr>
          <a:xfrm>
            <a:off x="274320" y="2263140"/>
            <a:ext cx="1371600"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LLM-as-Judge</a:t>
            </a:r>
            <a:endParaRPr lang="en-US" sz="1200" dirty="0"/>
          </a:p>
          <a:p>
            <a:pPr algn="ctr" indent="0" marL="0">
              <a:buNone/>
            </a:pPr>
            <a:r>
              <a:rPr lang="en-US" sz="1200" b="1" dirty="0">
                <a:solidFill>
                  <a:srgbClr val="FFFFFF"/>
                </a:solidFill>
                <a:latin typeface="Cambria" pitchFamily="34" charset="0"/>
                <a:ea typeface="Cambria" pitchFamily="34" charset="-122"/>
                <a:cs typeface="Cambria" pitchFamily="34" charset="-120"/>
              </a:rPr>
              <a:t>Best Practices</a:t>
            </a:r>
            <a:endParaRPr lang="en-US" sz="1200" dirty="0"/>
          </a:p>
        </p:txBody>
      </p:sp>
      <p:sp>
        <p:nvSpPr>
          <p:cNvPr id="28" name="Shape 26"/>
          <p:cNvSpPr/>
          <p:nvPr/>
        </p:nvSpPr>
        <p:spPr>
          <a:xfrm>
            <a:off x="1874520" y="1458468"/>
            <a:ext cx="1417320" cy="548640"/>
          </a:xfrm>
          <a:prstGeom prst="roundRect">
            <a:avLst>
              <a:gd name="adj" fmla="val 13333"/>
            </a:avLst>
          </a:prstGeom>
          <a:solidFill>
            <a:srgbClr val="F7E8C7"/>
          </a:solidFill>
          <a:ln w="15875">
            <a:solidFill>
              <a:srgbClr val="D97706"/>
            </a:solidFill>
            <a:prstDash val="solid"/>
          </a:ln>
          <a:effectLst>
            <a:outerShdw sx="100000" sy="100000" kx="0" ky="0" algn="bl" rotWithShape="0" blurRad="50800" dist="12700" dir="2700000">
              <a:srgbClr val="000000">
                <a:alpha val="10000"/>
              </a:srgbClr>
            </a:outerShdw>
          </a:effectLst>
        </p:spPr>
      </p:sp>
      <p:sp>
        <p:nvSpPr>
          <p:cNvPr id="29" name="Shape 27"/>
          <p:cNvSpPr/>
          <p:nvPr/>
        </p:nvSpPr>
        <p:spPr>
          <a:xfrm>
            <a:off x="1965960" y="1586484"/>
            <a:ext cx="292608" cy="292608"/>
          </a:xfrm>
          <a:prstGeom prst="oval">
            <a:avLst/>
          </a:prstGeom>
          <a:solidFill>
            <a:srgbClr val="D97706"/>
          </a:solidFill>
          <a:ln/>
        </p:spPr>
      </p:sp>
      <p:pic>
        <p:nvPicPr>
          <p:cNvPr id="30" name="Image 0" descr="preencoded.png">    </p:cNvPr>
          <p:cNvPicPr>
            <a:picLocks noChangeAspect="1"/>
          </p:cNvPicPr>
          <p:nvPr/>
        </p:nvPicPr>
        <p:blipFill>
          <a:blip r:embed="rId1"/>
          <a:stretch>
            <a:fillRect/>
          </a:stretch>
        </p:blipFill>
        <p:spPr>
          <a:xfrm>
            <a:off x="2020824" y="1641348"/>
            <a:ext cx="182880" cy="182880"/>
          </a:xfrm>
          <a:prstGeom prst="rect">
            <a:avLst/>
          </a:prstGeom>
        </p:spPr>
      </p:pic>
      <p:sp>
        <p:nvSpPr>
          <p:cNvPr id="31" name="Text 28"/>
          <p:cNvSpPr/>
          <p:nvPr/>
        </p:nvSpPr>
        <p:spPr>
          <a:xfrm>
            <a:off x="2295144" y="1458468"/>
            <a:ext cx="941832" cy="548640"/>
          </a:xfrm>
          <a:prstGeom prst="rect">
            <a:avLst/>
          </a:prstGeom>
          <a:noFill/>
          <a:ln/>
        </p:spPr>
        <p:txBody>
          <a:bodyPr wrap="square" lIns="0" tIns="0" rIns="0" bIns="0" rtlCol="0" anchor="ctr"/>
          <a:lstStyle/>
          <a:p>
            <a:pPr indent="0" marL="0">
              <a:buNone/>
            </a:pPr>
            <a:r>
              <a:rPr lang="en-US" sz="1100" b="1" dirty="0">
                <a:solidFill>
                  <a:srgbClr val="8B1A1A"/>
                </a:solidFill>
                <a:latin typeface="Cambria" pitchFamily="34" charset="0"/>
                <a:ea typeface="Cambria" pitchFamily="34" charset="-122"/>
                <a:cs typeface="Cambria" pitchFamily="34" charset="-120"/>
              </a:rPr>
              <a:t>Judge Design</a:t>
            </a:r>
            <a:endParaRPr lang="en-US" sz="1100" dirty="0"/>
          </a:p>
        </p:txBody>
      </p:sp>
      <p:sp>
        <p:nvSpPr>
          <p:cNvPr id="32" name="Shape 29"/>
          <p:cNvSpPr/>
          <p:nvPr/>
        </p:nvSpPr>
        <p:spPr>
          <a:xfrm>
            <a:off x="1874520" y="3296412"/>
            <a:ext cx="1417320" cy="548640"/>
          </a:xfrm>
          <a:prstGeom prst="roundRect">
            <a:avLst>
              <a:gd name="adj" fmla="val 13333"/>
            </a:avLst>
          </a:prstGeom>
          <a:solidFill>
            <a:srgbClr val="F7E8C7"/>
          </a:solidFill>
          <a:ln w="15875">
            <a:solidFill>
              <a:srgbClr val="D97706"/>
            </a:solidFill>
            <a:prstDash val="solid"/>
          </a:ln>
          <a:effectLst>
            <a:outerShdw sx="100000" sy="100000" kx="0" ky="0" algn="bl" rotWithShape="0" blurRad="50800" dist="12700" dir="2700000">
              <a:srgbClr val="000000">
                <a:alpha val="10000"/>
              </a:srgbClr>
            </a:outerShdw>
          </a:effectLst>
        </p:spPr>
      </p:sp>
      <p:sp>
        <p:nvSpPr>
          <p:cNvPr id="33" name="Shape 30"/>
          <p:cNvSpPr/>
          <p:nvPr/>
        </p:nvSpPr>
        <p:spPr>
          <a:xfrm>
            <a:off x="1965960" y="3424428"/>
            <a:ext cx="292608" cy="292608"/>
          </a:xfrm>
          <a:prstGeom prst="oval">
            <a:avLst/>
          </a:prstGeom>
          <a:solidFill>
            <a:srgbClr val="D97706"/>
          </a:solidFill>
          <a:ln/>
        </p:spPr>
      </p:sp>
      <p:pic>
        <p:nvPicPr>
          <p:cNvPr id="34" name="Image 1" descr="preencoded.png">    </p:cNvPr>
          <p:cNvPicPr>
            <a:picLocks noChangeAspect="1"/>
          </p:cNvPicPr>
          <p:nvPr/>
        </p:nvPicPr>
        <p:blipFill>
          <a:blip r:embed="rId2"/>
          <a:stretch>
            <a:fillRect/>
          </a:stretch>
        </p:blipFill>
        <p:spPr>
          <a:xfrm>
            <a:off x="2020824" y="3479292"/>
            <a:ext cx="182880" cy="182880"/>
          </a:xfrm>
          <a:prstGeom prst="rect">
            <a:avLst/>
          </a:prstGeom>
        </p:spPr>
      </p:pic>
      <p:sp>
        <p:nvSpPr>
          <p:cNvPr id="35" name="Text 31"/>
          <p:cNvSpPr/>
          <p:nvPr/>
        </p:nvSpPr>
        <p:spPr>
          <a:xfrm>
            <a:off x="2295144" y="3296412"/>
            <a:ext cx="941832" cy="548640"/>
          </a:xfrm>
          <a:prstGeom prst="rect">
            <a:avLst/>
          </a:prstGeom>
          <a:noFill/>
          <a:ln/>
        </p:spPr>
        <p:txBody>
          <a:bodyPr wrap="square" lIns="0" tIns="0" rIns="0" bIns="0" rtlCol="0" anchor="ctr"/>
          <a:lstStyle/>
          <a:p>
            <a:pPr indent="0" marL="0">
              <a:buNone/>
            </a:pPr>
            <a:r>
              <a:rPr lang="en-US" sz="1100" b="1" dirty="0">
                <a:solidFill>
                  <a:srgbClr val="8B1A1A"/>
                </a:solidFill>
                <a:latin typeface="Cambria" pitchFamily="34" charset="0"/>
                <a:ea typeface="Cambria" pitchFamily="34" charset="-122"/>
                <a:cs typeface="Cambria" pitchFamily="34" charset="-120"/>
              </a:rPr>
              <a:t>Validation &amp; Reporting</a:t>
            </a:r>
            <a:endParaRPr lang="en-US" sz="1100" dirty="0"/>
          </a:p>
        </p:txBody>
      </p:sp>
      <p:sp>
        <p:nvSpPr>
          <p:cNvPr id="36" name="Shape 32"/>
          <p:cNvSpPr/>
          <p:nvPr/>
        </p:nvSpPr>
        <p:spPr>
          <a:xfrm>
            <a:off x="3703320" y="914400"/>
            <a:ext cx="5074920" cy="502920"/>
          </a:xfrm>
          <a:prstGeom prst="roundRect">
            <a:avLst>
              <a:gd name="adj" fmla="val 10909"/>
            </a:avLst>
          </a:prstGeom>
          <a:solidFill>
            <a:srgbClr val="FBF8F3"/>
          </a:solidFill>
          <a:ln w="12700">
            <a:solidFill>
              <a:srgbClr val="8B1A1A"/>
            </a:solidFill>
            <a:prstDash val="solid"/>
          </a:ln>
          <a:effectLst>
            <a:outerShdw sx="100000" sy="100000" kx="0" ky="0" algn="bl" rotWithShape="0" blurRad="50800" dist="12700" dir="2700000">
              <a:srgbClr val="000000">
                <a:alpha val="8000"/>
              </a:srgbClr>
            </a:outerShdw>
          </a:effectLst>
        </p:spPr>
      </p:sp>
      <p:sp>
        <p:nvSpPr>
          <p:cNvPr id="37" name="Shape 33"/>
          <p:cNvSpPr/>
          <p:nvPr/>
        </p:nvSpPr>
        <p:spPr>
          <a:xfrm>
            <a:off x="3794760" y="1005840"/>
            <a:ext cx="320040" cy="320040"/>
          </a:xfrm>
          <a:prstGeom prst="oval">
            <a:avLst/>
          </a:prstGeom>
          <a:solidFill>
            <a:srgbClr val="FBE8C8"/>
          </a:solidFill>
          <a:ln w="9525">
            <a:solidFill>
              <a:srgbClr val="D97706"/>
            </a:solidFill>
            <a:prstDash val="solid"/>
          </a:ln>
        </p:spPr>
      </p:sp>
      <p:pic>
        <p:nvPicPr>
          <p:cNvPr id="38" name="Image 2" descr="preencoded.png">    </p:cNvPr>
          <p:cNvPicPr>
            <a:picLocks noChangeAspect="1"/>
          </p:cNvPicPr>
          <p:nvPr/>
        </p:nvPicPr>
        <p:blipFill>
          <a:blip r:embed="rId3"/>
          <a:stretch>
            <a:fillRect/>
          </a:stretch>
        </p:blipFill>
        <p:spPr>
          <a:xfrm>
            <a:off x="3858768" y="1069848"/>
            <a:ext cx="192024" cy="192024"/>
          </a:xfrm>
          <a:prstGeom prst="rect">
            <a:avLst/>
          </a:prstGeom>
        </p:spPr>
      </p:pic>
      <p:sp>
        <p:nvSpPr>
          <p:cNvPr id="39" name="Text 34"/>
          <p:cNvSpPr/>
          <p:nvPr/>
        </p:nvSpPr>
        <p:spPr>
          <a:xfrm>
            <a:off x="4206240" y="960120"/>
            <a:ext cx="4480560" cy="210312"/>
          </a:xfrm>
          <a:prstGeom prst="rect">
            <a:avLst/>
          </a:prstGeom>
          <a:noFill/>
          <a:ln/>
        </p:spPr>
        <p:txBody>
          <a:bodyPr wrap="square" lIns="0" tIns="0" rIns="0" bIns="0" rtlCol="0" anchor="ctr"/>
          <a:lstStyle/>
          <a:p>
            <a:pPr indent="0" marL="0">
              <a:buNone/>
            </a:pPr>
            <a:r>
              <a:rPr lang="en-US" sz="1100" b="1" dirty="0">
                <a:solidFill>
                  <a:srgbClr val="8B1A1A"/>
                </a:solidFill>
                <a:latin typeface="Cambria" pitchFamily="34" charset="0"/>
                <a:ea typeface="Cambria" pitchFamily="34" charset="-122"/>
                <a:cs typeface="Cambria" pitchFamily="34" charset="-120"/>
              </a:rPr>
              <a:t>Model Selection</a:t>
            </a:r>
            <a:endParaRPr lang="en-US" sz="1100" dirty="0"/>
          </a:p>
        </p:txBody>
      </p:sp>
      <p:sp>
        <p:nvSpPr>
          <p:cNvPr id="40" name="Text 35"/>
          <p:cNvSpPr/>
          <p:nvPr/>
        </p:nvSpPr>
        <p:spPr>
          <a:xfrm>
            <a:off x="4206240" y="1179576"/>
            <a:ext cx="4480560" cy="201168"/>
          </a:xfrm>
          <a:prstGeom prst="rect">
            <a:avLst/>
          </a:prstGeom>
          <a:noFill/>
          <a:ln/>
        </p:spPr>
        <p:txBody>
          <a:bodyPr wrap="square" lIns="0" tIns="0" rIns="0" bIns="0" rtlCol="0" anchor="ctr"/>
          <a:lstStyle/>
          <a:p>
            <a:pPr indent="0" marL="0">
              <a:buNone/>
            </a:pPr>
            <a:r>
              <a:rPr lang="en-US" sz="850" dirty="0">
                <a:solidFill>
                  <a:srgbClr val="374151"/>
                </a:solidFill>
                <a:latin typeface="Calibri" pitchFamily="34" charset="0"/>
                <a:ea typeface="Calibri" pitchFamily="34" charset="-122"/>
                <a:cs typeface="Calibri" pitchFamily="34" charset="-120"/>
              </a:rPr>
              <a:t>Frontier LLM  ·  Smaller LLMs  ·  Cross-model judging</a:t>
            </a:r>
            <a:endParaRPr lang="en-US" sz="850" dirty="0"/>
          </a:p>
        </p:txBody>
      </p:sp>
      <p:sp>
        <p:nvSpPr>
          <p:cNvPr id="41" name="Shape 36"/>
          <p:cNvSpPr/>
          <p:nvPr/>
        </p:nvSpPr>
        <p:spPr>
          <a:xfrm>
            <a:off x="3703320" y="1481328"/>
            <a:ext cx="5074920" cy="502920"/>
          </a:xfrm>
          <a:prstGeom prst="roundRect">
            <a:avLst>
              <a:gd name="adj" fmla="val 10909"/>
            </a:avLst>
          </a:prstGeom>
          <a:solidFill>
            <a:srgbClr val="FBF8F3"/>
          </a:solidFill>
          <a:ln w="12700">
            <a:solidFill>
              <a:srgbClr val="8B1A1A"/>
            </a:solidFill>
            <a:prstDash val="solid"/>
          </a:ln>
          <a:effectLst>
            <a:outerShdw sx="100000" sy="100000" kx="0" ky="0" algn="bl" rotWithShape="0" blurRad="50800" dist="12700" dir="2700000">
              <a:srgbClr val="000000">
                <a:alpha val="8000"/>
              </a:srgbClr>
            </a:outerShdw>
          </a:effectLst>
        </p:spPr>
      </p:sp>
      <p:sp>
        <p:nvSpPr>
          <p:cNvPr id="42" name="Shape 37"/>
          <p:cNvSpPr/>
          <p:nvPr/>
        </p:nvSpPr>
        <p:spPr>
          <a:xfrm>
            <a:off x="3794760" y="1572768"/>
            <a:ext cx="320040" cy="320040"/>
          </a:xfrm>
          <a:prstGeom prst="oval">
            <a:avLst/>
          </a:prstGeom>
          <a:solidFill>
            <a:srgbClr val="FBE8C8"/>
          </a:solidFill>
          <a:ln w="9525">
            <a:solidFill>
              <a:srgbClr val="D97706"/>
            </a:solidFill>
            <a:prstDash val="solid"/>
          </a:ln>
        </p:spPr>
      </p:sp>
      <p:pic>
        <p:nvPicPr>
          <p:cNvPr id="43" name="Image 3" descr="preencoded.png">    </p:cNvPr>
          <p:cNvPicPr>
            <a:picLocks noChangeAspect="1"/>
          </p:cNvPicPr>
          <p:nvPr/>
        </p:nvPicPr>
        <p:blipFill>
          <a:blip r:embed="rId4"/>
          <a:stretch>
            <a:fillRect/>
          </a:stretch>
        </p:blipFill>
        <p:spPr>
          <a:xfrm>
            <a:off x="3858768" y="1636776"/>
            <a:ext cx="192024" cy="192024"/>
          </a:xfrm>
          <a:prstGeom prst="rect">
            <a:avLst/>
          </a:prstGeom>
        </p:spPr>
      </p:pic>
      <p:sp>
        <p:nvSpPr>
          <p:cNvPr id="44" name="Text 38"/>
          <p:cNvSpPr/>
          <p:nvPr/>
        </p:nvSpPr>
        <p:spPr>
          <a:xfrm>
            <a:off x="4206240" y="1527048"/>
            <a:ext cx="4480560" cy="210312"/>
          </a:xfrm>
          <a:prstGeom prst="rect">
            <a:avLst/>
          </a:prstGeom>
          <a:noFill/>
          <a:ln/>
        </p:spPr>
        <p:txBody>
          <a:bodyPr wrap="square" lIns="0" tIns="0" rIns="0" bIns="0" rtlCol="0" anchor="ctr"/>
          <a:lstStyle/>
          <a:p>
            <a:pPr indent="0" marL="0">
              <a:buNone/>
            </a:pPr>
            <a:r>
              <a:rPr lang="en-US" sz="1100" b="1" dirty="0">
                <a:solidFill>
                  <a:srgbClr val="8B1A1A"/>
                </a:solidFill>
                <a:latin typeface="Cambria" pitchFamily="34" charset="0"/>
                <a:ea typeface="Cambria" pitchFamily="34" charset="-122"/>
                <a:cs typeface="Cambria" pitchFamily="34" charset="-120"/>
              </a:rPr>
              <a:t>Structured Prompting</a:t>
            </a:r>
            <a:endParaRPr lang="en-US" sz="1100" dirty="0"/>
          </a:p>
        </p:txBody>
      </p:sp>
      <p:sp>
        <p:nvSpPr>
          <p:cNvPr id="45" name="Text 39"/>
          <p:cNvSpPr/>
          <p:nvPr/>
        </p:nvSpPr>
        <p:spPr>
          <a:xfrm>
            <a:off x="4206240" y="1746504"/>
            <a:ext cx="4480560" cy="201168"/>
          </a:xfrm>
          <a:prstGeom prst="rect">
            <a:avLst/>
          </a:prstGeom>
          <a:noFill/>
          <a:ln/>
        </p:spPr>
        <p:txBody>
          <a:bodyPr wrap="square" lIns="0" tIns="0" rIns="0" bIns="0" rtlCol="0" anchor="ctr"/>
          <a:lstStyle/>
          <a:p>
            <a:pPr indent="0" marL="0">
              <a:buNone/>
            </a:pPr>
            <a:r>
              <a:rPr lang="en-US" sz="850" dirty="0">
                <a:solidFill>
                  <a:srgbClr val="374151"/>
                </a:solidFill>
                <a:latin typeface="Calibri" pitchFamily="34" charset="0"/>
                <a:ea typeface="Calibri" pitchFamily="34" charset="-122"/>
                <a:cs typeface="Calibri" pitchFamily="34" charset="-120"/>
              </a:rPr>
              <a:t>Define task + metric  ·  Chain of thought  ·  Schemas / style</a:t>
            </a:r>
            <a:endParaRPr lang="en-US" sz="850" dirty="0"/>
          </a:p>
        </p:txBody>
      </p:sp>
      <p:sp>
        <p:nvSpPr>
          <p:cNvPr id="46" name="Shape 40"/>
          <p:cNvSpPr/>
          <p:nvPr/>
        </p:nvSpPr>
        <p:spPr>
          <a:xfrm>
            <a:off x="3703320" y="2048256"/>
            <a:ext cx="5074920" cy="502920"/>
          </a:xfrm>
          <a:prstGeom prst="roundRect">
            <a:avLst>
              <a:gd name="adj" fmla="val 10909"/>
            </a:avLst>
          </a:prstGeom>
          <a:solidFill>
            <a:srgbClr val="FBF8F3"/>
          </a:solidFill>
          <a:ln w="12700">
            <a:solidFill>
              <a:srgbClr val="8B1A1A"/>
            </a:solidFill>
            <a:prstDash val="solid"/>
          </a:ln>
          <a:effectLst>
            <a:outerShdw sx="100000" sy="100000" kx="0" ky="0" algn="bl" rotWithShape="0" blurRad="50800" dist="12700" dir="2700000">
              <a:srgbClr val="000000">
                <a:alpha val="8000"/>
              </a:srgbClr>
            </a:outerShdw>
          </a:effectLst>
        </p:spPr>
      </p:sp>
      <p:sp>
        <p:nvSpPr>
          <p:cNvPr id="47" name="Shape 41"/>
          <p:cNvSpPr/>
          <p:nvPr/>
        </p:nvSpPr>
        <p:spPr>
          <a:xfrm>
            <a:off x="3794760" y="2139696"/>
            <a:ext cx="320040" cy="320040"/>
          </a:xfrm>
          <a:prstGeom prst="oval">
            <a:avLst/>
          </a:prstGeom>
          <a:solidFill>
            <a:srgbClr val="FBE8C8"/>
          </a:solidFill>
          <a:ln w="9525">
            <a:solidFill>
              <a:srgbClr val="D97706"/>
            </a:solidFill>
            <a:prstDash val="solid"/>
          </a:ln>
        </p:spPr>
      </p:sp>
      <p:pic>
        <p:nvPicPr>
          <p:cNvPr id="48" name="Image 4" descr="preencoded.png">    </p:cNvPr>
          <p:cNvPicPr>
            <a:picLocks noChangeAspect="1"/>
          </p:cNvPicPr>
          <p:nvPr/>
        </p:nvPicPr>
        <p:blipFill>
          <a:blip r:embed="rId5"/>
          <a:stretch>
            <a:fillRect/>
          </a:stretch>
        </p:blipFill>
        <p:spPr>
          <a:xfrm>
            <a:off x="3858768" y="2203704"/>
            <a:ext cx="192024" cy="192024"/>
          </a:xfrm>
          <a:prstGeom prst="rect">
            <a:avLst/>
          </a:prstGeom>
        </p:spPr>
      </p:pic>
      <p:sp>
        <p:nvSpPr>
          <p:cNvPr id="49" name="Text 42"/>
          <p:cNvSpPr/>
          <p:nvPr/>
        </p:nvSpPr>
        <p:spPr>
          <a:xfrm>
            <a:off x="4206240" y="2093976"/>
            <a:ext cx="4480560" cy="210312"/>
          </a:xfrm>
          <a:prstGeom prst="rect">
            <a:avLst/>
          </a:prstGeom>
          <a:noFill/>
          <a:ln/>
        </p:spPr>
        <p:txBody>
          <a:bodyPr wrap="square" lIns="0" tIns="0" rIns="0" bIns="0" rtlCol="0" anchor="ctr"/>
          <a:lstStyle/>
          <a:p>
            <a:pPr indent="0" marL="0">
              <a:buNone/>
            </a:pPr>
            <a:r>
              <a:rPr lang="en-US" sz="1100" b="1" dirty="0">
                <a:solidFill>
                  <a:srgbClr val="8B1A1A"/>
                </a:solidFill>
                <a:latin typeface="Cambria" pitchFamily="34" charset="0"/>
                <a:ea typeface="Cambria" pitchFamily="34" charset="-122"/>
                <a:cs typeface="Cambria" pitchFamily="34" charset="-120"/>
              </a:rPr>
              <a:t>Task Understanding</a:t>
            </a:r>
            <a:endParaRPr lang="en-US" sz="1100" dirty="0"/>
          </a:p>
        </p:txBody>
      </p:sp>
      <p:sp>
        <p:nvSpPr>
          <p:cNvPr id="50" name="Text 43"/>
          <p:cNvSpPr/>
          <p:nvPr/>
        </p:nvSpPr>
        <p:spPr>
          <a:xfrm>
            <a:off x="4206240" y="2313432"/>
            <a:ext cx="4480560" cy="201168"/>
          </a:xfrm>
          <a:prstGeom prst="rect">
            <a:avLst/>
          </a:prstGeom>
          <a:noFill/>
          <a:ln/>
        </p:spPr>
        <p:txBody>
          <a:bodyPr wrap="square" lIns="0" tIns="0" rIns="0" bIns="0" rtlCol="0" anchor="ctr"/>
          <a:lstStyle/>
          <a:p>
            <a:pPr indent="0" marL="0">
              <a:buNone/>
            </a:pPr>
            <a:r>
              <a:rPr lang="en-US" sz="850" dirty="0">
                <a:solidFill>
                  <a:srgbClr val="374151"/>
                </a:solidFill>
                <a:latin typeface="Calibri" pitchFamily="34" charset="0"/>
                <a:ea typeface="Calibri" pitchFamily="34" charset="-122"/>
                <a:cs typeface="Calibri" pitchFamily="34" charset="-120"/>
              </a:rPr>
              <a:t>Task decomposition  ·  Few-shot examples</a:t>
            </a:r>
            <a:endParaRPr lang="en-US" sz="850" dirty="0"/>
          </a:p>
        </p:txBody>
      </p:sp>
      <p:sp>
        <p:nvSpPr>
          <p:cNvPr id="51" name="Shape 44"/>
          <p:cNvSpPr/>
          <p:nvPr/>
        </p:nvSpPr>
        <p:spPr>
          <a:xfrm>
            <a:off x="3703320" y="2752344"/>
            <a:ext cx="5074920" cy="502920"/>
          </a:xfrm>
          <a:prstGeom prst="roundRect">
            <a:avLst>
              <a:gd name="adj" fmla="val 10909"/>
            </a:avLst>
          </a:prstGeom>
          <a:solidFill>
            <a:srgbClr val="FBF8F3"/>
          </a:solidFill>
          <a:ln w="12700">
            <a:solidFill>
              <a:srgbClr val="8B1A1A"/>
            </a:solidFill>
            <a:prstDash val="solid"/>
          </a:ln>
          <a:effectLst>
            <a:outerShdw sx="100000" sy="100000" kx="0" ky="0" algn="bl" rotWithShape="0" blurRad="50800" dist="12700" dir="2700000">
              <a:srgbClr val="000000">
                <a:alpha val="8000"/>
              </a:srgbClr>
            </a:outerShdw>
          </a:effectLst>
        </p:spPr>
      </p:sp>
      <p:sp>
        <p:nvSpPr>
          <p:cNvPr id="52" name="Shape 45"/>
          <p:cNvSpPr/>
          <p:nvPr/>
        </p:nvSpPr>
        <p:spPr>
          <a:xfrm>
            <a:off x="3794760" y="2843784"/>
            <a:ext cx="320040" cy="320040"/>
          </a:xfrm>
          <a:prstGeom prst="oval">
            <a:avLst/>
          </a:prstGeom>
          <a:solidFill>
            <a:srgbClr val="FBE8C8"/>
          </a:solidFill>
          <a:ln w="9525">
            <a:solidFill>
              <a:srgbClr val="D97706"/>
            </a:solidFill>
            <a:prstDash val="solid"/>
          </a:ln>
        </p:spPr>
      </p:sp>
      <p:pic>
        <p:nvPicPr>
          <p:cNvPr id="53" name="Image 5" descr="preencoded.png">    </p:cNvPr>
          <p:cNvPicPr>
            <a:picLocks noChangeAspect="1"/>
          </p:cNvPicPr>
          <p:nvPr/>
        </p:nvPicPr>
        <p:blipFill>
          <a:blip r:embed="rId6"/>
          <a:stretch>
            <a:fillRect/>
          </a:stretch>
        </p:blipFill>
        <p:spPr>
          <a:xfrm>
            <a:off x="3858768" y="2907792"/>
            <a:ext cx="192024" cy="192024"/>
          </a:xfrm>
          <a:prstGeom prst="rect">
            <a:avLst/>
          </a:prstGeom>
        </p:spPr>
      </p:pic>
      <p:sp>
        <p:nvSpPr>
          <p:cNvPr id="54" name="Text 46"/>
          <p:cNvSpPr/>
          <p:nvPr/>
        </p:nvSpPr>
        <p:spPr>
          <a:xfrm>
            <a:off x="4206240" y="2798064"/>
            <a:ext cx="4480560" cy="210312"/>
          </a:xfrm>
          <a:prstGeom prst="rect">
            <a:avLst/>
          </a:prstGeom>
          <a:noFill/>
          <a:ln/>
        </p:spPr>
        <p:txBody>
          <a:bodyPr wrap="square" lIns="0" tIns="0" rIns="0" bIns="0" rtlCol="0" anchor="ctr"/>
          <a:lstStyle/>
          <a:p>
            <a:pPr indent="0" marL="0">
              <a:buNone/>
            </a:pPr>
            <a:r>
              <a:rPr lang="en-US" sz="1100" b="1" dirty="0">
                <a:solidFill>
                  <a:srgbClr val="8B1A1A"/>
                </a:solidFill>
                <a:latin typeface="Cambria" pitchFamily="34" charset="0"/>
                <a:ea typeface="Cambria" pitchFamily="34" charset="-122"/>
                <a:cs typeface="Cambria" pitchFamily="34" charset="-120"/>
              </a:rPr>
              <a:t>Aggregation</a:t>
            </a:r>
            <a:endParaRPr lang="en-US" sz="1100" dirty="0"/>
          </a:p>
        </p:txBody>
      </p:sp>
      <p:sp>
        <p:nvSpPr>
          <p:cNvPr id="55" name="Text 47"/>
          <p:cNvSpPr/>
          <p:nvPr/>
        </p:nvSpPr>
        <p:spPr>
          <a:xfrm>
            <a:off x="4206240" y="3017520"/>
            <a:ext cx="4480560" cy="201168"/>
          </a:xfrm>
          <a:prstGeom prst="rect">
            <a:avLst/>
          </a:prstGeom>
          <a:noFill/>
          <a:ln/>
        </p:spPr>
        <p:txBody>
          <a:bodyPr wrap="square" lIns="0" tIns="0" rIns="0" bIns="0" rtlCol="0" anchor="ctr"/>
          <a:lstStyle/>
          <a:p>
            <a:pPr indent="0" marL="0">
              <a:buNone/>
            </a:pPr>
            <a:r>
              <a:rPr lang="en-US" sz="850" dirty="0">
                <a:solidFill>
                  <a:srgbClr val="374151"/>
                </a:solidFill>
                <a:latin typeface="Calibri" pitchFamily="34" charset="0"/>
                <a:ea typeface="Calibri" pitchFamily="34" charset="-122"/>
                <a:cs typeface="Calibri" pitchFamily="34" charset="-120"/>
              </a:rPr>
              <a:t>Heterogeneous panels  ·  Majority / weighted voting  ·  Reliability calibration</a:t>
            </a:r>
            <a:endParaRPr lang="en-US" sz="850" dirty="0"/>
          </a:p>
        </p:txBody>
      </p:sp>
      <p:sp>
        <p:nvSpPr>
          <p:cNvPr id="56" name="Shape 48"/>
          <p:cNvSpPr/>
          <p:nvPr/>
        </p:nvSpPr>
        <p:spPr>
          <a:xfrm>
            <a:off x="3703320" y="3319272"/>
            <a:ext cx="5074920" cy="502920"/>
          </a:xfrm>
          <a:prstGeom prst="roundRect">
            <a:avLst>
              <a:gd name="adj" fmla="val 10909"/>
            </a:avLst>
          </a:prstGeom>
          <a:solidFill>
            <a:srgbClr val="FBF8F3"/>
          </a:solidFill>
          <a:ln w="12700">
            <a:solidFill>
              <a:srgbClr val="8B1A1A"/>
            </a:solidFill>
            <a:prstDash val="solid"/>
          </a:ln>
          <a:effectLst>
            <a:outerShdw sx="100000" sy="100000" kx="0" ky="0" algn="bl" rotWithShape="0" blurRad="50800" dist="12700" dir="2700000">
              <a:srgbClr val="000000">
                <a:alpha val="8000"/>
              </a:srgbClr>
            </a:outerShdw>
          </a:effectLst>
        </p:spPr>
      </p:sp>
      <p:sp>
        <p:nvSpPr>
          <p:cNvPr id="57" name="Shape 49"/>
          <p:cNvSpPr/>
          <p:nvPr/>
        </p:nvSpPr>
        <p:spPr>
          <a:xfrm>
            <a:off x="3794760" y="3410712"/>
            <a:ext cx="320040" cy="320040"/>
          </a:xfrm>
          <a:prstGeom prst="oval">
            <a:avLst/>
          </a:prstGeom>
          <a:solidFill>
            <a:srgbClr val="FBE8C8"/>
          </a:solidFill>
          <a:ln w="9525">
            <a:solidFill>
              <a:srgbClr val="D97706"/>
            </a:solidFill>
            <a:prstDash val="solid"/>
          </a:ln>
        </p:spPr>
      </p:sp>
      <p:pic>
        <p:nvPicPr>
          <p:cNvPr id="58" name="Image 6" descr="preencoded.png">    </p:cNvPr>
          <p:cNvPicPr>
            <a:picLocks noChangeAspect="1"/>
          </p:cNvPicPr>
          <p:nvPr/>
        </p:nvPicPr>
        <p:blipFill>
          <a:blip r:embed="rId7"/>
          <a:stretch>
            <a:fillRect/>
          </a:stretch>
        </p:blipFill>
        <p:spPr>
          <a:xfrm>
            <a:off x="3858768" y="3474720"/>
            <a:ext cx="192024" cy="192024"/>
          </a:xfrm>
          <a:prstGeom prst="rect">
            <a:avLst/>
          </a:prstGeom>
        </p:spPr>
      </p:pic>
      <p:sp>
        <p:nvSpPr>
          <p:cNvPr id="59" name="Text 50"/>
          <p:cNvSpPr/>
          <p:nvPr/>
        </p:nvSpPr>
        <p:spPr>
          <a:xfrm>
            <a:off x="4206240" y="3364992"/>
            <a:ext cx="4480560" cy="210312"/>
          </a:xfrm>
          <a:prstGeom prst="rect">
            <a:avLst/>
          </a:prstGeom>
          <a:noFill/>
          <a:ln/>
        </p:spPr>
        <p:txBody>
          <a:bodyPr wrap="square" lIns="0" tIns="0" rIns="0" bIns="0" rtlCol="0" anchor="ctr"/>
          <a:lstStyle/>
          <a:p>
            <a:pPr indent="0" marL="0">
              <a:buNone/>
            </a:pPr>
            <a:r>
              <a:rPr lang="en-US" sz="1100" b="1" dirty="0">
                <a:solidFill>
                  <a:srgbClr val="8B1A1A"/>
                </a:solidFill>
                <a:latin typeface="Cambria" pitchFamily="34" charset="0"/>
                <a:ea typeface="Cambria" pitchFamily="34" charset="-122"/>
                <a:cs typeface="Cambria" pitchFamily="34" charset="-120"/>
              </a:rPr>
              <a:t>Reporting Scores</a:t>
            </a:r>
            <a:endParaRPr lang="en-US" sz="1100" dirty="0"/>
          </a:p>
        </p:txBody>
      </p:sp>
      <p:sp>
        <p:nvSpPr>
          <p:cNvPr id="60" name="Text 51"/>
          <p:cNvSpPr/>
          <p:nvPr/>
        </p:nvSpPr>
        <p:spPr>
          <a:xfrm>
            <a:off x="4206240" y="3584448"/>
            <a:ext cx="4480560" cy="201168"/>
          </a:xfrm>
          <a:prstGeom prst="rect">
            <a:avLst/>
          </a:prstGeom>
          <a:noFill/>
          <a:ln/>
        </p:spPr>
        <p:txBody>
          <a:bodyPr wrap="square" lIns="0" tIns="0" rIns="0" bIns="0" rtlCol="0" anchor="ctr"/>
          <a:lstStyle/>
          <a:p>
            <a:pPr indent="0" marL="0">
              <a:buNone/>
            </a:pPr>
            <a:r>
              <a:rPr lang="en-US" sz="850" dirty="0">
                <a:solidFill>
                  <a:srgbClr val="374151"/>
                </a:solidFill>
                <a:latin typeface="Calibri" pitchFamily="34" charset="0"/>
                <a:ea typeface="Calibri" pitchFamily="34" charset="-122"/>
                <a:cs typeface="Calibri" pitchFamily="34" charset="-120"/>
              </a:rPr>
              <a:t>Ratio (supported / total claims)  ·  Rubric (1–5) for partial quality</a:t>
            </a:r>
            <a:endParaRPr lang="en-US" sz="850" dirty="0"/>
          </a:p>
        </p:txBody>
      </p:sp>
      <p:sp>
        <p:nvSpPr>
          <p:cNvPr id="61" name="Shape 52"/>
          <p:cNvSpPr/>
          <p:nvPr/>
        </p:nvSpPr>
        <p:spPr>
          <a:xfrm>
            <a:off x="3703320" y="3886200"/>
            <a:ext cx="5074920" cy="502920"/>
          </a:xfrm>
          <a:prstGeom prst="roundRect">
            <a:avLst>
              <a:gd name="adj" fmla="val 10909"/>
            </a:avLst>
          </a:prstGeom>
          <a:solidFill>
            <a:srgbClr val="FBF8F3"/>
          </a:solidFill>
          <a:ln w="12700">
            <a:solidFill>
              <a:srgbClr val="8B1A1A"/>
            </a:solidFill>
            <a:prstDash val="solid"/>
          </a:ln>
          <a:effectLst>
            <a:outerShdw sx="100000" sy="100000" kx="0" ky="0" algn="bl" rotWithShape="0" blurRad="50800" dist="12700" dir="2700000">
              <a:srgbClr val="000000">
                <a:alpha val="8000"/>
              </a:srgbClr>
            </a:outerShdw>
          </a:effectLst>
        </p:spPr>
      </p:sp>
      <p:sp>
        <p:nvSpPr>
          <p:cNvPr id="62" name="Shape 53"/>
          <p:cNvSpPr/>
          <p:nvPr/>
        </p:nvSpPr>
        <p:spPr>
          <a:xfrm>
            <a:off x="3794760" y="3977640"/>
            <a:ext cx="320040" cy="320040"/>
          </a:xfrm>
          <a:prstGeom prst="oval">
            <a:avLst/>
          </a:prstGeom>
          <a:solidFill>
            <a:srgbClr val="FBE8C8"/>
          </a:solidFill>
          <a:ln w="9525">
            <a:solidFill>
              <a:srgbClr val="D97706"/>
            </a:solidFill>
            <a:prstDash val="solid"/>
          </a:ln>
        </p:spPr>
      </p:sp>
      <p:pic>
        <p:nvPicPr>
          <p:cNvPr id="63" name="Image 7" descr="preencoded.png">    </p:cNvPr>
          <p:cNvPicPr>
            <a:picLocks noChangeAspect="1"/>
          </p:cNvPicPr>
          <p:nvPr/>
        </p:nvPicPr>
        <p:blipFill>
          <a:blip r:embed="rId8"/>
          <a:stretch>
            <a:fillRect/>
          </a:stretch>
        </p:blipFill>
        <p:spPr>
          <a:xfrm>
            <a:off x="3858768" y="4041648"/>
            <a:ext cx="192024" cy="192024"/>
          </a:xfrm>
          <a:prstGeom prst="rect">
            <a:avLst/>
          </a:prstGeom>
        </p:spPr>
      </p:pic>
      <p:sp>
        <p:nvSpPr>
          <p:cNvPr id="64" name="Text 54"/>
          <p:cNvSpPr/>
          <p:nvPr/>
        </p:nvSpPr>
        <p:spPr>
          <a:xfrm>
            <a:off x="4206240" y="3931920"/>
            <a:ext cx="4480560" cy="210312"/>
          </a:xfrm>
          <a:prstGeom prst="rect">
            <a:avLst/>
          </a:prstGeom>
          <a:noFill/>
          <a:ln/>
        </p:spPr>
        <p:txBody>
          <a:bodyPr wrap="square" lIns="0" tIns="0" rIns="0" bIns="0" rtlCol="0" anchor="ctr"/>
          <a:lstStyle/>
          <a:p>
            <a:pPr indent="0" marL="0">
              <a:buNone/>
            </a:pPr>
            <a:r>
              <a:rPr lang="en-US" sz="1100" b="1" dirty="0">
                <a:solidFill>
                  <a:srgbClr val="8B1A1A"/>
                </a:solidFill>
                <a:latin typeface="Cambria" pitchFamily="34" charset="0"/>
                <a:ea typeface="Cambria" pitchFamily="34" charset="-122"/>
                <a:cs typeface="Cambria" pitchFamily="34" charset="-120"/>
              </a:rPr>
              <a:t>Judge Evaluation</a:t>
            </a:r>
            <a:endParaRPr lang="en-US" sz="1100" dirty="0"/>
          </a:p>
        </p:txBody>
      </p:sp>
      <p:sp>
        <p:nvSpPr>
          <p:cNvPr id="65" name="Text 55"/>
          <p:cNvSpPr/>
          <p:nvPr/>
        </p:nvSpPr>
        <p:spPr>
          <a:xfrm>
            <a:off x="4206240" y="4151376"/>
            <a:ext cx="4480560" cy="201168"/>
          </a:xfrm>
          <a:prstGeom prst="rect">
            <a:avLst/>
          </a:prstGeom>
          <a:noFill/>
          <a:ln/>
        </p:spPr>
        <p:txBody>
          <a:bodyPr wrap="square" lIns="0" tIns="0" rIns="0" bIns="0" rtlCol="0" anchor="ctr"/>
          <a:lstStyle/>
          <a:p>
            <a:pPr indent="0" marL="0">
              <a:buNone/>
            </a:pPr>
            <a:r>
              <a:rPr lang="en-US" sz="850" dirty="0">
                <a:solidFill>
                  <a:srgbClr val="374151"/>
                </a:solidFill>
                <a:latin typeface="Calibri" pitchFamily="34" charset="0"/>
                <a:ea typeface="Calibri" pitchFamily="34" charset="-122"/>
                <a:cs typeface="Calibri" pitchFamily="34" charset="-120"/>
              </a:rPr>
              <a:t>HCR / ICR + accuracy, F1, Spearman  ·  Validate vs human / gold</a:t>
            </a:r>
            <a:endParaRPr lang="en-US" sz="850" dirty="0"/>
          </a:p>
        </p:txBody>
      </p:sp>
      <p:sp>
        <p:nvSpPr>
          <p:cNvPr id="66" name="Text 56"/>
          <p:cNvSpPr/>
          <p:nvPr/>
        </p:nvSpPr>
        <p:spPr>
          <a:xfrm>
            <a:off x="365760" y="4572000"/>
            <a:ext cx="1463040" cy="228600"/>
          </a:xfrm>
          <a:prstGeom prst="rect">
            <a:avLst/>
          </a:prstGeom>
          <a:noFill/>
          <a:ln/>
        </p:spPr>
        <p:txBody>
          <a:bodyPr wrap="square" lIns="0" tIns="0" rIns="0" bIns="0" rtlCol="0" anchor="ctr"/>
          <a:lstStyle/>
          <a:p>
            <a:pPr indent="0" marL="0">
              <a:buNone/>
            </a:pPr>
            <a:r>
              <a:rPr lang="en-US" sz="900" b="1" dirty="0">
                <a:solidFill>
                  <a:srgbClr val="6B7280"/>
                </a:solidFill>
                <a:latin typeface="Calibri" pitchFamily="34" charset="0"/>
                <a:ea typeface="Calibri" pitchFamily="34" charset="-122"/>
                <a:cs typeface="Calibri" pitchFamily="34" charset="-120"/>
              </a:rPr>
              <a:t>Biases addressed:</a:t>
            </a:r>
            <a:endParaRPr lang="en-US" sz="900" dirty="0"/>
          </a:p>
        </p:txBody>
      </p:sp>
      <p:pic>
        <p:nvPicPr>
          <p:cNvPr id="67" name="Image 8" descr="preencoded.png">    </p:cNvPr>
          <p:cNvPicPr>
            <a:picLocks noChangeAspect="1"/>
          </p:cNvPicPr>
          <p:nvPr/>
        </p:nvPicPr>
        <p:blipFill>
          <a:blip r:embed="rId9"/>
          <a:stretch>
            <a:fillRect/>
          </a:stretch>
        </p:blipFill>
        <p:spPr>
          <a:xfrm>
            <a:off x="1874520" y="4608576"/>
            <a:ext cx="164592" cy="164592"/>
          </a:xfrm>
          <a:prstGeom prst="rect">
            <a:avLst/>
          </a:prstGeom>
        </p:spPr>
      </p:pic>
      <p:sp>
        <p:nvSpPr>
          <p:cNvPr id="68" name="Text 57"/>
          <p:cNvSpPr/>
          <p:nvPr/>
        </p:nvSpPr>
        <p:spPr>
          <a:xfrm>
            <a:off x="2075688" y="4572000"/>
            <a:ext cx="1124712" cy="228600"/>
          </a:xfrm>
          <a:prstGeom prst="rect">
            <a:avLst/>
          </a:prstGeom>
          <a:noFill/>
          <a:ln/>
        </p:spPr>
        <p:txBody>
          <a:bodyPr wrap="square" lIns="0" tIns="0" rIns="0" bIns="0" rtlCol="0" anchor="ctr"/>
          <a:lstStyle/>
          <a:p>
            <a:pPr indent="0" marL="0">
              <a:buNone/>
            </a:pPr>
            <a:r>
              <a:rPr lang="en-US" sz="850" dirty="0">
                <a:solidFill>
                  <a:srgbClr val="374151"/>
                </a:solidFill>
                <a:latin typeface="Calibri" pitchFamily="34" charset="0"/>
                <a:ea typeface="Calibri" pitchFamily="34" charset="-122"/>
                <a:cs typeface="Calibri" pitchFamily="34" charset="-120"/>
              </a:rPr>
              <a:t>Self-preference</a:t>
            </a:r>
            <a:endParaRPr lang="en-US" sz="850" dirty="0"/>
          </a:p>
        </p:txBody>
      </p:sp>
      <p:pic>
        <p:nvPicPr>
          <p:cNvPr id="69" name="Image 9" descr="preencoded.png">    </p:cNvPr>
          <p:cNvPicPr>
            <a:picLocks noChangeAspect="1"/>
          </p:cNvPicPr>
          <p:nvPr/>
        </p:nvPicPr>
        <p:blipFill>
          <a:blip r:embed="rId10"/>
          <a:stretch>
            <a:fillRect/>
          </a:stretch>
        </p:blipFill>
        <p:spPr>
          <a:xfrm>
            <a:off x="3200400" y="4608576"/>
            <a:ext cx="164592" cy="164592"/>
          </a:xfrm>
          <a:prstGeom prst="rect">
            <a:avLst/>
          </a:prstGeom>
        </p:spPr>
      </p:pic>
      <p:sp>
        <p:nvSpPr>
          <p:cNvPr id="70" name="Text 58"/>
          <p:cNvSpPr/>
          <p:nvPr/>
        </p:nvSpPr>
        <p:spPr>
          <a:xfrm>
            <a:off x="3401568" y="4572000"/>
            <a:ext cx="1124712" cy="228600"/>
          </a:xfrm>
          <a:prstGeom prst="rect">
            <a:avLst/>
          </a:prstGeom>
          <a:noFill/>
          <a:ln/>
        </p:spPr>
        <p:txBody>
          <a:bodyPr wrap="square" lIns="0" tIns="0" rIns="0" bIns="0" rtlCol="0" anchor="ctr"/>
          <a:lstStyle/>
          <a:p>
            <a:pPr indent="0" marL="0">
              <a:buNone/>
            </a:pPr>
            <a:r>
              <a:rPr lang="en-US" sz="850" dirty="0">
                <a:solidFill>
                  <a:srgbClr val="374151"/>
                </a:solidFill>
                <a:latin typeface="Calibri" pitchFamily="34" charset="0"/>
                <a:ea typeface="Calibri" pitchFamily="34" charset="-122"/>
                <a:cs typeface="Calibri" pitchFamily="34" charset="-120"/>
              </a:rPr>
              <a:t>Verbosity</a:t>
            </a:r>
            <a:endParaRPr lang="en-US" sz="850" dirty="0"/>
          </a:p>
        </p:txBody>
      </p:sp>
      <p:pic>
        <p:nvPicPr>
          <p:cNvPr id="71" name="Image 10" descr="preencoded.png">    </p:cNvPr>
          <p:cNvPicPr>
            <a:picLocks noChangeAspect="1"/>
          </p:cNvPicPr>
          <p:nvPr/>
        </p:nvPicPr>
        <p:blipFill>
          <a:blip r:embed="rId11"/>
          <a:stretch>
            <a:fillRect/>
          </a:stretch>
        </p:blipFill>
        <p:spPr>
          <a:xfrm>
            <a:off x="4526280" y="4608576"/>
            <a:ext cx="164592" cy="164592"/>
          </a:xfrm>
          <a:prstGeom prst="rect">
            <a:avLst/>
          </a:prstGeom>
        </p:spPr>
      </p:pic>
      <p:sp>
        <p:nvSpPr>
          <p:cNvPr id="72" name="Text 59"/>
          <p:cNvSpPr/>
          <p:nvPr/>
        </p:nvSpPr>
        <p:spPr>
          <a:xfrm>
            <a:off x="4727448" y="4572000"/>
            <a:ext cx="1124712" cy="228600"/>
          </a:xfrm>
          <a:prstGeom prst="rect">
            <a:avLst/>
          </a:prstGeom>
          <a:noFill/>
          <a:ln/>
        </p:spPr>
        <p:txBody>
          <a:bodyPr wrap="square" lIns="0" tIns="0" rIns="0" bIns="0" rtlCol="0" anchor="ctr"/>
          <a:lstStyle/>
          <a:p>
            <a:pPr indent="0" marL="0">
              <a:buNone/>
            </a:pPr>
            <a:r>
              <a:rPr lang="en-US" sz="850" dirty="0">
                <a:solidFill>
                  <a:srgbClr val="374151"/>
                </a:solidFill>
                <a:latin typeface="Calibri" pitchFamily="34" charset="0"/>
                <a:ea typeface="Calibri" pitchFamily="34" charset="-122"/>
                <a:cs typeface="Calibri" pitchFamily="34" charset="-120"/>
              </a:rPr>
              <a:t>Style preference</a:t>
            </a:r>
            <a:endParaRPr lang="en-US" sz="850" dirty="0"/>
          </a:p>
        </p:txBody>
      </p:sp>
      <p:pic>
        <p:nvPicPr>
          <p:cNvPr id="73" name="Image 11" descr="preencoded.png">    </p:cNvPr>
          <p:cNvPicPr>
            <a:picLocks noChangeAspect="1"/>
          </p:cNvPicPr>
          <p:nvPr/>
        </p:nvPicPr>
        <p:blipFill>
          <a:blip r:embed="rId12"/>
          <a:stretch>
            <a:fillRect/>
          </a:stretch>
        </p:blipFill>
        <p:spPr>
          <a:xfrm>
            <a:off x="5852160" y="4608576"/>
            <a:ext cx="164592" cy="164592"/>
          </a:xfrm>
          <a:prstGeom prst="rect">
            <a:avLst/>
          </a:prstGeom>
        </p:spPr>
      </p:pic>
      <p:sp>
        <p:nvSpPr>
          <p:cNvPr id="74" name="Text 60"/>
          <p:cNvSpPr/>
          <p:nvPr/>
        </p:nvSpPr>
        <p:spPr>
          <a:xfrm>
            <a:off x="6053328" y="4572000"/>
            <a:ext cx="1124712" cy="228600"/>
          </a:xfrm>
          <a:prstGeom prst="rect">
            <a:avLst/>
          </a:prstGeom>
          <a:noFill/>
          <a:ln/>
        </p:spPr>
        <p:txBody>
          <a:bodyPr wrap="square" lIns="0" tIns="0" rIns="0" bIns="0" rtlCol="0" anchor="ctr"/>
          <a:lstStyle/>
          <a:p>
            <a:pPr indent="0" marL="0">
              <a:buNone/>
            </a:pPr>
            <a:r>
              <a:rPr lang="en-US" sz="850" dirty="0">
                <a:solidFill>
                  <a:srgbClr val="374151"/>
                </a:solidFill>
                <a:latin typeface="Calibri" pitchFamily="34" charset="0"/>
                <a:ea typeface="Calibri" pitchFamily="34" charset="-122"/>
                <a:cs typeface="Calibri" pitchFamily="34" charset="-120"/>
              </a:rPr>
              <a:t>Prompt sensitivity</a:t>
            </a:r>
            <a:endParaRPr lang="en-US" sz="850" dirty="0"/>
          </a:p>
        </p:txBody>
      </p:sp>
      <p:pic>
        <p:nvPicPr>
          <p:cNvPr id="75" name="Image 12" descr="preencoded.png">    </p:cNvPr>
          <p:cNvPicPr>
            <a:picLocks noChangeAspect="1"/>
          </p:cNvPicPr>
          <p:nvPr/>
        </p:nvPicPr>
        <p:blipFill>
          <a:blip r:embed="rId13"/>
          <a:stretch>
            <a:fillRect/>
          </a:stretch>
        </p:blipFill>
        <p:spPr>
          <a:xfrm>
            <a:off x="7178040" y="4608576"/>
            <a:ext cx="164592" cy="164592"/>
          </a:xfrm>
          <a:prstGeom prst="rect">
            <a:avLst/>
          </a:prstGeom>
        </p:spPr>
      </p:pic>
      <p:sp>
        <p:nvSpPr>
          <p:cNvPr id="76" name="Text 61"/>
          <p:cNvSpPr/>
          <p:nvPr/>
        </p:nvSpPr>
        <p:spPr>
          <a:xfrm>
            <a:off x="7379208" y="4572000"/>
            <a:ext cx="1124712" cy="228600"/>
          </a:xfrm>
          <a:prstGeom prst="rect">
            <a:avLst/>
          </a:prstGeom>
          <a:noFill/>
          <a:ln/>
        </p:spPr>
        <p:txBody>
          <a:bodyPr wrap="square" lIns="0" tIns="0" rIns="0" bIns="0" rtlCol="0" anchor="ctr"/>
          <a:lstStyle/>
          <a:p>
            <a:pPr indent="0" marL="0">
              <a:buNone/>
            </a:pPr>
            <a:r>
              <a:rPr lang="en-US" sz="850" dirty="0">
                <a:solidFill>
                  <a:srgbClr val="374151"/>
                </a:solidFill>
                <a:latin typeface="Calibri" pitchFamily="34" charset="0"/>
                <a:ea typeface="Calibri" pitchFamily="34" charset="-122"/>
                <a:cs typeface="Calibri" pitchFamily="34" charset="-120"/>
              </a:rPr>
              <a:t>False acceptance</a:t>
            </a:r>
            <a:endParaRPr lang="en-US" sz="850" dirty="0"/>
          </a:p>
        </p:txBody>
      </p:sp>
      <p:sp>
        <p:nvSpPr>
          <p:cNvPr id="77" name="Text 62"/>
          <p:cNvSpPr/>
          <p:nvPr/>
        </p:nvSpPr>
        <p:spPr>
          <a:xfrm>
            <a:off x="8412480" y="4846320"/>
            <a:ext cx="548640" cy="182880"/>
          </a:xfrm>
          <a:prstGeom prst="rect">
            <a:avLst/>
          </a:prstGeom>
          <a:noFill/>
          <a:ln/>
        </p:spPr>
        <p:txBody>
          <a:bodyPr wrap="square" lIns="0" tIns="0" rIns="0" bIns="0" rtlCol="0" anchor="ctr"/>
          <a:lstStyle/>
          <a:p>
            <a:pPr algn="r" indent="0" marL="0">
              <a:buNone/>
            </a:pPr>
            <a:r>
              <a:rPr lang="en-US" sz="800" dirty="0">
                <a:solidFill>
                  <a:srgbClr val="9CA3AF"/>
                </a:solidFill>
                <a:latin typeface="Calibri" pitchFamily="34" charset="0"/>
                <a:ea typeface="Calibri" pitchFamily="34" charset="-122"/>
                <a:cs typeface="Calibri" pitchFamily="34" charset="-120"/>
              </a:rPr>
              <a:t>7 / 7</a:t>
            </a:r>
            <a:endParaRPr lang="en-US" sz="800" dirty="0"/>
          </a:p>
        </p:txBody>
      </p:sp>
      <p:sp>
        <p:nvSpPr>
          <p:cNvPr id="78" name="Text 63"/>
          <p:cNvSpPr/>
          <p:nvPr/>
        </p:nvSpPr>
        <p:spPr>
          <a:xfrm>
            <a:off x="457200" y="4846320"/>
            <a:ext cx="5486400" cy="182880"/>
          </a:xfrm>
          <a:prstGeom prst="rect">
            <a:avLst/>
          </a:prstGeom>
          <a:noFill/>
          <a:ln/>
        </p:spPr>
        <p:txBody>
          <a:bodyPr wrap="square" lIns="0" tIns="0" rIns="0" bIns="0" rtlCol="0" anchor="ctr"/>
          <a:lstStyle/>
          <a:p>
            <a:pPr indent="0" marL="0">
              <a:buNone/>
            </a:pPr>
            <a:r>
              <a:rPr lang="en-US" sz="800" dirty="0">
                <a:solidFill>
                  <a:srgbClr val="9CA3AF"/>
                </a:solidFill>
                <a:latin typeface="Calibri" pitchFamily="34" charset="0"/>
                <a:ea typeface="Calibri" pitchFamily="34" charset="-122"/>
                <a:cs typeface="Calibri" pitchFamily="34" charset="-120"/>
              </a:rPr>
              <a:t>LLM-as-Judge: Best Practices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LLM-as-Judge: What Actually Works?</dc:title>
  <dc:subject>PptxGenJS Presentation</dc:subject>
  <dc:creator>Empirical Evidence &amp; Best Practices</dc:creator>
  <cp:lastModifiedBy>Empirical Evidence &amp; Best Practices</cp:lastModifiedBy>
  <cp:revision>1</cp:revision>
  <dcterms:created xsi:type="dcterms:W3CDTF">2026-06-22T05:18:27Z</dcterms:created>
  <dcterms:modified xsi:type="dcterms:W3CDTF">2026-06-22T05:18:27Z</dcterms:modified>
</cp:coreProperties>
</file>