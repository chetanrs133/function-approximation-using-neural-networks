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embeddedFontLst>
    <p:embeddedFont>
      <p:font typeface="Inter"/>
      <p:regular r:id="rId9"/>
      <p:bold r:id="rId10"/>
      <p:italic r:id="rId11"/>
      <p:boldItalic r:id="rId12"/>
    </p:embeddedFont>
    <p:embeddedFont>
      <p:font typeface="Outfit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italic.fntdata"/><Relationship Id="rId10" Type="http://schemas.openxmlformats.org/officeDocument/2006/relationships/font" Target="fonts/Inter-bold.fntdata"/><Relationship Id="rId13" Type="http://schemas.openxmlformats.org/officeDocument/2006/relationships/font" Target="fonts/Outfit-regular.fntdata"/><Relationship Id="rId12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regular.fntdata"/><Relationship Id="rId14" Type="http://schemas.openxmlformats.org/officeDocument/2006/relationships/font" Target="fonts/Outfi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11" Type="http://schemas.openxmlformats.org/officeDocument/2006/relationships/image" Target="../media/image13.png"/><Relationship Id="rId10" Type="http://schemas.openxmlformats.org/officeDocument/2006/relationships/image" Target="../media/image15.png"/><Relationship Id="rId12" Type="http://schemas.openxmlformats.org/officeDocument/2006/relationships/image" Target="../media/image6.png"/><Relationship Id="rId9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11" Type="http://schemas.openxmlformats.org/officeDocument/2006/relationships/image" Target="../media/image20.png"/><Relationship Id="rId10" Type="http://schemas.openxmlformats.org/officeDocument/2006/relationships/image" Target="../media/image2.png"/><Relationship Id="rId9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11" Type="http://schemas.openxmlformats.org/officeDocument/2006/relationships/image" Target="../media/image12.png"/><Relationship Id="rId10" Type="http://schemas.openxmlformats.org/officeDocument/2006/relationships/image" Target="../media/image19.png"/><Relationship Id="rId12" Type="http://schemas.openxmlformats.org/officeDocument/2006/relationships/image" Target="../media/image22.png"/><Relationship Id="rId9" Type="http://schemas.openxmlformats.org/officeDocument/2006/relationships/image" Target="../media/image21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34100"/>
            <a:ext cx="110490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7037" y="1800225"/>
            <a:ext cx="4843462" cy="13885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7037" y="3331666"/>
            <a:ext cx="4843462" cy="1228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7037" y="4703117"/>
            <a:ext cx="4843462" cy="122857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571500" y="1352550"/>
            <a:ext cx="591978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PRESCRIPTION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777037" y="1352550"/>
            <a:ext cx="484346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JUSTIFICATION / BACKING</a:t>
            </a:r>
            <a:endParaRPr/>
          </a:p>
        </p:txBody>
      </p:sp>
      <p:pic>
        <p:nvPicPr>
          <p:cNvPr descr="image.png" id="91" name="Google Shape;9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028825"/>
            <a:ext cx="2095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3219450"/>
            <a:ext cx="1809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150" y="4410075"/>
            <a:ext cx="2095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7224712" y="1990725"/>
            <a:ext cx="42052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Reasoning Sensitivity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7024687" y="2247900"/>
            <a:ext cx="4405312" cy="750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Judging requires evidence-sensitive reasoning: claim extraction and source comparison. </a:t>
            </a: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G-eval (r~0.514); MT-Bench ~80% human agreement [Liu et al., 2023; Zheng et al., 2023]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224712" y="3522166"/>
            <a:ext cx="42052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Narrow Task Efficiency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024687" y="3779341"/>
            <a:ext cx="4405312" cy="590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Fine-tuning/aggregation can bridge the gap; smaller models can achieve 90%+ agreement with GPT-4 in narrow domains. </a:t>
            </a: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JudgeLM 7B/13B; [Zhu et al., 2023; Wang et al., 2024]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7243762" y="4893617"/>
            <a:ext cx="41862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Familiarity Bias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7024687" y="5150792"/>
            <a:ext cx="4405312" cy="590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Models favor their own family's output style. A model shouldn't be its own judge. </a:t>
            </a: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[Koo et al., 2023; G-Eval bias test, Oct 2023]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1171575" y="1990725"/>
            <a:ext cx="51292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11827"/>
                </a:solidFill>
                <a:latin typeface="Outfit"/>
                <a:ea typeface="Outfit"/>
                <a:cs typeface="Outfit"/>
                <a:sym typeface="Outfit"/>
              </a:rPr>
              <a:t>Frontline LLMs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171575" y="2257425"/>
            <a:ext cx="51292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Utilize GPT-4, Claude 3 Opus/Sonnet, or Gemini Pro/Flash. The judge should usually be at least as capable as the generator (preferably stronger).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1143000" y="3181350"/>
            <a:ext cx="51577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11827"/>
                </a:solidFill>
                <a:latin typeface="Outfit"/>
                <a:ea typeface="Outfit"/>
                <a:cs typeface="Outfit"/>
                <a:sym typeface="Outfit"/>
              </a:rPr>
              <a:t>Smaller LLMs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1143000" y="3448050"/>
            <a:ext cx="51577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Smaller models (Llama-3 8B, Mistral) work under narrow tasks with a specific rubric/panel setup. Ideal for fine-tuned hallucination detectors.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1171575" y="4371975"/>
            <a:ext cx="51292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11827"/>
                </a:solidFill>
                <a:latin typeface="Outfit"/>
                <a:ea typeface="Outfit"/>
                <a:cs typeface="Outfit"/>
                <a:sym typeface="Outfit"/>
              </a:rPr>
              <a:t>Cross-Model Judging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1171575" y="4638675"/>
            <a:ext cx="51292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Use a judge from a different family than the generator. A model must not judge its own outputs to ensure objectivity.</a:t>
            </a:r>
            <a:endParaRPr/>
          </a:p>
        </p:txBody>
      </p:sp>
      <p:pic>
        <p:nvPicPr>
          <p:cNvPr descr="image.png" id="106" name="Google Shape;106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24687" y="200977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24687" y="3541216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024687" y="4912667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571500" y="47625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Outfit"/>
                <a:ea typeface="Outfit"/>
                <a:cs typeface="Outfit"/>
                <a:sym typeface="Outfit"/>
              </a:rPr>
              <a:t>01. Strategic Model Selection</a:t>
            </a:r>
            <a:endParaRPr/>
          </a:p>
        </p:txBody>
      </p:sp>
      <p:sp>
        <p:nvSpPr>
          <p:cNvPr id="110" name="Google Shape;110;p13"/>
          <p:cNvSpPr/>
          <p:nvPr/>
        </p:nvSpPr>
        <p:spPr>
          <a:xfrm>
            <a:off x="571500" y="1028700"/>
            <a:ext cx="11049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34100"/>
            <a:ext cx="110490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7037" y="1800225"/>
            <a:ext cx="4843462" cy="1228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7037" y="3171676"/>
            <a:ext cx="4843462" cy="1228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7037" y="4543127"/>
            <a:ext cx="4843462" cy="122857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571500" y="1352550"/>
            <a:ext cx="591978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PRESCRIPTION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777037" y="1352550"/>
            <a:ext cx="484346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JUSTIFICATION / BACKING</a:t>
            </a:r>
            <a:endParaRPr/>
          </a:p>
        </p:txBody>
      </p:sp>
      <p:pic>
        <p:nvPicPr>
          <p:cNvPr descr="image.png" id="122" name="Google Shape;12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028825"/>
            <a:ext cx="2095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3219450"/>
            <a:ext cx="2095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 txBox="1"/>
          <p:nvPr/>
        </p:nvSpPr>
        <p:spPr>
          <a:xfrm>
            <a:off x="7243762" y="1990725"/>
            <a:ext cx="41862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Objective Alignment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7024687" y="2247900"/>
            <a:ext cx="4405312" cy="590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LLM judges infer objectives from natural language; ambiguity increases noise. Rubrics improve standardization. </a:t>
            </a: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RAGAS (2023); [Liu et al., 2023]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7243762" y="3362176"/>
            <a:ext cx="41862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Hallucination Reduction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7024687" y="3619351"/>
            <a:ext cx="4405312" cy="590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Chain-of-thought forces the model to ground verdicts in extracted facts, reducing false positives in logic. </a:t>
            </a: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[Wei et al., 2022; Liu et al., 2023]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7243762" y="4733627"/>
            <a:ext cx="41862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Reliability &amp; Parsing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7024687" y="4990802"/>
            <a:ext cx="4405312" cy="590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Structured formatting reduces variance and simplifies analysis. Enforcing limits prevents conversational drift. </a:t>
            </a: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Zheng et al. (2023)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1171575" y="1990725"/>
            <a:ext cx="51292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11827"/>
                </a:solidFill>
                <a:latin typeface="Outfit"/>
                <a:ea typeface="Outfit"/>
                <a:cs typeface="Outfit"/>
                <a:sym typeface="Outfit"/>
              </a:rPr>
              <a:t>Define Task Metrics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1171575" y="2257425"/>
            <a:ext cx="51292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State role, task state, metric, and failure conditions explicitly. Ambiguity drives variance in evaluation results.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1171575" y="3181350"/>
            <a:ext cx="51292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11827"/>
                </a:solidFill>
                <a:latin typeface="Outfit"/>
                <a:ea typeface="Outfit"/>
                <a:cs typeface="Outfit"/>
                <a:sym typeface="Outfit"/>
              </a:rPr>
              <a:t>Chain of Thought (CoT)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1171575" y="3448050"/>
            <a:ext cx="51291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Judges perform more consistently when they write reasoning into explicit steps before emitting a final score.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962025" y="4371975"/>
            <a:ext cx="53387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11827"/>
                </a:solidFill>
                <a:latin typeface="Outfit"/>
                <a:ea typeface="Outfit"/>
                <a:cs typeface="Outfit"/>
                <a:sym typeface="Outfit"/>
              </a:rPr>
              <a:t>Use Structured Schemas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962025" y="4638675"/>
            <a:ext cx="53387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Enforce JSON for fields (claims, evidence, reasoning, score). Control style/verbosity to ensure parsing consistency.</a:t>
            </a:r>
            <a:endParaRPr/>
          </a:p>
        </p:txBody>
      </p:sp>
      <p:pic>
        <p:nvPicPr>
          <p:cNvPr descr="image.png" id="136" name="Google Shape;13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24687" y="200977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24687" y="3381226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24687" y="4752677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4"/>
          <p:cNvSpPr txBox="1"/>
          <p:nvPr/>
        </p:nvSpPr>
        <p:spPr>
          <a:xfrm>
            <a:off x="571500" y="47625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Outfit"/>
                <a:ea typeface="Outfit"/>
                <a:cs typeface="Outfit"/>
                <a:sym typeface="Outfit"/>
              </a:rPr>
              <a:t>02. Structured Prompting Framework</a:t>
            </a: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571500" y="1028700"/>
            <a:ext cx="11049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34100"/>
            <a:ext cx="110490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7037" y="1800225"/>
            <a:ext cx="4843462" cy="1228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7037" y="3171676"/>
            <a:ext cx="4843462" cy="1228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7037" y="4543127"/>
            <a:ext cx="4843462" cy="122857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 txBox="1"/>
          <p:nvPr/>
        </p:nvSpPr>
        <p:spPr>
          <a:xfrm>
            <a:off x="571500" y="1352550"/>
            <a:ext cx="591978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PRESCRIPTION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6777037" y="1352550"/>
            <a:ext cx="484346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JUSTIFICATION / BACKING</a:t>
            </a:r>
            <a:endParaRPr/>
          </a:p>
        </p:txBody>
      </p:sp>
      <p:pic>
        <p:nvPicPr>
          <p:cNvPr descr="image.png" id="152" name="Google Shape;15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2028825"/>
            <a:ext cx="23812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3219450"/>
            <a:ext cx="2667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150" y="4410075"/>
            <a:ext cx="2095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 txBox="1"/>
          <p:nvPr/>
        </p:nvSpPr>
        <p:spPr>
          <a:xfrm>
            <a:off x="7224712" y="1990725"/>
            <a:ext cx="420528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Accuracy Gains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7024687" y="2247900"/>
            <a:ext cx="4405312" cy="590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Complex tasks break down into simpler sub-tasks better. LLMs perform better on verifying small claims than entire outputs. </a:t>
            </a: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[Min et al., 2023; Jing et al., 2023]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7281862" y="3362176"/>
            <a:ext cx="41481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Positional Bias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7024687" y="3619351"/>
            <a:ext cx="4405312" cy="590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LLMs show a "primacy bias" (favoring the first option in a list). Aggregation and order-shuffling mitigates this. </a:t>
            </a: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MT-Bench (Zheng et al. 2023); [Wang et al., 2023]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7281862" y="4733627"/>
            <a:ext cx="41481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854D0E"/>
                </a:solidFill>
                <a:latin typeface="Inter"/>
                <a:ea typeface="Inter"/>
                <a:cs typeface="Inter"/>
                <a:sym typeface="Inter"/>
              </a:rPr>
              <a:t>Human Alignment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7024687" y="4990802"/>
            <a:ext cx="4405312" cy="590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A judge is only useful if it aligns with human ground truth. Evaluation metrics must be validated via human-correlation (r-value). </a:t>
            </a:r>
            <a:r>
              <a:rPr b="0" i="0" lang="en-US" sz="1050" u="none" cap="none" strike="noStrike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rPr>
              <a:t>[Koo et al., 2023]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1200150" y="1990725"/>
            <a:ext cx="51006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11827"/>
                </a:solidFill>
                <a:latin typeface="Outfit"/>
                <a:ea typeface="Outfit"/>
                <a:cs typeface="Outfit"/>
                <a:sym typeface="Outfit"/>
              </a:rPr>
              <a:t>Decompose into Stages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1200150" y="2257425"/>
            <a:ext cx="51006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Split evaluation into atomic steps: (1) Fact extraction, (2) Evidence verification, (3) Final aggregation. Use few-shot examples for edge cases.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1228725" y="3181350"/>
            <a:ext cx="50720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11827"/>
                </a:solidFill>
                <a:latin typeface="Outfit"/>
                <a:ea typeface="Outfit"/>
                <a:cs typeface="Outfit"/>
                <a:sym typeface="Outfit"/>
              </a:rPr>
              <a:t>Aggregation across Judges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1228725" y="3448050"/>
            <a:ext cx="50720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Combine results via majority vote or weighted average. High-stake evaluations benefit from a diverse panel of judges.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1171575" y="4371975"/>
            <a:ext cx="51292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11827"/>
                </a:solidFill>
                <a:latin typeface="Outfit"/>
                <a:ea typeface="Outfit"/>
                <a:cs typeface="Outfit"/>
                <a:sym typeface="Outfit"/>
              </a:rPr>
              <a:t>Judge Evaluation (Meta-Eval)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1171575" y="4638675"/>
            <a:ext cx="51292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Systematically audit judges by checking correlation with human labels. Identify and mitigate positional or self-preference bias.</a:t>
            </a:r>
            <a:endParaRPr/>
          </a:p>
        </p:txBody>
      </p:sp>
      <p:pic>
        <p:nvPicPr>
          <p:cNvPr descr="image.png" id="167" name="Google Shape;16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24687" y="200977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24687" y="3381226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024687" y="4752677"/>
            <a:ext cx="1809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5"/>
          <p:cNvSpPr txBox="1"/>
          <p:nvPr/>
        </p:nvSpPr>
        <p:spPr>
          <a:xfrm>
            <a:off x="571500" y="47625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11827"/>
                </a:solidFill>
                <a:latin typeface="Outfit"/>
                <a:ea typeface="Outfit"/>
                <a:cs typeface="Outfit"/>
                <a:sym typeface="Outfit"/>
              </a:rPr>
              <a:t>03. Task Decomposition &amp; Evaluator Audit</a:t>
            </a:r>
            <a:endParaRPr/>
          </a:p>
        </p:txBody>
      </p:sp>
      <p:sp>
        <p:nvSpPr>
          <p:cNvPr id="171" name="Google Shape;171;p15"/>
          <p:cNvSpPr/>
          <p:nvPr/>
        </p:nvSpPr>
        <p:spPr>
          <a:xfrm>
            <a:off x="571500" y="1028700"/>
            <a:ext cx="11049000" cy="38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