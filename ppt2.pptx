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Inter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italic.fntdata"/><Relationship Id="rId10" Type="http://schemas.openxmlformats.org/officeDocument/2006/relationships/font" Target="fonts/Inter-bold.fntdata"/><Relationship Id="rId12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11" Type="http://schemas.openxmlformats.org/officeDocument/2006/relationships/image" Target="../media/image1.png"/><Relationship Id="rId10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17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0.png"/><Relationship Id="rId13" Type="http://schemas.openxmlformats.org/officeDocument/2006/relationships/image" Target="../media/image23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324600"/>
            <a:ext cx="110490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9071"/>
            <a:ext cx="3524250" cy="3987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099071"/>
            <a:ext cx="3524250" cy="3987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099071"/>
            <a:ext cx="3524250" cy="3987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53550" y="385167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20300" y="385167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71500" y="428625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8B1E0F"/>
                </a:solidFill>
                <a:latin typeface="Inter"/>
                <a:ea typeface="Inter"/>
                <a:cs typeface="Inter"/>
                <a:sym typeface="Inter"/>
              </a:rPr>
              <a:t>Model Selection &amp; Bias Management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571500" y="942975"/>
            <a:ext cx="1143000" cy="476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1162050"/>
            <a:ext cx="9944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Autonomy defines the degree of human-in-the-loop (HIL) oversight. Higher autonomy demands stronger guardrails, monitoring, and audit trails.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6477000"/>
            <a:ext cx="2933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LLM-AS-A-JUDGE SYSTEM DESIGN FRAMEWORK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324350" y="6477000"/>
            <a:ext cx="7296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Autonomy level is a primary input to risk ranking - higher autonomy generally raises required validation and monitoring rigor.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581025" y="2108596"/>
            <a:ext cx="3505200" cy="5334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71525" y="2251471"/>
            <a:ext cx="3124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Frontier LLMs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4343400" y="2108596"/>
            <a:ext cx="3505200" cy="533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533900" y="2251471"/>
            <a:ext cx="3124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Smaller LLMs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8105775" y="2108596"/>
            <a:ext cx="3505200" cy="5334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8296275" y="2251471"/>
            <a:ext cx="3124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Cross-Model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771525" y="4620666"/>
            <a:ext cx="3124200" cy="1265783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885825" y="4734966"/>
            <a:ext cx="2895600" cy="1037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EVIDENCE / RESEARCH</a:t>
            </a:r>
            <a:r>
              <a:rPr b="0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G-Eval p=0.514; MT-Bench &gt;80% human agreement [Liu et al., 2023; Zheng et al., 2023]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771525" y="4620666"/>
            <a:ext cx="38100" cy="1265783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4533900" y="4620666"/>
            <a:ext cx="3124200" cy="126578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4648200" y="4734966"/>
            <a:ext cx="2895600" cy="1037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EVIDENCE / RESEARCH</a:t>
            </a:r>
            <a:r>
              <a:rPr b="0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PandaLM-7B: 93.75% of GPT-3.5 ability; PoLL &gt;7x cheaper and outperforms GPT-4 [Kim et al., 2024; Verga et al., 2024].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4533900" y="4620666"/>
            <a:ext cx="38100" cy="126578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8296275" y="4787354"/>
            <a:ext cx="3124200" cy="109909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8410575" y="4901654"/>
            <a:ext cx="2895600" cy="87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EVIDENCE / RESEARCH</a:t>
            </a:r>
            <a:r>
              <a:rPr b="0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Self-preference bias observed with GPT-4 (Wataoka et al., 2024); G-Eval notes bias toward LLM-generated texts.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8296275" y="4787354"/>
            <a:ext cx="38100" cy="109909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771525" y="2861071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STRATEGY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771525" y="3022996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Capable Standard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771525" y="3356371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Utilize frontier LLMs– GPT-4/5, Claude Opus/Sonnet, Gemini pro /Flash class models.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771525" y="3889771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Heuristic:</a:t>
            </a: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 Judge should usually be at least as capable as the generator (preferably stronger).</a:t>
            </a:r>
            <a:endParaRPr/>
          </a:p>
        </p:txBody>
      </p:sp>
      <p:pic>
        <p:nvPicPr>
          <p:cNvPr descr="image.png" id="114" name="Google Shape;11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4938712"/>
            <a:ext cx="27241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/>
        </p:nvSpPr>
        <p:spPr>
          <a:xfrm>
            <a:off x="4533900" y="2861071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STRATEGY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4533900" y="3022996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Specialized Deployment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4533900" y="3356371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Use when fine-tuned (narrow task) or with a jury/panel setup.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4533900" y="3889771"/>
            <a:ext cx="3124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Fine-tuned LLM judges cannot be generalized (task-specific; not general-purpose hallucination detectors; Huang et al., 2025)</a:t>
            </a:r>
            <a:endParaRPr/>
          </a:p>
        </p:txBody>
      </p:sp>
      <p:pic>
        <p:nvPicPr>
          <p:cNvPr descr="image.png" id="119" name="Google Shape;119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86300" y="4938712"/>
            <a:ext cx="2847975" cy="328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/>
        </p:nvSpPr>
        <p:spPr>
          <a:xfrm>
            <a:off x="8296275" y="2861071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STRATEGY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8296275" y="3022996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Family Cross-Over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8296275" y="3356371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Use a judge from a different model family than the generator to mitigate self-preference bias.</a:t>
            </a:r>
            <a:endParaRPr/>
          </a:p>
        </p:txBody>
      </p:sp>
      <p:pic>
        <p:nvPicPr>
          <p:cNvPr descr="image.png" id="123" name="Google Shape;12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48675" y="5105400"/>
            <a:ext cx="2571750" cy="328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91700" y="3961209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450955"/>
            <a:ext cx="110490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9071"/>
            <a:ext cx="3524250" cy="4113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099071"/>
            <a:ext cx="3524250" cy="4113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099071"/>
            <a:ext cx="3524250" cy="4113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76850" y="405169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4550" y="405169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250" y="405169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4194125"/>
            <a:ext cx="3333750" cy="266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571500" y="428625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8B1E0F"/>
                </a:solidFill>
                <a:latin typeface="Inter"/>
                <a:ea typeface="Inter"/>
                <a:cs typeface="Inter"/>
                <a:sym typeface="Inter"/>
              </a:rPr>
              <a:t>Structured Prompting &amp; Execution</a:t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571500" y="942975"/>
            <a:ext cx="1143000" cy="476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571500" y="1162050"/>
            <a:ext cx="9944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Decomposing evaluative criteria simplifies alignment objectives. Explicit directives suppress stylistic variance and highlight factual boundaries.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571500" y="6603355"/>
            <a:ext cx="2933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LLM-AS-A-JUDGE SYSTEM DESIGN FRAMEWORK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4248150" y="6603355"/>
            <a:ext cx="73723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Continuous test runs show consistent improvements when steps are separated and anchored with few-shot context templates.</a:t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581025" y="2108596"/>
            <a:ext cx="3505200" cy="5334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771525" y="2251471"/>
            <a:ext cx="3124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Prompt Architecture</a:t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4343400" y="2108596"/>
            <a:ext cx="3505200" cy="533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533900" y="2251471"/>
            <a:ext cx="3124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Reasoning Chains</a:t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8105775" y="2108596"/>
            <a:ext cx="3505200" cy="5334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8296275" y="2251471"/>
            <a:ext cx="3124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Task Extraction</a:t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771525" y="4747021"/>
            <a:ext cx="3124200" cy="1265783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885825" y="4861321"/>
            <a:ext cx="2895600" cy="1037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EVIDENCE / RESEARCH</a:t>
            </a:r>
            <a:r>
              <a:rPr b="0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LLM-as-Judge reliability requires prompt standardization [Gu et al., 2024].</a:t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771525" y="4747021"/>
            <a:ext cx="38100" cy="1265783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4533900" y="4913709"/>
            <a:ext cx="3124200" cy="109909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4648200" y="5028009"/>
            <a:ext cx="2895600" cy="87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EVIDENCE / RESEARCH</a:t>
            </a:r>
            <a:r>
              <a:rPr b="0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Makes decision process more traceable and verdicts more accurate (Wei et al., 2022).</a:t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4533900" y="4913709"/>
            <a:ext cx="38100" cy="109909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8296275" y="4747021"/>
            <a:ext cx="3124200" cy="1265783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8410575" y="4861321"/>
            <a:ext cx="2895600" cy="1037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EVIDENCE / RESEARCH</a:t>
            </a:r>
            <a:r>
              <a:rPr b="0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Complex judgments become more reliable when split into simpler sub-tasks (Gu et al., 2024).</a:t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8296275" y="4747021"/>
            <a:ext cx="38100" cy="1265783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771525" y="2861071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STRATEGY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771525" y="3022996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Directives &amp; Schemas</a:t>
            </a:r>
            <a:endParaRPr/>
          </a:p>
        </p:txBody>
      </p:sp>
      <p:pic>
        <p:nvPicPr>
          <p:cNvPr descr="image.png" id="159" name="Google Shape;15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3925" y="5065067"/>
            <a:ext cx="280987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4"/>
          <p:cNvSpPr txBox="1"/>
          <p:nvPr/>
        </p:nvSpPr>
        <p:spPr>
          <a:xfrm>
            <a:off x="4533900" y="2861071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STRATEGY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4533900" y="3022996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Chain of Thought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4533900" y="3356371"/>
            <a:ext cx="3124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Judges perform more consistently when evaluation is broken into explicit reasoning steps before the final verdict.</a:t>
            </a:r>
            <a:endParaRPr/>
          </a:p>
        </p:txBody>
      </p:sp>
      <p:pic>
        <p:nvPicPr>
          <p:cNvPr descr="image.png" id="163" name="Google Shape;16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86300" y="5231755"/>
            <a:ext cx="25146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 txBox="1"/>
          <p:nvPr/>
        </p:nvSpPr>
        <p:spPr>
          <a:xfrm>
            <a:off x="8296275" y="2861071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STRATEGY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8296275" y="3022996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Decomposed Stages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8296275" y="3356371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Decompose evaluation → Claim extraction → Verification → Aggregation.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8296275" y="3889771"/>
            <a:ext cx="3124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Evidence Attribution:</a:t>
            </a: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 Require source evidence for claims. Use few-shot correct/incorrect examples.</a:t>
            </a:r>
            <a:endParaRPr/>
          </a:p>
        </p:txBody>
      </p:sp>
      <p:pic>
        <p:nvPicPr>
          <p:cNvPr descr="image.png" id="168" name="Google Shape;16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48675" y="5065067"/>
            <a:ext cx="24193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4"/>
          <p:cNvSpPr txBox="1"/>
          <p:nvPr/>
        </p:nvSpPr>
        <p:spPr>
          <a:xfrm>
            <a:off x="885825" y="3318271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962025" y="3318271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Define task + metric:</a:t>
            </a: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 State role, task, and failure conditions explicitly.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885825" y="3794521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962025" y="3794521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Use structured schemas:</a:t>
            </a: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 Require JSON fields for facts, evidence, and verdict.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885825" y="4270771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962025" y="4270771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Control style bias:</a:t>
            </a: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 Ignore fluency/polish unless target metrics.</a:t>
            </a:r>
            <a:endParaRPr/>
          </a:p>
        </p:txBody>
      </p:sp>
      <p:pic>
        <p:nvPicPr>
          <p:cNvPr descr="image.png" id="175" name="Google Shape;175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15000" y="4161234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2700" y="4161234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324600"/>
            <a:ext cx="110490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9071"/>
            <a:ext cx="3524250" cy="3987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099071"/>
            <a:ext cx="3524250" cy="3987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099071"/>
            <a:ext cx="3524250" cy="398740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/>
          <p:nvPr/>
        </p:nvSpPr>
        <p:spPr>
          <a:xfrm>
            <a:off x="571500" y="428625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8B1E0F"/>
                </a:solidFill>
                <a:latin typeface="Inter"/>
                <a:ea typeface="Inter"/>
                <a:cs typeface="Inter"/>
                <a:sym typeface="Inter"/>
              </a:rPr>
              <a:t>Aggregation &amp; Scoring Framework</a:t>
            </a: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571500" y="942975"/>
            <a:ext cx="1143000" cy="476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571500" y="1162050"/>
            <a:ext cx="9944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Multi-model consensus and standardized rubrics normalize predictive confidence. Validation loops preserve system integrity against human baselines.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571500" y="6477000"/>
            <a:ext cx="2933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LLM-AS-A-JUDGE SYSTEM DESIGN FRAMEWORK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5081587" y="6477000"/>
            <a:ext cx="65389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Continuous evaluation requires ongoing verification against ground truth to capture drifting threshold alignment.</a:t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581025" y="2108596"/>
            <a:ext cx="3505200" cy="5334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771525" y="2251471"/>
            <a:ext cx="3124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Jury Panels</a:t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4343400" y="2108596"/>
            <a:ext cx="3505200" cy="533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4533900" y="2251471"/>
            <a:ext cx="3124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Score Reporting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8105775" y="2108596"/>
            <a:ext cx="3505200" cy="5334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8296275" y="2251471"/>
            <a:ext cx="3124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Validation Metrics</a:t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771525" y="4787354"/>
            <a:ext cx="3124200" cy="109909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885825" y="4901654"/>
            <a:ext cx="2895600" cy="87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EVIDENCE / RESEARCH</a:t>
            </a:r>
            <a:r>
              <a:rPr b="0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David-Skene and GLAD provide statistical intuition for reliability weighting [Dawid &amp; Skene 1979].</a:t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771525" y="4787354"/>
            <a:ext cx="38100" cy="109909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4533900" y="4787354"/>
            <a:ext cx="3124200" cy="109909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4648200" y="4901654"/>
            <a:ext cx="2895600" cy="87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EVIDENCE / RESEARCH</a:t>
            </a:r>
            <a:r>
              <a:rPr b="0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Captures partial correctness and provides transparent grounded scores [Es et al., 2023].</a:t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4533900" y="4787354"/>
            <a:ext cx="38100" cy="109909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8296275" y="4787354"/>
            <a:ext cx="3124200" cy="109909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8410575" y="4901654"/>
            <a:ext cx="2895600" cy="87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EVIDENCE / RESEARCH</a:t>
            </a:r>
            <a:r>
              <a:rPr b="0" i="0" lang="en-US" sz="937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Faithfulness evaluations emphasize hallucination failure rates [Min et al., 2024; Liu et al., 2023].</a:t>
            </a: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8296275" y="4787354"/>
            <a:ext cx="38100" cy="109909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771525" y="2861071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STRATEGY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771525" y="3022996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Consensus / PoLL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771525" y="3356371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Combine judges from different model families. Reduces dependence on one model's bias profile.</a:t>
            </a:r>
            <a:endParaRPr/>
          </a:p>
        </p:txBody>
      </p:sp>
      <p:sp>
        <p:nvSpPr>
          <p:cNvPr id="208" name="Google Shape;208;p15"/>
          <p:cNvSpPr txBox="1"/>
          <p:nvPr/>
        </p:nvSpPr>
        <p:spPr>
          <a:xfrm>
            <a:off x="771525" y="3889771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Approaches:</a:t>
            </a: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 Majority voting, average score, reliability weighted aggregation.</a:t>
            </a:r>
            <a:endParaRPr/>
          </a:p>
        </p:txBody>
      </p:sp>
      <p:pic>
        <p:nvPicPr>
          <p:cNvPr descr="image.png" id="209" name="Google Shape;2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5105400"/>
            <a:ext cx="2724150" cy="32861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5"/>
          <p:cNvSpPr txBox="1"/>
          <p:nvPr/>
        </p:nvSpPr>
        <p:spPr>
          <a:xfrm>
            <a:off x="4533900" y="2861071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STRATEGY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4533900" y="3022996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Continuous &amp; Rubric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4533900" y="3356371"/>
            <a:ext cx="3124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Ratio-based scores:</a:t>
            </a: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 Faithfulness (supported/total) and Completeness (covered/required).</a:t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4533900" y="4089796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Rubric-based:</a:t>
            </a: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 Use 1-5 scales for partial quality assessment to make thresholds explicit.</a:t>
            </a:r>
            <a:endParaRPr/>
          </a:p>
        </p:txBody>
      </p:sp>
      <p:pic>
        <p:nvPicPr>
          <p:cNvPr descr="image.png" id="214" name="Google Shape;2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6300" y="5105400"/>
            <a:ext cx="2390775" cy="32861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5"/>
          <p:cNvSpPr txBox="1"/>
          <p:nvPr/>
        </p:nvSpPr>
        <p:spPr>
          <a:xfrm>
            <a:off x="8296275" y="2861071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STRATEGY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8296275" y="3022996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Human Alignment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8296275" y="3356371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Capture Rates:</a:t>
            </a: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 Use hallucination and incompleteness capture rates for failure analysis.</a:t>
            </a:r>
            <a:endParaRPr/>
          </a:p>
        </p:txBody>
      </p:sp>
      <p:sp>
        <p:nvSpPr>
          <p:cNvPr id="218" name="Google Shape;218;p15"/>
          <p:cNvSpPr txBox="1"/>
          <p:nvPr/>
        </p:nvSpPr>
        <p:spPr>
          <a:xfrm>
            <a:off x="8296275" y="3889771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Stats:</a:t>
            </a:r>
            <a:r>
              <a:rPr b="0" i="0" lang="en-US" sz="105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 Accuracy, precision, F1, Cohen's κ, and Spearman correlation.</a:t>
            </a:r>
            <a:endParaRPr/>
          </a:p>
        </p:txBody>
      </p:sp>
      <p:pic>
        <p:nvPicPr>
          <p:cNvPr descr="image.png" id="219" name="Google Shape;2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48675" y="5105400"/>
            <a:ext cx="2686050" cy="32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