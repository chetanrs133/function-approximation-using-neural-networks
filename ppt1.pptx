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6858000" cx="12192000"/>
  <p:notesSz cx="6858000" cy="9144000"/>
  <p:embeddedFontLst>
    <p:embeddedFont>
      <p:font typeface="Inter"/>
      <p:regular r:id="rId10"/>
      <p:bold r:id="rId11"/>
      <p:italic r:id="rId12"/>
      <p:boldItalic r:id="rId1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Inter-bold.fntdata"/><Relationship Id="rId10" Type="http://schemas.openxmlformats.org/officeDocument/2006/relationships/font" Target="fonts/Inter-regular.fntdata"/><Relationship Id="rId13" Type="http://schemas.openxmlformats.org/officeDocument/2006/relationships/font" Target="fonts/Inter-boldItalic.fntdata"/><Relationship Id="rId12" Type="http://schemas.openxmlformats.org/officeDocument/2006/relationships/font" Target="fonts/Inter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20" Type="http://schemas.openxmlformats.org/officeDocument/2006/relationships/image" Target="../media/image10.png"/><Relationship Id="rId11" Type="http://schemas.openxmlformats.org/officeDocument/2006/relationships/image" Target="../media/image5.png"/><Relationship Id="rId22" Type="http://schemas.openxmlformats.org/officeDocument/2006/relationships/image" Target="../media/image11.png"/><Relationship Id="rId10" Type="http://schemas.openxmlformats.org/officeDocument/2006/relationships/image" Target="../media/image49.png"/><Relationship Id="rId21" Type="http://schemas.openxmlformats.org/officeDocument/2006/relationships/image" Target="../media/image15.png"/><Relationship Id="rId13" Type="http://schemas.openxmlformats.org/officeDocument/2006/relationships/image" Target="../media/image13.png"/><Relationship Id="rId1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9" Type="http://schemas.openxmlformats.org/officeDocument/2006/relationships/image" Target="../media/image6.png"/><Relationship Id="rId15" Type="http://schemas.openxmlformats.org/officeDocument/2006/relationships/image" Target="../media/image21.png"/><Relationship Id="rId14" Type="http://schemas.openxmlformats.org/officeDocument/2006/relationships/image" Target="../media/image7.png"/><Relationship Id="rId17" Type="http://schemas.openxmlformats.org/officeDocument/2006/relationships/image" Target="../media/image43.png"/><Relationship Id="rId16" Type="http://schemas.openxmlformats.org/officeDocument/2006/relationships/image" Target="../media/image20.png"/><Relationship Id="rId5" Type="http://schemas.openxmlformats.org/officeDocument/2006/relationships/image" Target="../media/image9.png"/><Relationship Id="rId19" Type="http://schemas.openxmlformats.org/officeDocument/2006/relationships/image" Target="../media/image12.png"/><Relationship Id="rId6" Type="http://schemas.openxmlformats.org/officeDocument/2006/relationships/image" Target="../media/image14.png"/><Relationship Id="rId18" Type="http://schemas.openxmlformats.org/officeDocument/2006/relationships/image" Target="../media/image8.png"/><Relationship Id="rId7" Type="http://schemas.openxmlformats.org/officeDocument/2006/relationships/image" Target="../media/image2.png"/><Relationship Id="rId8" Type="http://schemas.openxmlformats.org/officeDocument/2006/relationships/image" Target="../media/image17.png"/></Relationships>
</file>

<file path=ppt/slides/_rels/slide2.xml.rels><?xml version="1.0" encoding="UTF-8" standalone="yes"?><Relationships xmlns="http://schemas.openxmlformats.org/package/2006/relationships"><Relationship Id="rId20" Type="http://schemas.openxmlformats.org/officeDocument/2006/relationships/image" Target="../media/image24.png"/><Relationship Id="rId11" Type="http://schemas.openxmlformats.org/officeDocument/2006/relationships/image" Target="../media/image13.png"/><Relationship Id="rId22" Type="http://schemas.openxmlformats.org/officeDocument/2006/relationships/image" Target="../media/image37.png"/><Relationship Id="rId10" Type="http://schemas.openxmlformats.org/officeDocument/2006/relationships/image" Target="../media/image49.png"/><Relationship Id="rId21" Type="http://schemas.openxmlformats.org/officeDocument/2006/relationships/image" Target="../media/image23.png"/><Relationship Id="rId13" Type="http://schemas.openxmlformats.org/officeDocument/2006/relationships/image" Target="../media/image38.png"/><Relationship Id="rId1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2.png"/><Relationship Id="rId4" Type="http://schemas.openxmlformats.org/officeDocument/2006/relationships/image" Target="../media/image1.png"/><Relationship Id="rId9" Type="http://schemas.openxmlformats.org/officeDocument/2006/relationships/image" Target="../media/image31.png"/><Relationship Id="rId15" Type="http://schemas.openxmlformats.org/officeDocument/2006/relationships/image" Target="../media/image18.png"/><Relationship Id="rId14" Type="http://schemas.openxmlformats.org/officeDocument/2006/relationships/image" Target="../media/image22.png"/><Relationship Id="rId17" Type="http://schemas.openxmlformats.org/officeDocument/2006/relationships/image" Target="../media/image19.png"/><Relationship Id="rId16" Type="http://schemas.openxmlformats.org/officeDocument/2006/relationships/image" Target="../media/image34.png"/><Relationship Id="rId5" Type="http://schemas.openxmlformats.org/officeDocument/2006/relationships/image" Target="../media/image9.png"/><Relationship Id="rId19" Type="http://schemas.openxmlformats.org/officeDocument/2006/relationships/image" Target="../media/image12.png"/><Relationship Id="rId6" Type="http://schemas.openxmlformats.org/officeDocument/2006/relationships/image" Target="../media/image14.png"/><Relationship Id="rId18" Type="http://schemas.openxmlformats.org/officeDocument/2006/relationships/image" Target="../media/image8.png"/><Relationship Id="rId7" Type="http://schemas.openxmlformats.org/officeDocument/2006/relationships/image" Target="../media/image30.png"/><Relationship Id="rId8" Type="http://schemas.openxmlformats.org/officeDocument/2006/relationships/image" Target="../media/image16.png"/></Relationships>
</file>

<file path=ppt/slides/_rels/slide3.xml.rels><?xml version="1.0" encoding="UTF-8" standalone="yes"?><Relationships xmlns="http://schemas.openxmlformats.org/package/2006/relationships"><Relationship Id="rId20" Type="http://schemas.openxmlformats.org/officeDocument/2006/relationships/image" Target="../media/image44.png"/><Relationship Id="rId11" Type="http://schemas.openxmlformats.org/officeDocument/2006/relationships/image" Target="../media/image29.png"/><Relationship Id="rId10" Type="http://schemas.openxmlformats.org/officeDocument/2006/relationships/image" Target="../media/image28.png"/><Relationship Id="rId13" Type="http://schemas.openxmlformats.org/officeDocument/2006/relationships/image" Target="../media/image47.png"/><Relationship Id="rId12" Type="http://schemas.openxmlformats.org/officeDocument/2006/relationships/image" Target="../media/image33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6.png"/><Relationship Id="rId4" Type="http://schemas.openxmlformats.org/officeDocument/2006/relationships/image" Target="../media/image1.png"/><Relationship Id="rId9" Type="http://schemas.openxmlformats.org/officeDocument/2006/relationships/image" Target="../media/image25.png"/><Relationship Id="rId15" Type="http://schemas.openxmlformats.org/officeDocument/2006/relationships/image" Target="../media/image39.png"/><Relationship Id="rId14" Type="http://schemas.openxmlformats.org/officeDocument/2006/relationships/image" Target="../media/image35.png"/><Relationship Id="rId17" Type="http://schemas.openxmlformats.org/officeDocument/2006/relationships/image" Target="../media/image52.png"/><Relationship Id="rId16" Type="http://schemas.openxmlformats.org/officeDocument/2006/relationships/image" Target="../media/image50.png"/><Relationship Id="rId5" Type="http://schemas.openxmlformats.org/officeDocument/2006/relationships/image" Target="../media/image27.png"/><Relationship Id="rId19" Type="http://schemas.openxmlformats.org/officeDocument/2006/relationships/image" Target="../media/image42.png"/><Relationship Id="rId6" Type="http://schemas.openxmlformats.org/officeDocument/2006/relationships/image" Target="../media/image26.png"/><Relationship Id="rId18" Type="http://schemas.openxmlformats.org/officeDocument/2006/relationships/image" Target="../media/image40.png"/><Relationship Id="rId7" Type="http://schemas.openxmlformats.org/officeDocument/2006/relationships/image" Target="../media/image30.png"/><Relationship Id="rId8" Type="http://schemas.openxmlformats.org/officeDocument/2006/relationships/image" Target="../media/image17.png"/></Relationships>
</file>

<file path=ppt/slides/_rels/slide4.xml.rels><?xml version="1.0" encoding="UTF-8" standalone="yes"?><Relationships xmlns="http://schemas.openxmlformats.org/package/2006/relationships"><Relationship Id="rId11" Type="http://schemas.openxmlformats.org/officeDocument/2006/relationships/image" Target="../media/image21.png"/><Relationship Id="rId10" Type="http://schemas.openxmlformats.org/officeDocument/2006/relationships/image" Target="../media/image48.png"/><Relationship Id="rId13" Type="http://schemas.openxmlformats.org/officeDocument/2006/relationships/image" Target="../media/image43.png"/><Relationship Id="rId12" Type="http://schemas.openxmlformats.org/officeDocument/2006/relationships/image" Target="../media/image20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1.png"/><Relationship Id="rId4" Type="http://schemas.openxmlformats.org/officeDocument/2006/relationships/image" Target="../media/image1.png"/><Relationship Id="rId9" Type="http://schemas.openxmlformats.org/officeDocument/2006/relationships/image" Target="../media/image45.png"/><Relationship Id="rId15" Type="http://schemas.openxmlformats.org/officeDocument/2006/relationships/image" Target="../media/image51.png"/><Relationship Id="rId14" Type="http://schemas.openxmlformats.org/officeDocument/2006/relationships/image" Target="../media/image53.png"/><Relationship Id="rId17" Type="http://schemas.openxmlformats.org/officeDocument/2006/relationships/image" Target="../media/image54.png"/><Relationship Id="rId16" Type="http://schemas.openxmlformats.org/officeDocument/2006/relationships/image" Target="../media/image56.png"/><Relationship Id="rId5" Type="http://schemas.openxmlformats.org/officeDocument/2006/relationships/image" Target="../media/image2.png"/><Relationship Id="rId19" Type="http://schemas.openxmlformats.org/officeDocument/2006/relationships/image" Target="../media/image57.png"/><Relationship Id="rId6" Type="http://schemas.openxmlformats.org/officeDocument/2006/relationships/image" Target="../media/image55.png"/><Relationship Id="rId18" Type="http://schemas.openxmlformats.org/officeDocument/2006/relationships/image" Target="../media/image46.png"/><Relationship Id="rId7" Type="http://schemas.openxmlformats.org/officeDocument/2006/relationships/image" Target="../media/image16.png"/><Relationship Id="rId8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6191250"/>
            <a:ext cx="1104900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6" name="Google Shape;86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67250" y="1076325"/>
            <a:ext cx="6810375" cy="15181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7" name="Google Shape;87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667250" y="2737395"/>
            <a:ext cx="6810375" cy="15181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8" name="Google Shape;88;p1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1490662"/>
            <a:ext cx="2000250" cy="371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9" name="Google Shape;89;p1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" y="2309812"/>
            <a:ext cx="2000250" cy="371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0" name="Google Shape;90;p1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71500" y="2809875"/>
            <a:ext cx="2000250" cy="533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1" name="Google Shape;91;p1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71500" y="3457575"/>
            <a:ext cx="2000250" cy="533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2" name="Google Shape;92;p13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571500" y="4119562"/>
            <a:ext cx="2000250" cy="371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3" name="Google Shape;93;p13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571500" y="4633912"/>
            <a:ext cx="2000250" cy="371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4" name="Google Shape;94;p13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4676775" y="1514475"/>
            <a:ext cx="6791325" cy="10705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5" name="Google Shape;95;p13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4676775" y="3175545"/>
            <a:ext cx="6791325" cy="10705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6" name="Google Shape;96;p13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2762250" y="1171575"/>
            <a:ext cx="152400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7" name="Google Shape;97;p13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2762250" y="1533525"/>
            <a:ext cx="152400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8" name="Google Shape;98;p13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2762250" y="1895475"/>
            <a:ext cx="152400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9" name="Google Shape;99;p13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8077200" y="1514475"/>
            <a:ext cx="3390900" cy="10705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0" name="Google Shape;100;p13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8077200" y="3175545"/>
            <a:ext cx="3390900" cy="10705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1" name="Google Shape;101;p13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10096500" y="4762500"/>
            <a:ext cx="1714500" cy="1714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3"/>
          <p:cNvSpPr txBox="1"/>
          <p:nvPr/>
        </p:nvSpPr>
        <p:spPr>
          <a:xfrm>
            <a:off x="571500" y="381000"/>
            <a:ext cx="1160145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B91C1C"/>
                </a:solidFill>
                <a:latin typeface="Inter"/>
                <a:ea typeface="Inter"/>
                <a:cs typeface="Inter"/>
                <a:sym typeface="Inter"/>
              </a:rPr>
              <a:t>01. MODEL SELECTION BEST PRACTICES</a:t>
            </a:r>
            <a:endParaRPr/>
          </a:p>
        </p:txBody>
      </p:sp>
      <p:sp>
        <p:nvSpPr>
          <p:cNvPr id="103" name="Google Shape;103;p13"/>
          <p:cNvSpPr/>
          <p:nvPr/>
        </p:nvSpPr>
        <p:spPr>
          <a:xfrm>
            <a:off x="571500" y="800100"/>
            <a:ext cx="762000" cy="381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3"/>
          <p:cNvSpPr txBox="1"/>
          <p:nvPr/>
        </p:nvSpPr>
        <p:spPr>
          <a:xfrm>
            <a:off x="571500" y="6343650"/>
            <a:ext cx="1943100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STRATEGIC ALIGNMENT FRAMEWORK</a:t>
            </a:r>
            <a:endParaRPr/>
          </a:p>
        </p:txBody>
      </p:sp>
      <p:sp>
        <p:nvSpPr>
          <p:cNvPr id="105" name="Google Shape;105;p13"/>
          <p:cNvSpPr txBox="1"/>
          <p:nvPr/>
        </p:nvSpPr>
        <p:spPr>
          <a:xfrm>
            <a:off x="10963275" y="6343650"/>
            <a:ext cx="657225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SLIDE 01 / 04</a:t>
            </a:r>
            <a:endParaRPr/>
          </a:p>
        </p:txBody>
      </p:sp>
      <p:sp>
        <p:nvSpPr>
          <p:cNvPr id="106" name="Google Shape;106;p13"/>
          <p:cNvSpPr/>
          <p:nvPr/>
        </p:nvSpPr>
        <p:spPr>
          <a:xfrm>
            <a:off x="2571750" y="1666875"/>
            <a:ext cx="190500" cy="1905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3"/>
          <p:cNvSpPr/>
          <p:nvPr/>
        </p:nvSpPr>
        <p:spPr>
          <a:xfrm>
            <a:off x="4676775" y="1085850"/>
            <a:ext cx="6791325" cy="428625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3"/>
          <p:cNvSpPr txBox="1"/>
          <p:nvPr/>
        </p:nvSpPr>
        <p:spPr>
          <a:xfrm>
            <a:off x="4867275" y="1200150"/>
            <a:ext cx="641032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Frontier LLM / LLM Scale</a:t>
            </a:r>
            <a:endParaRPr/>
          </a:p>
        </p:txBody>
      </p:sp>
      <p:sp>
        <p:nvSpPr>
          <p:cNvPr id="109" name="Google Shape;109;p13"/>
          <p:cNvSpPr/>
          <p:nvPr/>
        </p:nvSpPr>
        <p:spPr>
          <a:xfrm>
            <a:off x="4676775" y="2746920"/>
            <a:ext cx="6791325" cy="428625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3"/>
          <p:cNvSpPr txBox="1"/>
          <p:nvPr/>
        </p:nvSpPr>
        <p:spPr>
          <a:xfrm>
            <a:off x="4867275" y="2861220"/>
            <a:ext cx="641032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Smaller LLMs</a:t>
            </a:r>
            <a:endParaRPr/>
          </a:p>
        </p:txBody>
      </p:sp>
      <p:sp>
        <p:nvSpPr>
          <p:cNvPr id="111" name="Google Shape;111;p13"/>
          <p:cNvSpPr txBox="1"/>
          <p:nvPr/>
        </p:nvSpPr>
        <p:spPr>
          <a:xfrm>
            <a:off x="4867275" y="1657350"/>
            <a:ext cx="30099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B91C1C"/>
                </a:solidFill>
                <a:latin typeface="Inter"/>
                <a:ea typeface="Inter"/>
                <a:cs typeface="Inter"/>
                <a:sym typeface="Inter"/>
              </a:rPr>
              <a:t>S T R A T E G Y</a:t>
            </a:r>
            <a:endParaRPr/>
          </a:p>
        </p:txBody>
      </p:sp>
      <p:sp>
        <p:nvSpPr>
          <p:cNvPr id="112" name="Google Shape;112;p13"/>
          <p:cNvSpPr txBox="1"/>
          <p:nvPr/>
        </p:nvSpPr>
        <p:spPr>
          <a:xfrm>
            <a:off x="4867275" y="1847850"/>
            <a:ext cx="3009900" cy="594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Utilize frontier LLMs (GPT-4/5, Claude Opus). The judge should be at least as capable as the generator (preferably stronger).</a:t>
            </a:r>
            <a:endParaRPr/>
          </a:p>
        </p:txBody>
      </p:sp>
      <p:sp>
        <p:nvSpPr>
          <p:cNvPr id="113" name="Google Shape;113;p13"/>
          <p:cNvSpPr txBox="1"/>
          <p:nvPr/>
        </p:nvSpPr>
        <p:spPr>
          <a:xfrm>
            <a:off x="8267700" y="1657350"/>
            <a:ext cx="30099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B91C1C"/>
                </a:solidFill>
                <a:latin typeface="Inter"/>
                <a:ea typeface="Inter"/>
                <a:cs typeface="Inter"/>
                <a:sym typeface="Inter"/>
              </a:rPr>
              <a:t>R E S E A R C H</a:t>
            </a:r>
            <a:endParaRPr/>
          </a:p>
        </p:txBody>
      </p:sp>
      <p:sp>
        <p:nvSpPr>
          <p:cNvPr id="114" name="Google Shape;114;p13"/>
          <p:cNvSpPr txBox="1"/>
          <p:nvPr/>
        </p:nvSpPr>
        <p:spPr>
          <a:xfrm>
            <a:off x="8267700" y="1847850"/>
            <a:ext cx="3009900" cy="594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Supports high human agreement. G-Eval p=0.514; MT-Bench &gt;80% agreement.</a:t>
            </a:r>
            <a:endParaRPr/>
          </a:p>
        </p:txBody>
      </p:sp>
      <p:sp>
        <p:nvSpPr>
          <p:cNvPr id="115" name="Google Shape;115;p13"/>
          <p:cNvSpPr txBox="1"/>
          <p:nvPr/>
        </p:nvSpPr>
        <p:spPr>
          <a:xfrm>
            <a:off x="4867275" y="3318420"/>
            <a:ext cx="30099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B91C1C"/>
                </a:solidFill>
                <a:latin typeface="Inter"/>
                <a:ea typeface="Inter"/>
                <a:cs typeface="Inter"/>
                <a:sym typeface="Inter"/>
              </a:rPr>
              <a:t>S T R A T E G Y</a:t>
            </a:r>
            <a:endParaRPr/>
          </a:p>
        </p:txBody>
      </p:sp>
      <p:sp>
        <p:nvSpPr>
          <p:cNvPr id="116" name="Google Shape;116;p13"/>
          <p:cNvSpPr txBox="1"/>
          <p:nvPr/>
        </p:nvSpPr>
        <p:spPr>
          <a:xfrm>
            <a:off x="4867275" y="3508920"/>
            <a:ext cx="3009900" cy="594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Use fine-tuned SLMs for narrow tasks or in jury setups. Task-specific judges often outperform general models for hallucinations.</a:t>
            </a:r>
            <a:endParaRPr/>
          </a:p>
        </p:txBody>
      </p:sp>
      <p:sp>
        <p:nvSpPr>
          <p:cNvPr id="117" name="Google Shape;117;p13"/>
          <p:cNvSpPr txBox="1"/>
          <p:nvPr/>
        </p:nvSpPr>
        <p:spPr>
          <a:xfrm>
            <a:off x="8267700" y="3318420"/>
            <a:ext cx="30099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B91C1C"/>
                </a:solidFill>
                <a:latin typeface="Inter"/>
                <a:ea typeface="Inter"/>
                <a:cs typeface="Inter"/>
                <a:sym typeface="Inter"/>
              </a:rPr>
              <a:t>R E S E A R C H</a:t>
            </a:r>
            <a:endParaRPr/>
          </a:p>
        </p:txBody>
      </p:sp>
      <p:sp>
        <p:nvSpPr>
          <p:cNvPr id="118" name="Google Shape;118;p13"/>
          <p:cNvSpPr txBox="1"/>
          <p:nvPr/>
        </p:nvSpPr>
        <p:spPr>
          <a:xfrm>
            <a:off x="8267700" y="3508920"/>
            <a:ext cx="3009900" cy="594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PandaLM-7B reaches 93.75% of GPT-3.5 ability. PoLL (Haiku/Command R) is than GPT-4.</a:t>
            </a:r>
            <a:endParaRPr/>
          </a:p>
        </p:txBody>
      </p:sp>
      <p:pic>
        <p:nvPicPr>
          <p:cNvPr descr="image.png" id="119" name="Google Shape;119;p13"/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>
            <a:off x="8267700" y="1847850"/>
            <a:ext cx="189547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0" name="Google Shape;120;p13"/>
          <p:cNvPicPr preferRelativeResize="0"/>
          <p:nvPr/>
        </p:nvPicPr>
        <p:blipFill rotWithShape="1">
          <a:blip r:embed="rId22">
            <a:alphaModFix/>
          </a:blip>
          <a:srcRect b="0" l="0" r="0" t="0"/>
          <a:stretch/>
        </p:blipFill>
        <p:spPr>
          <a:xfrm>
            <a:off x="9953625" y="3707010"/>
            <a:ext cx="819150" cy="19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5" name="Google Shape;12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6" name="Google Shape;126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6191250"/>
            <a:ext cx="1104900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7" name="Google Shape;127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67250" y="1076325"/>
            <a:ext cx="6810375" cy="15181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8" name="Google Shape;128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667250" y="2737395"/>
            <a:ext cx="6810375" cy="15181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9" name="Google Shape;129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1185862"/>
            <a:ext cx="2000250" cy="371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0" name="Google Shape;130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" y="2005012"/>
            <a:ext cx="2000250" cy="371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1" name="Google Shape;131;p1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71500" y="2867025"/>
            <a:ext cx="2000250" cy="533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2" name="Google Shape;132;p1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71500" y="3571875"/>
            <a:ext cx="2000250" cy="533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3" name="Google Shape;133;p14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676775" y="1514475"/>
            <a:ext cx="6791325" cy="10705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4" name="Google Shape;134;p14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4676775" y="3175545"/>
            <a:ext cx="6791325" cy="10705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5" name="Google Shape;135;p14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2762250" y="1685925"/>
            <a:ext cx="152400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6" name="Google Shape;136;p14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2762250" y="2047875"/>
            <a:ext cx="152400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7" name="Google Shape;137;p14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2762250" y="2409825"/>
            <a:ext cx="152400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8" name="Google Shape;138;p14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2762250" y="2809875"/>
            <a:ext cx="152400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9" name="Google Shape;139;p14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2762250" y="3171825"/>
            <a:ext cx="152400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0" name="Google Shape;140;p14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8077200" y="1514475"/>
            <a:ext cx="3390900" cy="10705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1" name="Google Shape;141;p14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8077200" y="3175545"/>
            <a:ext cx="3390900" cy="10705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2" name="Google Shape;142;p14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10096500" y="4762500"/>
            <a:ext cx="1714500" cy="1714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4"/>
          <p:cNvSpPr txBox="1"/>
          <p:nvPr/>
        </p:nvSpPr>
        <p:spPr>
          <a:xfrm>
            <a:off x="571500" y="381000"/>
            <a:ext cx="1160145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B91C1C"/>
                </a:solidFill>
                <a:latin typeface="Inter"/>
                <a:ea typeface="Inter"/>
                <a:cs typeface="Inter"/>
                <a:sym typeface="Inter"/>
              </a:rPr>
              <a:t>02. PROMPTING &amp; TASK UNDERSTANDING</a:t>
            </a:r>
            <a:endParaRPr/>
          </a:p>
        </p:txBody>
      </p:sp>
      <p:sp>
        <p:nvSpPr>
          <p:cNvPr id="144" name="Google Shape;144;p14"/>
          <p:cNvSpPr/>
          <p:nvPr/>
        </p:nvSpPr>
        <p:spPr>
          <a:xfrm>
            <a:off x="571500" y="800100"/>
            <a:ext cx="762000" cy="381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4"/>
          <p:cNvSpPr txBox="1"/>
          <p:nvPr/>
        </p:nvSpPr>
        <p:spPr>
          <a:xfrm>
            <a:off x="571500" y="6343650"/>
            <a:ext cx="1943100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STRATEGIC ALIGNMENT FRAMEWORK</a:t>
            </a:r>
            <a:endParaRPr/>
          </a:p>
        </p:txBody>
      </p:sp>
      <p:sp>
        <p:nvSpPr>
          <p:cNvPr id="146" name="Google Shape;146;p14"/>
          <p:cNvSpPr txBox="1"/>
          <p:nvPr/>
        </p:nvSpPr>
        <p:spPr>
          <a:xfrm>
            <a:off x="10934700" y="6343650"/>
            <a:ext cx="685800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SLIDE 02 / 04</a:t>
            </a:r>
            <a:endParaRPr/>
          </a:p>
        </p:txBody>
      </p:sp>
      <p:sp>
        <p:nvSpPr>
          <p:cNvPr id="147" name="Google Shape;147;p14"/>
          <p:cNvSpPr/>
          <p:nvPr/>
        </p:nvSpPr>
        <p:spPr>
          <a:xfrm>
            <a:off x="2571750" y="2181225"/>
            <a:ext cx="190500" cy="1905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4"/>
          <p:cNvSpPr/>
          <p:nvPr/>
        </p:nvSpPr>
        <p:spPr>
          <a:xfrm>
            <a:off x="2571750" y="3124200"/>
            <a:ext cx="190500" cy="1905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4"/>
          <p:cNvSpPr/>
          <p:nvPr/>
        </p:nvSpPr>
        <p:spPr>
          <a:xfrm>
            <a:off x="4676775" y="1085850"/>
            <a:ext cx="6791325" cy="428625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4"/>
          <p:cNvSpPr txBox="1"/>
          <p:nvPr/>
        </p:nvSpPr>
        <p:spPr>
          <a:xfrm>
            <a:off x="4867275" y="1200150"/>
            <a:ext cx="641032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Prompt Architecture</a:t>
            </a:r>
            <a:endParaRPr/>
          </a:p>
        </p:txBody>
      </p:sp>
      <p:sp>
        <p:nvSpPr>
          <p:cNvPr id="151" name="Google Shape;151;p14"/>
          <p:cNvSpPr/>
          <p:nvPr/>
        </p:nvSpPr>
        <p:spPr>
          <a:xfrm>
            <a:off x="4676775" y="2746920"/>
            <a:ext cx="6791325" cy="428625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4"/>
          <p:cNvSpPr txBox="1"/>
          <p:nvPr/>
        </p:nvSpPr>
        <p:spPr>
          <a:xfrm>
            <a:off x="4867275" y="2861220"/>
            <a:ext cx="641032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Task Understanding</a:t>
            </a:r>
            <a:endParaRPr/>
          </a:p>
        </p:txBody>
      </p:sp>
      <p:sp>
        <p:nvSpPr>
          <p:cNvPr id="153" name="Google Shape;153;p14"/>
          <p:cNvSpPr txBox="1"/>
          <p:nvPr/>
        </p:nvSpPr>
        <p:spPr>
          <a:xfrm>
            <a:off x="4867275" y="1657350"/>
            <a:ext cx="30099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B91C1C"/>
                </a:solidFill>
                <a:latin typeface="Inter"/>
                <a:ea typeface="Inter"/>
                <a:cs typeface="Inter"/>
                <a:sym typeface="Inter"/>
              </a:rPr>
              <a:t>S T R A T E G Y</a:t>
            </a:r>
            <a:endParaRPr/>
          </a:p>
        </p:txBody>
      </p:sp>
      <p:sp>
        <p:nvSpPr>
          <p:cNvPr id="154" name="Google Shape;154;p14"/>
          <p:cNvSpPr txBox="1"/>
          <p:nvPr/>
        </p:nvSpPr>
        <p:spPr>
          <a:xfrm>
            <a:off x="4867275" y="1847850"/>
            <a:ext cx="3009900" cy="594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Define task, role, and metric explicitly. Use JSON schemas to control formatting and style/verbosity bias.</a:t>
            </a:r>
            <a:endParaRPr/>
          </a:p>
        </p:txBody>
      </p:sp>
      <p:sp>
        <p:nvSpPr>
          <p:cNvPr id="155" name="Google Shape;155;p14"/>
          <p:cNvSpPr txBox="1"/>
          <p:nvPr/>
        </p:nvSpPr>
        <p:spPr>
          <a:xfrm>
            <a:off x="8267700" y="1657350"/>
            <a:ext cx="30099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B91C1C"/>
                </a:solidFill>
                <a:latin typeface="Inter"/>
                <a:ea typeface="Inter"/>
                <a:cs typeface="Inter"/>
                <a:sym typeface="Inter"/>
              </a:rPr>
              <a:t>R E S E A R C H</a:t>
            </a:r>
            <a:endParaRPr/>
          </a:p>
        </p:txBody>
      </p:sp>
      <p:sp>
        <p:nvSpPr>
          <p:cNvPr id="156" name="Google Shape;156;p14"/>
          <p:cNvSpPr txBox="1"/>
          <p:nvPr/>
        </p:nvSpPr>
        <p:spPr>
          <a:xfrm>
            <a:off x="8267700" y="1847850"/>
            <a:ext cx="3009900" cy="594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leads to more consistent judgments. RAGAS separates dimensions like faithfulness for clearer metrics.</a:t>
            </a:r>
            <a:endParaRPr/>
          </a:p>
        </p:txBody>
      </p:sp>
      <p:sp>
        <p:nvSpPr>
          <p:cNvPr id="157" name="Google Shape;157;p14"/>
          <p:cNvSpPr txBox="1"/>
          <p:nvPr/>
        </p:nvSpPr>
        <p:spPr>
          <a:xfrm>
            <a:off x="4867275" y="3318420"/>
            <a:ext cx="30099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B91C1C"/>
                </a:solidFill>
                <a:latin typeface="Inter"/>
                <a:ea typeface="Inter"/>
                <a:cs typeface="Inter"/>
                <a:sym typeface="Inter"/>
              </a:rPr>
              <a:t>S T R A T E G Y</a:t>
            </a:r>
            <a:endParaRPr/>
          </a:p>
        </p:txBody>
      </p:sp>
      <p:sp>
        <p:nvSpPr>
          <p:cNvPr id="158" name="Google Shape;158;p14"/>
          <p:cNvSpPr txBox="1"/>
          <p:nvPr/>
        </p:nvSpPr>
        <p:spPr>
          <a:xfrm>
            <a:off x="4867275" y="3508920"/>
            <a:ext cx="3009900" cy="594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Decompose evaluation into claim extraction &amp; verification stages. Require evidence attribution for all verdicts.</a:t>
            </a:r>
            <a:endParaRPr/>
          </a:p>
        </p:txBody>
      </p:sp>
      <p:sp>
        <p:nvSpPr>
          <p:cNvPr id="159" name="Google Shape;159;p14"/>
          <p:cNvSpPr txBox="1"/>
          <p:nvPr/>
        </p:nvSpPr>
        <p:spPr>
          <a:xfrm>
            <a:off x="8267700" y="3318420"/>
            <a:ext cx="30099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B91C1C"/>
                </a:solidFill>
                <a:latin typeface="Inter"/>
                <a:ea typeface="Inter"/>
                <a:cs typeface="Inter"/>
                <a:sym typeface="Inter"/>
              </a:rPr>
              <a:t>R E S E A R C H</a:t>
            </a:r>
            <a:endParaRPr/>
          </a:p>
        </p:txBody>
      </p:sp>
      <p:sp>
        <p:nvSpPr>
          <p:cNvPr id="160" name="Google Shape;160;p14"/>
          <p:cNvSpPr txBox="1"/>
          <p:nvPr/>
        </p:nvSpPr>
        <p:spPr>
          <a:xfrm>
            <a:off x="8267700" y="3508920"/>
            <a:ext cx="3009900" cy="594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Few-shot examples anchor task interpretation. are reliable when split into sub-tasks.</a:t>
            </a:r>
            <a:endParaRPr/>
          </a:p>
        </p:txBody>
      </p:sp>
      <p:pic>
        <p:nvPicPr>
          <p:cNvPr descr="image.png" id="161" name="Google Shape;161;p14"/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>
            <a:off x="8267700" y="1847850"/>
            <a:ext cx="94297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2" name="Google Shape;162;p14"/>
          <p:cNvPicPr preferRelativeResize="0"/>
          <p:nvPr/>
        </p:nvPicPr>
        <p:blipFill rotWithShape="1">
          <a:blip r:embed="rId22">
            <a:alphaModFix/>
          </a:blip>
          <a:srcRect b="0" l="0" r="0" t="0"/>
          <a:stretch/>
        </p:blipFill>
        <p:spPr>
          <a:xfrm>
            <a:off x="8267700" y="3707010"/>
            <a:ext cx="1276350" cy="19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7" name="Google Shape;167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8" name="Google Shape;168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6191250"/>
            <a:ext cx="1104900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9" name="Google Shape;169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191000" y="1076325"/>
            <a:ext cx="7286625" cy="128007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0" name="Google Shape;170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191000" y="2499270"/>
            <a:ext cx="7286625" cy="1809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1" name="Google Shape;171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1185862"/>
            <a:ext cx="2000250" cy="371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2" name="Google Shape;172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" y="1700212"/>
            <a:ext cx="2000250" cy="371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3" name="Google Shape;173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71500" y="2200275"/>
            <a:ext cx="2000250" cy="533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4" name="Google Shape;174;p1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71500" y="2862262"/>
            <a:ext cx="2000250" cy="371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5" name="Google Shape;175;p1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571500" y="3376612"/>
            <a:ext cx="2000250" cy="371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6" name="Google Shape;176;p15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4200525" y="1276350"/>
            <a:ext cx="7267575" cy="10705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7" name="Google Shape;177;p15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4200525" y="2699295"/>
            <a:ext cx="7267575" cy="1600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8" name="Google Shape;178;p15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7839075" y="1276350"/>
            <a:ext cx="3629025" cy="10705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9" name="Google Shape;179;p15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7839075" y="2699295"/>
            <a:ext cx="3629025" cy="1600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0" name="Google Shape;180;p15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4391025" y="3051720"/>
            <a:ext cx="3248025" cy="361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1" name="Google Shape;181;p15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4391025" y="3508920"/>
            <a:ext cx="3248025" cy="552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2" name="Google Shape;182;p15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10096500" y="4762500"/>
            <a:ext cx="1714500" cy="1714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15"/>
          <p:cNvSpPr txBox="1"/>
          <p:nvPr/>
        </p:nvSpPr>
        <p:spPr>
          <a:xfrm>
            <a:off x="571500" y="381000"/>
            <a:ext cx="1160145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B91C1C"/>
                </a:solidFill>
                <a:latin typeface="Inter"/>
                <a:ea typeface="Inter"/>
                <a:cs typeface="Inter"/>
                <a:sym typeface="Inter"/>
              </a:rPr>
              <a:t>03. AGGREGATION, REPORTING &amp; EVAL</a:t>
            </a:r>
            <a:endParaRPr/>
          </a:p>
        </p:txBody>
      </p:sp>
      <p:sp>
        <p:nvSpPr>
          <p:cNvPr id="184" name="Google Shape;184;p15"/>
          <p:cNvSpPr/>
          <p:nvPr/>
        </p:nvSpPr>
        <p:spPr>
          <a:xfrm>
            <a:off x="571500" y="800100"/>
            <a:ext cx="762000" cy="381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5"/>
          <p:cNvSpPr txBox="1"/>
          <p:nvPr/>
        </p:nvSpPr>
        <p:spPr>
          <a:xfrm>
            <a:off x="571500" y="6343650"/>
            <a:ext cx="1943100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STRATEGIC ALIGNMENT FRAMEWORK</a:t>
            </a:r>
            <a:endParaRPr/>
          </a:p>
        </p:txBody>
      </p:sp>
      <p:sp>
        <p:nvSpPr>
          <p:cNvPr id="186" name="Google Shape;186;p15"/>
          <p:cNvSpPr txBox="1"/>
          <p:nvPr/>
        </p:nvSpPr>
        <p:spPr>
          <a:xfrm>
            <a:off x="10934700" y="6343650"/>
            <a:ext cx="685800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SLIDE 03 / 04</a:t>
            </a:r>
            <a:endParaRPr/>
          </a:p>
        </p:txBody>
      </p:sp>
      <p:sp>
        <p:nvSpPr>
          <p:cNvPr id="187" name="Google Shape;187;p15"/>
          <p:cNvSpPr/>
          <p:nvPr/>
        </p:nvSpPr>
        <p:spPr>
          <a:xfrm>
            <a:off x="4200525" y="1085850"/>
            <a:ext cx="7267575" cy="190500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5"/>
          <p:cNvSpPr txBox="1"/>
          <p:nvPr/>
        </p:nvSpPr>
        <p:spPr>
          <a:xfrm>
            <a:off x="4200525" y="1085850"/>
            <a:ext cx="726757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Consensus &amp; Aggregation</a:t>
            </a:r>
            <a:endParaRPr/>
          </a:p>
        </p:txBody>
      </p:sp>
      <p:sp>
        <p:nvSpPr>
          <p:cNvPr id="189" name="Google Shape;189;p15"/>
          <p:cNvSpPr/>
          <p:nvPr/>
        </p:nvSpPr>
        <p:spPr>
          <a:xfrm>
            <a:off x="4200525" y="2508795"/>
            <a:ext cx="7267575" cy="1905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5"/>
          <p:cNvSpPr txBox="1"/>
          <p:nvPr/>
        </p:nvSpPr>
        <p:spPr>
          <a:xfrm>
            <a:off x="4200525" y="2508795"/>
            <a:ext cx="726757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Continuous Scoring</a:t>
            </a:r>
            <a:endParaRPr/>
          </a:p>
        </p:txBody>
      </p:sp>
      <p:sp>
        <p:nvSpPr>
          <p:cNvPr id="191" name="Google Shape;191;p15"/>
          <p:cNvSpPr txBox="1"/>
          <p:nvPr/>
        </p:nvSpPr>
        <p:spPr>
          <a:xfrm>
            <a:off x="4391025" y="1419225"/>
            <a:ext cx="3248025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B91C1C"/>
                </a:solidFill>
                <a:latin typeface="Inter"/>
                <a:ea typeface="Inter"/>
                <a:cs typeface="Inter"/>
                <a:sym typeface="Inter"/>
              </a:rPr>
              <a:t>S T R A T E G Y</a:t>
            </a:r>
            <a:endParaRPr/>
          </a:p>
        </p:txBody>
      </p:sp>
      <p:sp>
        <p:nvSpPr>
          <p:cNvPr id="192" name="Google Shape;192;p15"/>
          <p:cNvSpPr txBox="1"/>
          <p:nvPr/>
        </p:nvSpPr>
        <p:spPr>
          <a:xfrm>
            <a:off x="4391025" y="1609725"/>
            <a:ext cx="3248025" cy="594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Use heterogeneous panels (PoLL) to reduce model-specific bias. Approaches include majority voting and reliability weighting.</a:t>
            </a:r>
            <a:endParaRPr/>
          </a:p>
        </p:txBody>
      </p:sp>
      <p:sp>
        <p:nvSpPr>
          <p:cNvPr id="193" name="Google Shape;193;p15"/>
          <p:cNvSpPr txBox="1"/>
          <p:nvPr/>
        </p:nvSpPr>
        <p:spPr>
          <a:xfrm>
            <a:off x="8029575" y="1419225"/>
            <a:ext cx="3248025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B91C1C"/>
                </a:solidFill>
                <a:latin typeface="Inter"/>
                <a:ea typeface="Inter"/>
                <a:cs typeface="Inter"/>
                <a:sym typeface="Inter"/>
              </a:rPr>
              <a:t>R E S E A R C H</a:t>
            </a:r>
            <a:endParaRPr/>
          </a:p>
        </p:txBody>
      </p:sp>
      <p:sp>
        <p:nvSpPr>
          <p:cNvPr id="194" name="Google Shape;194;p15"/>
          <p:cNvSpPr txBox="1"/>
          <p:nvPr/>
        </p:nvSpPr>
        <p:spPr>
          <a:xfrm>
            <a:off x="8029575" y="1609725"/>
            <a:ext cx="3248025" cy="594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methods assign influence to stronger judges. Diverse panels outperform single large models.</a:t>
            </a:r>
            <a:endParaRPr/>
          </a:p>
        </p:txBody>
      </p:sp>
      <p:sp>
        <p:nvSpPr>
          <p:cNvPr id="195" name="Google Shape;195;p15"/>
          <p:cNvSpPr txBox="1"/>
          <p:nvPr/>
        </p:nvSpPr>
        <p:spPr>
          <a:xfrm>
            <a:off x="4391025" y="2842170"/>
            <a:ext cx="3248025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B91C1C"/>
                </a:solidFill>
                <a:latin typeface="Inter"/>
                <a:ea typeface="Inter"/>
                <a:cs typeface="Inter"/>
                <a:sym typeface="Inter"/>
              </a:rPr>
              <a:t>M E T R I C S</a:t>
            </a:r>
            <a:endParaRPr/>
          </a:p>
        </p:txBody>
      </p:sp>
      <p:sp>
        <p:nvSpPr>
          <p:cNvPr id="196" name="Google Shape;196;p15"/>
          <p:cNvSpPr txBox="1"/>
          <p:nvPr/>
        </p:nvSpPr>
        <p:spPr>
          <a:xfrm>
            <a:off x="8029575" y="2842170"/>
            <a:ext cx="3248025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B91C1C"/>
                </a:solidFill>
                <a:latin typeface="Inter"/>
                <a:ea typeface="Inter"/>
                <a:cs typeface="Inter"/>
                <a:sym typeface="Inter"/>
              </a:rPr>
              <a:t>R E S E A R C H</a:t>
            </a:r>
            <a:endParaRPr/>
          </a:p>
        </p:txBody>
      </p:sp>
      <p:sp>
        <p:nvSpPr>
          <p:cNvPr id="197" name="Google Shape;197;p15"/>
          <p:cNvSpPr txBox="1"/>
          <p:nvPr/>
        </p:nvSpPr>
        <p:spPr>
          <a:xfrm>
            <a:off x="8029575" y="3032670"/>
            <a:ext cx="3248025" cy="594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RAGAS-style source-grounded scoring captures and provides transparent evidence.</a:t>
            </a:r>
            <a:endParaRPr/>
          </a:p>
        </p:txBody>
      </p:sp>
      <p:pic>
        <p:nvPicPr>
          <p:cNvPr descr="image.png" id="198" name="Google Shape;198;p15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8029575" y="1609725"/>
            <a:ext cx="8382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9" name="Google Shape;199;p15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8029575" y="3230760"/>
            <a:ext cx="1200150" cy="19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4" name="Google Shape;204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5" name="Google Shape;205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6191250"/>
            <a:ext cx="1104900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6" name="Google Shape;206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1585912"/>
            <a:ext cx="2000250" cy="371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7" name="Google Shape;207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2433637"/>
            <a:ext cx="2000250" cy="371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8" name="Google Shape;208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572000" y="1652587"/>
            <a:ext cx="2000250" cy="371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9" name="Google Shape;209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572000" y="2566987"/>
            <a:ext cx="2000250" cy="371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0" name="Google Shape;210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572500" y="1404937"/>
            <a:ext cx="2000250" cy="371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1" name="Google Shape;211;p1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572500" y="2071687"/>
            <a:ext cx="2000250" cy="371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2" name="Google Shape;212;p16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2762250" y="1266825"/>
            <a:ext cx="152400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3" name="Google Shape;213;p16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2762250" y="1628775"/>
            <a:ext cx="152400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4" name="Google Shape;214;p16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2762250" y="1990725"/>
            <a:ext cx="152400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5" name="Google Shape;215;p16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6762750" y="1266825"/>
            <a:ext cx="152400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6" name="Google Shape;216;p16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6762750" y="1628775"/>
            <a:ext cx="1524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7" name="Google Shape;217;p16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6762750" y="2124075"/>
            <a:ext cx="152400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8" name="Google Shape;218;p16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10763250" y="1266825"/>
            <a:ext cx="152400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9" name="Google Shape;219;p16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10763250" y="1628775"/>
            <a:ext cx="152400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0" name="Google Shape;220;p16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6096000" y="762000"/>
            <a:ext cx="5715000" cy="5715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16"/>
          <p:cNvSpPr txBox="1"/>
          <p:nvPr/>
        </p:nvSpPr>
        <p:spPr>
          <a:xfrm>
            <a:off x="571500" y="381000"/>
            <a:ext cx="1160145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B91C1C"/>
                </a:solidFill>
                <a:latin typeface="Inter"/>
                <a:ea typeface="Inter"/>
                <a:cs typeface="Inter"/>
                <a:sym typeface="Inter"/>
              </a:rPr>
              <a:t>SYSTEM FRAMEWORK OVERVIEW</a:t>
            </a:r>
            <a:endParaRPr/>
          </a:p>
        </p:txBody>
      </p:sp>
      <p:sp>
        <p:nvSpPr>
          <p:cNvPr id="222" name="Google Shape;222;p16"/>
          <p:cNvSpPr/>
          <p:nvPr/>
        </p:nvSpPr>
        <p:spPr>
          <a:xfrm>
            <a:off x="571500" y="800100"/>
            <a:ext cx="762000" cy="381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6"/>
          <p:cNvSpPr txBox="1"/>
          <p:nvPr/>
        </p:nvSpPr>
        <p:spPr>
          <a:xfrm>
            <a:off x="571500" y="6343650"/>
            <a:ext cx="1943100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STRATEGIC ALIGNMENT FRAMEWORK</a:t>
            </a:r>
            <a:endParaRPr/>
          </a:p>
        </p:txBody>
      </p:sp>
      <p:sp>
        <p:nvSpPr>
          <p:cNvPr id="224" name="Google Shape;224;p16"/>
          <p:cNvSpPr txBox="1"/>
          <p:nvPr/>
        </p:nvSpPr>
        <p:spPr>
          <a:xfrm>
            <a:off x="10934700" y="6343650"/>
            <a:ext cx="685800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SLIDE 04 / 04</a:t>
            </a:r>
            <a:endParaRPr/>
          </a:p>
        </p:txBody>
      </p:sp>
      <p:sp>
        <p:nvSpPr>
          <p:cNvPr id="225" name="Google Shape;225;p16"/>
          <p:cNvSpPr/>
          <p:nvPr/>
        </p:nvSpPr>
        <p:spPr>
          <a:xfrm>
            <a:off x="2571750" y="1762125"/>
            <a:ext cx="190500" cy="1905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6"/>
          <p:cNvSpPr/>
          <p:nvPr/>
        </p:nvSpPr>
        <p:spPr>
          <a:xfrm>
            <a:off x="6572250" y="1828800"/>
            <a:ext cx="190500" cy="1905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6"/>
          <p:cNvSpPr/>
          <p:nvPr/>
        </p:nvSpPr>
        <p:spPr>
          <a:xfrm>
            <a:off x="10572750" y="1581150"/>
            <a:ext cx="190500" cy="1905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